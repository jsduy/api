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69"/>
  </p:notesMasterIdLst>
  <p:sldIdLst>
    <p:sldId id="256" r:id="rId3"/>
    <p:sldId id="471" r:id="rId4"/>
    <p:sldId id="345" r:id="rId5"/>
    <p:sldId id="395" r:id="rId6"/>
    <p:sldId id="398" r:id="rId7"/>
    <p:sldId id="485" r:id="rId8"/>
    <p:sldId id="506" r:id="rId9"/>
    <p:sldId id="501" r:id="rId10"/>
    <p:sldId id="541" r:id="rId11"/>
    <p:sldId id="542" r:id="rId12"/>
    <p:sldId id="543" r:id="rId13"/>
    <p:sldId id="502" r:id="rId14"/>
    <p:sldId id="545" r:id="rId15"/>
    <p:sldId id="488" r:id="rId16"/>
    <p:sldId id="544" r:id="rId17"/>
    <p:sldId id="522" r:id="rId18"/>
    <p:sldId id="521" r:id="rId19"/>
    <p:sldId id="523" r:id="rId20"/>
    <p:sldId id="534" r:id="rId21"/>
    <p:sldId id="473" r:id="rId22"/>
    <p:sldId id="474" r:id="rId23"/>
    <p:sldId id="475" r:id="rId24"/>
    <p:sldId id="515" r:id="rId25"/>
    <p:sldId id="535" r:id="rId26"/>
    <p:sldId id="477" r:id="rId27"/>
    <p:sldId id="479" r:id="rId28"/>
    <p:sldId id="480" r:id="rId29"/>
    <p:sldId id="482" r:id="rId30"/>
    <p:sldId id="483" r:id="rId31"/>
    <p:sldId id="484" r:id="rId32"/>
    <p:sldId id="487" r:id="rId33"/>
    <p:sldId id="486" r:id="rId34"/>
    <p:sldId id="516" r:id="rId35"/>
    <p:sldId id="536" r:id="rId36"/>
    <p:sldId id="493" r:id="rId37"/>
    <p:sldId id="492" r:id="rId38"/>
    <p:sldId id="491" r:id="rId39"/>
    <p:sldId id="496" r:id="rId40"/>
    <p:sldId id="498" r:id="rId41"/>
    <p:sldId id="497" r:id="rId42"/>
    <p:sldId id="495" r:id="rId43"/>
    <p:sldId id="494" r:id="rId44"/>
    <p:sldId id="537" r:id="rId45"/>
    <p:sldId id="511" r:id="rId46"/>
    <p:sldId id="514" r:id="rId47"/>
    <p:sldId id="529" r:id="rId48"/>
    <p:sldId id="517" r:id="rId49"/>
    <p:sldId id="519" r:id="rId50"/>
    <p:sldId id="518" r:id="rId51"/>
    <p:sldId id="520" r:id="rId52"/>
    <p:sldId id="524" r:id="rId53"/>
    <p:sldId id="526" r:id="rId54"/>
    <p:sldId id="499" r:id="rId55"/>
    <p:sldId id="538" r:id="rId56"/>
    <p:sldId id="512" r:id="rId57"/>
    <p:sldId id="527" r:id="rId58"/>
    <p:sldId id="528" r:id="rId59"/>
    <p:sldId id="530" r:id="rId60"/>
    <p:sldId id="531" r:id="rId61"/>
    <p:sldId id="532" r:id="rId62"/>
    <p:sldId id="539" r:id="rId63"/>
    <p:sldId id="513" r:id="rId64"/>
    <p:sldId id="385" r:id="rId65"/>
    <p:sldId id="430" r:id="rId66"/>
    <p:sldId id="431" r:id="rId67"/>
    <p:sldId id="366" r:id="rId6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5E74A58-0EA2-442A-A96D-B175DCDA0E44}">
          <p14:sldIdLst>
            <p14:sldId id="256"/>
            <p14:sldId id="471"/>
            <p14:sldId id="345"/>
            <p14:sldId id="395"/>
            <p14:sldId id="398"/>
            <p14:sldId id="485"/>
            <p14:sldId id="506"/>
            <p14:sldId id="501"/>
            <p14:sldId id="541"/>
            <p14:sldId id="542"/>
            <p14:sldId id="543"/>
            <p14:sldId id="502"/>
            <p14:sldId id="545"/>
            <p14:sldId id="488"/>
            <p14:sldId id="544"/>
            <p14:sldId id="522"/>
            <p14:sldId id="521"/>
            <p14:sldId id="523"/>
            <p14:sldId id="534"/>
            <p14:sldId id="473"/>
            <p14:sldId id="474"/>
            <p14:sldId id="475"/>
            <p14:sldId id="515"/>
            <p14:sldId id="535"/>
            <p14:sldId id="477"/>
            <p14:sldId id="479"/>
            <p14:sldId id="480"/>
            <p14:sldId id="482"/>
            <p14:sldId id="483"/>
            <p14:sldId id="484"/>
            <p14:sldId id="487"/>
            <p14:sldId id="486"/>
            <p14:sldId id="516"/>
            <p14:sldId id="536"/>
            <p14:sldId id="493"/>
            <p14:sldId id="492"/>
            <p14:sldId id="491"/>
            <p14:sldId id="496"/>
            <p14:sldId id="498"/>
            <p14:sldId id="497"/>
            <p14:sldId id="495"/>
            <p14:sldId id="494"/>
            <p14:sldId id="537"/>
            <p14:sldId id="511"/>
            <p14:sldId id="514"/>
            <p14:sldId id="529"/>
            <p14:sldId id="517"/>
            <p14:sldId id="519"/>
            <p14:sldId id="518"/>
            <p14:sldId id="520"/>
            <p14:sldId id="524"/>
            <p14:sldId id="526"/>
            <p14:sldId id="499"/>
            <p14:sldId id="538"/>
            <p14:sldId id="512"/>
            <p14:sldId id="527"/>
          </p14:sldIdLst>
        </p14:section>
        <p14:section name="Untitled Section" id="{5A5D7FCA-0B0B-4F03-8B14-BE84CE86EEB1}">
          <p14:sldIdLst>
            <p14:sldId id="528"/>
            <p14:sldId id="530"/>
            <p14:sldId id="531"/>
            <p14:sldId id="532"/>
            <p14:sldId id="539"/>
            <p14:sldId id="513"/>
            <p14:sldId id="385"/>
            <p14:sldId id="430"/>
            <p14:sldId id="431"/>
            <p14:sldId id="3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990000"/>
    <a:srgbClr val="FF00FF"/>
    <a:srgbClr val="6600CC"/>
    <a:srgbClr val="6600FF"/>
    <a:srgbClr val="0099CC"/>
    <a:srgbClr val="FF9900"/>
    <a:srgbClr val="006600"/>
    <a:srgbClr val="008000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0" autoAdjust="0"/>
    <p:restoredTop sz="88732" autoAdjust="0"/>
  </p:normalViewPr>
  <p:slideViewPr>
    <p:cSldViewPr snapToGrid="0">
      <p:cViewPr varScale="1">
        <p:scale>
          <a:sx n="75" d="100"/>
          <a:sy n="75" d="100"/>
        </p:scale>
        <p:origin x="672" y="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16456D-0704-4A9F-B0E6-4909E4365A2B}" type="datetimeFigureOut">
              <a:rPr lang="zh-CN" altLang="en-US" smtClean="0"/>
              <a:pPr/>
              <a:t>2024/10/1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45B0DD-189B-4185-B658-F976725C17C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4129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1414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smtClean="0">
                <a:latin typeface="Calibri (Body)"/>
                <a:cs typeface="Arial" charset="0"/>
              </a:rPr>
              <a:t>Effectively : 1 cách</a:t>
            </a:r>
            <a:r>
              <a:rPr lang="en-US" sz="1200" baseline="0" smtClean="0">
                <a:latin typeface="Calibri (Body)"/>
                <a:cs typeface="Arial" charset="0"/>
              </a:rPr>
              <a:t> </a:t>
            </a:r>
            <a:r>
              <a:rPr lang="en-US" sz="1200" smtClean="0">
                <a:latin typeface="Calibri (Body)"/>
                <a:cs typeface="Arial" charset="0"/>
              </a:rPr>
              <a:t>hiệu</a:t>
            </a:r>
            <a:r>
              <a:rPr lang="en-US" sz="1200" baseline="0" smtClean="0">
                <a:latin typeface="Calibri (Body)"/>
                <a:cs typeface="Arial" charset="0"/>
              </a:rPr>
              <a:t> quả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427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6374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88153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smtClean="0">
                <a:sym typeface="Wingdings" panose="05000000000000000000" pitchFamily="2" charset="2"/>
              </a:rPr>
              <a:t>internet-based nature : Bản</a:t>
            </a:r>
            <a:r>
              <a:rPr lang="en-US" sz="1200" baseline="0" smtClean="0">
                <a:sym typeface="Wingdings" panose="05000000000000000000" pitchFamily="2" charset="2"/>
              </a:rPr>
              <a:t> chất dựa trên internet</a:t>
            </a:r>
          </a:p>
          <a:p>
            <a:r>
              <a:rPr lang="en-US" sz="1200" smtClean="0">
                <a:sym typeface="Wingdings" panose="05000000000000000000" pitchFamily="2" charset="2"/>
              </a:rPr>
              <a:t>Paramount : tối</a:t>
            </a:r>
            <a:r>
              <a:rPr lang="en-US" sz="1200" baseline="0" smtClean="0">
                <a:sym typeface="Wingdings" panose="05000000000000000000" pitchFamily="2" charset="2"/>
              </a:rPr>
              <a:t> quan trọng</a:t>
            </a:r>
          </a:p>
          <a:p>
            <a:r>
              <a:rPr lang="en-US" sz="1200" smtClean="0">
                <a:sym typeface="Wingdings" panose="05000000000000000000" pitchFamily="2" charset="2"/>
              </a:rPr>
              <a:t>Prime ; Chính,</a:t>
            </a:r>
            <a:r>
              <a:rPr lang="en-US" sz="1200" baseline="0" smtClean="0">
                <a:sym typeface="Wingdings" panose="05000000000000000000" pitchFamily="2" charset="2"/>
              </a:rPr>
              <a:t> chủ yếu. Xuất sắc</a:t>
            </a:r>
          </a:p>
          <a:p>
            <a:r>
              <a:rPr lang="en-US" smtClean="0">
                <a:sym typeface="Wingdings" panose="05000000000000000000" pitchFamily="2" charset="2"/>
              </a:rPr>
              <a:t>Essential: thiết</a:t>
            </a:r>
            <a:r>
              <a:rPr lang="en-US" baseline="0" smtClean="0">
                <a:sym typeface="Wingdings" panose="05000000000000000000" pitchFamily="2" charset="2"/>
              </a:rPr>
              <a:t> yếu</a:t>
            </a:r>
          </a:p>
          <a:p>
            <a:r>
              <a:rPr lang="en-US" smtClean="0">
                <a:sym typeface="Wingdings" panose="05000000000000000000" pitchFamily="2" charset="2"/>
              </a:rPr>
              <a:t>Thus; Do đó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64502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mtClean="0"/>
              <a:t>Inoperable : Không</a:t>
            </a:r>
            <a:r>
              <a:rPr lang="en-GB" baseline="0" smtClean="0"/>
              <a:t> hoạt động</a:t>
            </a:r>
          </a:p>
          <a:p>
            <a:r>
              <a:rPr lang="en-GB" smtClean="0"/>
              <a:t>intercept and steal ; chặn và</a:t>
            </a:r>
            <a:r>
              <a:rPr lang="en-GB" baseline="0" smtClean="0"/>
              <a:t> đánh cắp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9815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67843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2140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mtClean="0"/>
              <a:t>Data Annotations (chú</a:t>
            </a:r>
            <a:r>
              <a:rPr lang="en-GB" baseline="0" smtClean="0"/>
              <a:t> thích, notes</a:t>
            </a:r>
            <a:r>
              <a:rPr lang="en-GB" smtClean="0"/>
              <a:t>)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0318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mtClean="0"/>
              <a:t>Data Annotations (chú</a:t>
            </a:r>
            <a:r>
              <a:rPr lang="en-GB" baseline="0" smtClean="0"/>
              <a:t> thích, notes</a:t>
            </a:r>
            <a:r>
              <a:rPr lang="en-GB" smtClean="0"/>
              <a:t>)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34026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26091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43872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61003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6862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30315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81995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33908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Policy1, Policy2 is</a:t>
            </a:r>
            <a:r>
              <a:rPr lang="en-GB" sz="1200" b="0" i="0" kern="1200" baseline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name when </a:t>
            </a:r>
            <a:r>
              <a:rPr lang="en-GB" sz="1200" smtClean="0">
                <a:solidFill>
                  <a:srgbClr val="FF0000"/>
                </a:solidFill>
                <a:latin typeface="Cascadia Mono" panose="020B0609020000020004" pitchFamily="49" charset="0"/>
              </a:rPr>
              <a:t>AddPolicy in</a:t>
            </a:r>
            <a:r>
              <a:rPr lang="en-GB" sz="1200" baseline="0" smtClean="0">
                <a:solidFill>
                  <a:srgbClr val="FF0000"/>
                </a:solidFill>
                <a:latin typeface="Cascadia Mono" panose="020B0609020000020004" pitchFamily="49" charset="0"/>
              </a:rPr>
              <a:t> Program.cs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90261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51823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15653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96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9051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2085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4102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Who are</a:t>
            </a:r>
            <a:r>
              <a:rPr lang="en-US" baseline="0" smtClean="0"/>
              <a:t> you? Can you do that?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66696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3290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83150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03956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139768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82982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63260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957871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GB" altLang="zh-CN" smtClean="0"/>
              <a:t>https://learn.microsoft.com/en-us/aspnet/core/security/authorization/roles?view=aspnetcore-8.0</a:t>
            </a:r>
          </a:p>
          <a:p>
            <a:r>
              <a:rPr lang="en-GB" altLang="zh-CN" smtClean="0"/>
              <a:t>https://learn.microsoft.com/en-us/aspnet/core/security/authorization/claims?view=aspnetcore-8.0</a:t>
            </a:r>
          </a:p>
        </p:txBody>
      </p:sp>
    </p:spTree>
    <p:extLst>
      <p:ext uri="{BB962C8B-B14F-4D97-AF65-F5344CB8AC3E}">
        <p14:creationId xmlns:p14="http://schemas.microsoft.com/office/powerpoint/2010/main" val="369704935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567814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smtClean="0">
                <a:sym typeface="Wingdings" panose="05000000000000000000" pitchFamily="2" charset="2"/>
              </a:rPr>
              <a:t>Allocation : Phân</a:t>
            </a:r>
            <a:r>
              <a:rPr lang="en-US" sz="1200" baseline="0" smtClean="0">
                <a:sym typeface="Wingdings" panose="05000000000000000000" pitchFamily="2" charset="2"/>
              </a:rPr>
              <a:t> bổ (distribute)</a:t>
            </a:r>
          </a:p>
          <a:p>
            <a:r>
              <a:rPr lang="en-GB" smtClean="0"/>
              <a:t>Mitigate : giảm</a:t>
            </a:r>
            <a:r>
              <a:rPr lang="en-GB" baseline="0" smtClean="0"/>
              <a:t> thiểu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904817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029966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mtClean="0"/>
              <a:t>https://learn.microsoft.com/en-us/aspnet/core/performance/rate-limit?view=aspnetcore-8.0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666648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mtClean="0"/>
              <a:t>https://learn.microsoft.com/en-us/aspnet/core/performance/rate-limit?view=aspnetcore-8.0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90332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mtClean="0"/>
              <a:t>https://blog.maartenballiauw.be/post/2022/09/26/aspnet-core-rate-limiting-middleware.html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565647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mtClean="0"/>
              <a:t>https://blog.maartenballiauw.be/post/2022/09/26/aspnet-core-rate-limiting-middleware.html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451116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mtClean="0"/>
              <a:t>https://blog.maartenballiauw.be/post/2022/09/26/aspnet-core-rate-limiting-middleware.html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754892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61799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63047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smtClean="0"/>
              <a:t>Potentially : Có</a:t>
            </a:r>
            <a:r>
              <a:rPr lang="en-US" sz="1200" baseline="0" smtClean="0"/>
              <a:t> khả năng</a:t>
            </a:r>
            <a:endParaRPr lang="en-US" sz="1200" smtClean="0"/>
          </a:p>
          <a:p>
            <a:r>
              <a:rPr lang="en-US" sz="1200" smtClean="0"/>
              <a:t>Leading  : dẫn</a:t>
            </a:r>
            <a:r>
              <a:rPr lang="en-US" sz="1200" baseline="0" smtClean="0"/>
              <a:t> đến</a:t>
            </a:r>
          </a:p>
          <a:p>
            <a:r>
              <a:rPr lang="en-US" sz="1200" smtClean="0"/>
              <a:t>Harmful: Có</a:t>
            </a:r>
            <a:r>
              <a:rPr lang="en-US" sz="1200" baseline="0" smtClean="0"/>
              <a:t> hại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784070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smtClean="0"/>
              <a:t>Sanitize : Khử</a:t>
            </a:r>
            <a:r>
              <a:rPr lang="en-US" sz="1200" baseline="0" smtClean="0"/>
              <a:t> trùng</a:t>
            </a:r>
          </a:p>
          <a:p>
            <a:r>
              <a:rPr lang="en-US" sz="1200" smtClean="0">
                <a:solidFill>
                  <a:srgbClr val="C00000"/>
                </a:solidFill>
              </a:rPr>
              <a:t>Avoid : tránh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653361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323896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smtClean="0"/>
              <a:t>Mechanism cơ</a:t>
            </a:r>
            <a:r>
              <a:rPr lang="en-US" sz="1200" baseline="0" smtClean="0"/>
              <a:t> chế</a:t>
            </a:r>
          </a:p>
          <a:p>
            <a:r>
              <a:rPr lang="en-US" sz="1200" smtClean="0"/>
              <a:t>Intercept : ngăn</a:t>
            </a:r>
            <a:r>
              <a:rPr lang="en-US" sz="1200" baseline="0" smtClean="0"/>
              <a:t> chặn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03137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743947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639384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98430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19208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17976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305000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959520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exploits  : khai thác</a:t>
            </a:r>
          </a:p>
          <a:p>
            <a:r>
              <a:rPr lang="en-GB" smtClean="0"/>
              <a:t>induce : gây</a:t>
            </a:r>
            <a:r>
              <a:rPr lang="en-GB" baseline="0" smtClean="0"/>
              <a:t> ra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670051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mtClean="0"/>
              <a:t>https://learn.microsoft.com/en-us/aspnet/web-api/overview/security/preventing-cross-site-request-forgery-csrf-attacks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98625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mtClean="0"/>
              <a:t>https://learn.microsoft.com/en-us/aspnet/core/security/anti-request-forgery?view=aspnetcore-8.0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619971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mtClean="0"/>
              <a:t>https://learn.microsoft.com/en-us/aspnet/core/security/anti-request-forgery?view=aspnetcore-8.0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7388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mtClean="0"/>
              <a:t>https://learn.microsoft.com/en-us/aspnet/core/security/anti-request-forgery?view=aspnetcore-8.0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309394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mtClean="0"/>
              <a:t>https://learn.microsoft.com/en-us/aspnet/core/security/anti-request-forgery?view=aspnetcore-8.0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868078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497984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17011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257689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551878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5B0DD-189B-4185-B658-F976725C17C7}" type="slidenum">
              <a:rPr lang="zh-CN" altLang="en-US" smtClean="0"/>
              <a:pPr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7775923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2881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663424"/>
            <a:ext cx="12192000" cy="59303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7160" y="122011"/>
            <a:ext cx="10515600" cy="59499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Title</a:t>
            </a:r>
            <a:endParaRPr lang="zh-CN" altLang="en-US" dirty="0"/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2AB72D0B-A861-465F-9398-6C65062A91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44325" y="6602136"/>
            <a:ext cx="469900" cy="2619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920AF-2440-4552-8F7A-6F88C8FE50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E720659-84F5-44A0-B45D-067438FA9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105120"/>
            <a:ext cx="10827657" cy="5050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77346F1A-0708-411E-BBD3-C92A7FD098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6602136"/>
            <a:ext cx="469900" cy="2619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920AF-2440-4552-8F7A-6F88C8FE50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8806F69-67D7-4F8B-8628-85A761C2E8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1182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5C3D70-C5A2-4FE0-9B72-72E7CAF7B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212" y="365125"/>
            <a:ext cx="7553587" cy="515719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007D0-4E7C-4A5B-9A67-71D7E7764C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695389" y="6488379"/>
            <a:ext cx="436422" cy="365125"/>
          </a:xfrm>
        </p:spPr>
        <p:txBody>
          <a:bodyPr/>
          <a:lstStyle/>
          <a:p>
            <a:fld id="{C983A250-531C-4018-816F-22C18A3C338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146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8806F69-67D7-4F8B-8628-85A761C2E8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1182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5C3D70-C5A2-4FE0-9B72-72E7CAF7B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212" y="365125"/>
            <a:ext cx="7553587" cy="515719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007D0-4E7C-4A5B-9A67-71D7E7764C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85448" y="6484366"/>
            <a:ext cx="606552" cy="365125"/>
          </a:xfrm>
        </p:spPr>
        <p:txBody>
          <a:bodyPr/>
          <a:lstStyle/>
          <a:p>
            <a:fld id="{C983A250-531C-4018-816F-22C18A3C338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023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05D87-4479-4AD0-9CD6-594F2613C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5657"/>
            <a:ext cx="12192000" cy="76074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CF8897-EEB5-4036-B73E-DC7F60B326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0035" y="1105120"/>
            <a:ext cx="11891929" cy="5050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0482E-8A64-4339-8D18-71367DAE4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69476-6574-47DD-9095-8A851D218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0214" y="6413162"/>
            <a:ext cx="737547" cy="365125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C983A250-531C-4018-816F-22C18A3C338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58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73108-4B3B-48C6-9DDF-42787A6A7A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82502" y="392788"/>
            <a:ext cx="8424153" cy="56052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E82928-1545-499E-A393-6095D71D25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82502" y="1171186"/>
            <a:ext cx="8424153" cy="506424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0BF16-8DB1-4D16-9211-905518DE8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714" y="6492537"/>
            <a:ext cx="203485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23784-4A4C-408C-8C24-4CEE10AE3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6963" y="6470716"/>
            <a:ext cx="518809" cy="365125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C983A250-531C-4018-816F-22C18A3C338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790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8806F69-67D7-4F8B-8628-85A761C2E8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1182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5C3D70-C5A2-4FE0-9B72-72E7CAF7B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212" y="365125"/>
            <a:ext cx="7553587" cy="515719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007D0-4E7C-4A5B-9A67-71D7E7764C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695389" y="6488379"/>
            <a:ext cx="436422" cy="365125"/>
          </a:xfrm>
        </p:spPr>
        <p:txBody>
          <a:bodyPr/>
          <a:lstStyle/>
          <a:p>
            <a:fld id="{C983A250-531C-4018-816F-22C18A3C338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942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05D87-4479-4AD0-9CD6-594F2613C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5657"/>
            <a:ext cx="12192000" cy="76074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CF8897-EEB5-4036-B73E-DC7F60B326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0035" y="1105120"/>
            <a:ext cx="11891929" cy="5050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0482E-8A64-4339-8D18-71367DAE4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69476-6574-47DD-9095-8A851D218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0214" y="6413162"/>
            <a:ext cx="737547" cy="365125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C983A250-531C-4018-816F-22C18A3C338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47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77346F1A-0708-411E-BBD3-C92A7FD098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6602136"/>
            <a:ext cx="469900" cy="2619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920AF-2440-4552-8F7A-6F88C8FE50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396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jp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8A4E04-8369-47C1-8AF7-BADE3B297A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59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CF6B90-2134-4F6D-B7C5-593B8FD206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602136"/>
            <a:ext cx="469900" cy="2619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920AF-2440-4552-8F7A-6F88C8FE507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66" r:id="rId3"/>
    <p:sldLayoutId id="2147483669" r:id="rId4"/>
    <p:sldLayoutId id="2147483670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2B185-D444-46D6-B02C-74158EDF3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714" y="649253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862B3-4501-4A18-84B9-5FA170826F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5864" y="6488379"/>
            <a:ext cx="4364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C983A250-531C-4018-816F-22C18A3C338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29B87D-3342-4EB9-B2C6-5113522FB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914" y="365126"/>
            <a:ext cx="7376885" cy="11449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B38A8-EF89-430D-A92D-CA9743245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76914" y="1753053"/>
            <a:ext cx="737688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83673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5" r:id="rId2"/>
    <p:sldLayoutId id="2147483664" r:id="rId3"/>
    <p:sldLayoutId id="2147483668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hyperlink" Target="https://learn.microsoft.com/en-us/aspnet/core/security/authorization/claims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learn.microsoft.com/en-us/aspnet/core/security/authorization/roles" TargetMode="External"/><Relationship Id="rId5" Type="http://schemas.openxmlformats.org/officeDocument/2006/relationships/slide" Target="slide25.xml"/><Relationship Id="rId4" Type="http://schemas.openxmlformats.org/officeDocument/2006/relationships/image" Target="../media/image1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spnet/core/security/cross-site-scripting?view=aspnetcore-8.0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spnet/core/fundamentals/middleware/?view=aspnetcore-8.0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learn.microsoft.com/en-us/aspnet/core/fundamentals/middleware/?view=aspnetcore-8.0" TargetMode="Externa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spnet/web-api/overview/security/preventing-cross-site-request-forgery-csrf-attacks" TargetMode="External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rive.google.com/file/d/13xSG1S-TwpJmuErqr70MDxZwSvBQrkKp/view?usp=sharing" TargetMode="Externa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rive.google.com/file/d/13xSG1S-TwpJmuErqr70MDxZwSvBQrkKp/view?usp=sharing" TargetMode="Externa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rive.google.com/file/d/13xSG1S-TwpJmuErqr70MDxZwSvBQrkKp/view?usp=sharing" TargetMode="Externa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568" y="274419"/>
            <a:ext cx="481961" cy="111221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FD2705F-8A3F-43FB-B599-CD432A022700}"/>
              </a:ext>
            </a:extLst>
          </p:cNvPr>
          <p:cNvSpPr txBox="1"/>
          <p:nvPr/>
        </p:nvSpPr>
        <p:spPr>
          <a:xfrm>
            <a:off x="6060840" y="3917712"/>
            <a:ext cx="5359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API Security Basic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8725A2-2703-4E1E-8062-36648424444B}"/>
              </a:ext>
            </a:extLst>
          </p:cNvPr>
          <p:cNvSpPr txBox="1"/>
          <p:nvPr/>
        </p:nvSpPr>
        <p:spPr>
          <a:xfrm>
            <a:off x="5828199" y="3296327"/>
            <a:ext cx="18248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tx1">
                    <a:lumMod val="50000"/>
                    <a:lumOff val="50000"/>
                  </a:schemeClr>
                </a:solidFill>
              </a:rPr>
              <a:t>Chapter </a:t>
            </a:r>
            <a:r>
              <a:rPr lang="en-US" sz="24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5: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7DE2944F-AE04-492A-BB15-9E9B6DBB0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9D920AF-2440-4552-8F7A-6F88C8FE507A}" type="slidenum">
              <a:rPr lang="en-US" sz="1000" smtClean="0"/>
              <a:pPr/>
              <a:t>1</a:t>
            </a:fld>
            <a:endParaRPr lang="en-US" sz="1000"/>
          </a:p>
        </p:txBody>
      </p:sp>
      <p:grpSp>
        <p:nvGrpSpPr>
          <p:cNvPr id="13" name="Group 17">
            <a:extLst>
              <a:ext uri="{FF2B5EF4-FFF2-40B4-BE49-F238E27FC236}">
                <a16:creationId xmlns:a16="http://schemas.microsoft.com/office/drawing/2014/main" id="{6080DA0D-484A-4C70-BB3A-D9040DBEAE59}"/>
              </a:ext>
            </a:extLst>
          </p:cNvPr>
          <p:cNvGrpSpPr>
            <a:grpSpLocks/>
          </p:cNvGrpSpPr>
          <p:nvPr/>
        </p:nvGrpSpPr>
        <p:grpSpPr bwMode="auto">
          <a:xfrm>
            <a:off x="1760852" y="4497397"/>
            <a:ext cx="1467394" cy="1466523"/>
            <a:chOff x="2562" y="439"/>
            <a:chExt cx="1684" cy="1683"/>
          </a:xfrm>
        </p:grpSpPr>
        <p:sp>
          <p:nvSpPr>
            <p:cNvPr id="14" name="Oval 5">
              <a:extLst>
                <a:ext uri="{FF2B5EF4-FFF2-40B4-BE49-F238E27FC236}">
                  <a16:creationId xmlns:a16="http://schemas.microsoft.com/office/drawing/2014/main" id="{E4139574-C4EA-4556-ACDA-A76931EBDCA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562" y="439"/>
              <a:ext cx="1684" cy="1683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" name="Oval 6">
              <a:extLst>
                <a:ext uri="{FF2B5EF4-FFF2-40B4-BE49-F238E27FC236}">
                  <a16:creationId xmlns:a16="http://schemas.microsoft.com/office/drawing/2014/main" id="{0F894546-4EC9-47C0-B71E-69BF9C0F13C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673" y="548"/>
              <a:ext cx="1461" cy="1463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54118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" name="Oval 7">
              <a:extLst>
                <a:ext uri="{FF2B5EF4-FFF2-40B4-BE49-F238E27FC236}">
                  <a16:creationId xmlns:a16="http://schemas.microsoft.com/office/drawing/2014/main" id="{7F8A18EB-028B-4904-82AC-271110A4EA8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685" y="536"/>
              <a:ext cx="1461" cy="146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63529"/>
                    <a:invGamma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3" name="Oval 8">
              <a:extLst>
                <a:ext uri="{FF2B5EF4-FFF2-40B4-BE49-F238E27FC236}">
                  <a16:creationId xmlns:a16="http://schemas.microsoft.com/office/drawing/2014/main" id="{75655967-7598-41D4-AD1E-3A8317F57AB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45" y="622"/>
              <a:ext cx="1317" cy="131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6" name="Oval 9">
              <a:extLst>
                <a:ext uri="{FF2B5EF4-FFF2-40B4-BE49-F238E27FC236}">
                  <a16:creationId xmlns:a16="http://schemas.microsoft.com/office/drawing/2014/main" id="{65267B8C-8F7A-483A-951E-B580A472232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66" y="643"/>
              <a:ext cx="1276" cy="1277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46275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7" name="Oval 10">
              <a:extLst>
                <a:ext uri="{FF2B5EF4-FFF2-40B4-BE49-F238E27FC236}">
                  <a16:creationId xmlns:a16="http://schemas.microsoft.com/office/drawing/2014/main" id="{A9AA3EC5-79DC-4B8D-AB98-769BCA68198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82" y="650"/>
              <a:ext cx="1246" cy="1246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D6E1E2">
                    <a:gamma/>
                    <a:tint val="34902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8" name="Oval 11">
              <a:extLst>
                <a:ext uri="{FF2B5EF4-FFF2-40B4-BE49-F238E27FC236}">
                  <a16:creationId xmlns:a16="http://schemas.microsoft.com/office/drawing/2014/main" id="{706F5677-482E-4BA0-962F-377CD39AFA7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96" y="662"/>
              <a:ext cx="1184" cy="1164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79216"/>
                    <a:invGamma/>
                  </a:srgbClr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9" name="Oval 12">
              <a:extLst>
                <a:ext uri="{FF2B5EF4-FFF2-40B4-BE49-F238E27FC236}">
                  <a16:creationId xmlns:a16="http://schemas.microsoft.com/office/drawing/2014/main" id="{252F8531-A078-4482-B2EE-FB90AD06E56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865" y="695"/>
              <a:ext cx="1053" cy="945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>
                    <a:alpha val="38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pic>
          <p:nvPicPr>
            <p:cNvPr id="30" name="Picture 13" descr="mark">
              <a:extLst>
                <a:ext uri="{FF2B5EF4-FFF2-40B4-BE49-F238E27FC236}">
                  <a16:creationId xmlns:a16="http://schemas.microsoft.com/office/drawing/2014/main" id="{EFA5FDD7-8288-46D9-A2A0-D844DBC1A7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4" y="793"/>
              <a:ext cx="1011" cy="1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F0C5823A-D2D1-41BC-9597-EDE8E6B8977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7717" y="116913"/>
            <a:ext cx="483616" cy="563807"/>
          </a:xfrm>
          <a:prstGeom prst="rect">
            <a:avLst/>
          </a:prstGeom>
        </p:spPr>
      </p:pic>
      <p:sp>
        <p:nvSpPr>
          <p:cNvPr id="34" name="Subtitle 2">
            <a:extLst>
              <a:ext uri="{FF2B5EF4-FFF2-40B4-BE49-F238E27FC236}">
                <a16:creationId xmlns:a16="http://schemas.microsoft.com/office/drawing/2014/main" id="{685AE60F-970B-4CBE-B226-90761D73C2B4}"/>
              </a:ext>
            </a:extLst>
          </p:cNvPr>
          <p:cNvSpPr txBox="1">
            <a:spLocks/>
          </p:cNvSpPr>
          <p:nvPr/>
        </p:nvSpPr>
        <p:spPr>
          <a:xfrm>
            <a:off x="8908936" y="5821653"/>
            <a:ext cx="2699480" cy="10344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8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000">
                <a:solidFill>
                  <a:schemeClr val="bg1">
                    <a:lumMod val="50000"/>
                  </a:schemeClr>
                </a:solidFill>
              </a:rPr>
              <a:t>Lecturer: Phạm </a:t>
            </a:r>
            <a:r>
              <a:rPr lang="en-US" sz="1000" err="1">
                <a:solidFill>
                  <a:schemeClr val="bg1">
                    <a:lumMod val="50000"/>
                  </a:schemeClr>
                </a:solidFill>
              </a:rPr>
              <a:t>Đình</a:t>
            </a:r>
            <a:r>
              <a:rPr lang="en-US" sz="10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000" err="1">
                <a:solidFill>
                  <a:schemeClr val="bg1">
                    <a:lumMod val="50000"/>
                  </a:schemeClr>
                </a:solidFill>
              </a:rPr>
              <a:t>Sắc</a:t>
            </a:r>
            <a:endParaRPr lang="en-US" sz="100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lnSpc>
                <a:spcPct val="18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000">
                <a:solidFill>
                  <a:schemeClr val="bg1">
                    <a:lumMod val="50000"/>
                  </a:schemeClr>
                </a:solidFill>
              </a:rPr>
              <a:t>phamdinhsac@dntu.edu.vn</a:t>
            </a:r>
          </a:p>
          <a:p>
            <a:pPr marL="0" indent="0">
              <a:lnSpc>
                <a:spcPct val="180000"/>
              </a:lnSpc>
              <a:spcBef>
                <a:spcPts val="0"/>
              </a:spcBef>
              <a:buNone/>
            </a:pPr>
            <a:r>
              <a:rPr lang="en-US" sz="1000">
                <a:solidFill>
                  <a:schemeClr val="bg1">
                    <a:lumMod val="50000"/>
                  </a:schemeClr>
                </a:solidFill>
              </a:rPr>
              <a:t>Section: Software Engineering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0A41EFF0-0464-4F9C-B9C3-F3D1CDDF4C72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3750" y="6242344"/>
            <a:ext cx="142933" cy="14293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350F49AF-C69E-432E-8377-02A71E423B7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3974" y="5850957"/>
            <a:ext cx="228600" cy="2286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C1F1749-96BC-46E2-B396-4978EE332512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8007" y="6482889"/>
            <a:ext cx="228600" cy="228600"/>
          </a:xfrm>
          <a:prstGeom prst="rect">
            <a:avLst/>
          </a:prstGeom>
        </p:spPr>
      </p:pic>
      <p:cxnSp>
        <p:nvCxnSpPr>
          <p:cNvPr id="38" name="直接连接符 4"/>
          <p:cNvCxnSpPr/>
          <p:nvPr/>
        </p:nvCxnSpPr>
        <p:spPr>
          <a:xfrm>
            <a:off x="6117337" y="2371824"/>
            <a:ext cx="4754880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259"/>
          <p:cNvSpPr>
            <a:spLocks noChangeArrowheads="1"/>
          </p:cNvSpPr>
          <p:nvPr/>
        </p:nvSpPr>
        <p:spPr bwMode="auto">
          <a:xfrm>
            <a:off x="5817995" y="1756585"/>
            <a:ext cx="52653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US" altLang="zh-CN" b="1" cap="all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+mn-lt"/>
              </a:rPr>
              <a:t>ASP.NET CORE Web API</a:t>
            </a:r>
            <a:endParaRPr lang="zh-CN" altLang="en-US" b="1" cap="all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方正细谭黑简体" panose="02000000000000000000" pitchFamily="2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07598" y="6094445"/>
            <a:ext cx="109356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200" smtClean="0">
                <a:solidFill>
                  <a:schemeClr val="bg1">
                    <a:lumMod val="85000"/>
                  </a:schemeClr>
                </a:solidFill>
                <a:latin typeface="Tahoma" panose="020B0604030504040204" pitchFamily="34" charset="0"/>
              </a:rPr>
              <a:t>MH: </a:t>
            </a:r>
            <a:r>
              <a:rPr lang="en-GB" sz="1200">
                <a:solidFill>
                  <a:schemeClr val="bg1">
                    <a:lumMod val="85000"/>
                  </a:schemeClr>
                </a:solidFill>
                <a:latin typeface="Tahoma" panose="020B0604030504040204" pitchFamily="34" charset="0"/>
              </a:rPr>
              <a:t>0370094</a:t>
            </a:r>
            <a:endParaRPr lang="en-GB" sz="12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0" name="Subtitle 2"/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6502202" y="272143"/>
            <a:ext cx="4741186" cy="6329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0" kern="1200">
                <a:solidFill>
                  <a:schemeClr val="tx1"/>
                </a:solidFill>
                <a:latin typeface="Georgia" pitchFamily="18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TRƯỜNG ĐẠI HỌC CÔNG NGHỆ ĐỒNG NAI</a:t>
            </a:r>
          </a:p>
          <a:p>
            <a:pPr algn="ctr"/>
            <a:r>
              <a:rPr lang="en-US" sz="16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KHOA CÔNG NGHỆ THÔNG TIN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直接连接符 4"/>
          <p:cNvCxnSpPr>
            <a:cxnSpLocks/>
          </p:cNvCxnSpPr>
          <p:nvPr/>
        </p:nvCxnSpPr>
        <p:spPr>
          <a:xfrm>
            <a:off x="7455159" y="884563"/>
            <a:ext cx="2855167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302923" y="6368981"/>
            <a:ext cx="4860233" cy="2769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200">
                <a:solidFill>
                  <a:schemeClr val="bg1">
                    <a:lumMod val="50000"/>
                  </a:schemeClr>
                </a:solidFill>
                <a:latin typeface="Calibri (Body)"/>
              </a:rPr>
              <a:t>Buổi </a:t>
            </a:r>
            <a:r>
              <a:rPr lang="en-US" sz="1200" smtClean="0">
                <a:solidFill>
                  <a:schemeClr val="bg1">
                    <a:lumMod val="50000"/>
                  </a:schemeClr>
                </a:solidFill>
                <a:latin typeface="Calibri (Body)"/>
              </a:rPr>
              <a:t>8</a:t>
            </a:r>
            <a:r>
              <a:rPr lang="vi-VN" sz="1200" smtClean="0">
                <a:solidFill>
                  <a:schemeClr val="bg1">
                    <a:lumMod val="50000"/>
                  </a:schemeClr>
                </a:solidFill>
                <a:latin typeface="Calibri (Body)"/>
              </a:rPr>
              <a:t> </a:t>
            </a:r>
            <a:r>
              <a:rPr lang="vi-VN" sz="1200">
                <a:solidFill>
                  <a:schemeClr val="bg1">
                    <a:lumMod val="50000"/>
                  </a:schemeClr>
                </a:solidFill>
                <a:latin typeface="Calibri (Body)"/>
              </a:rPr>
              <a:t>- Chương </a:t>
            </a:r>
            <a:r>
              <a:rPr lang="en-US" sz="1200" smtClean="0">
                <a:solidFill>
                  <a:schemeClr val="bg1">
                    <a:lumMod val="50000"/>
                  </a:schemeClr>
                </a:solidFill>
                <a:latin typeface="Calibri (Body)"/>
              </a:rPr>
              <a:t>5</a:t>
            </a:r>
            <a:r>
              <a:rPr lang="vi-VN" sz="1200" smtClean="0">
                <a:solidFill>
                  <a:schemeClr val="bg1">
                    <a:lumMod val="50000"/>
                  </a:schemeClr>
                </a:solidFill>
                <a:latin typeface="Calibri (Body)"/>
              </a:rPr>
              <a:t> </a:t>
            </a:r>
            <a:r>
              <a:rPr lang="en-US" sz="1200" smtClean="0">
                <a:solidFill>
                  <a:schemeClr val="bg1">
                    <a:lumMod val="50000"/>
                  </a:schemeClr>
                </a:solidFill>
                <a:latin typeface="Calibri (Body)"/>
              </a:rPr>
              <a:t>- </a:t>
            </a:r>
            <a:r>
              <a:rPr lang="vi-VN" sz="1200" smtClean="0">
                <a:solidFill>
                  <a:schemeClr val="bg1">
                    <a:lumMod val="50000"/>
                  </a:schemeClr>
                </a:solidFill>
                <a:latin typeface="Calibri (Body)"/>
              </a:rPr>
              <a:t>C0</a:t>
            </a:r>
            <a:r>
              <a:rPr lang="en-US" sz="1200" smtClean="0">
                <a:solidFill>
                  <a:schemeClr val="bg1">
                    <a:lumMod val="50000"/>
                  </a:schemeClr>
                </a:solidFill>
                <a:latin typeface="Calibri (Body)"/>
              </a:rPr>
              <a:t>5</a:t>
            </a:r>
            <a:r>
              <a:rPr lang="vi-VN" sz="1200" smtClean="0">
                <a:solidFill>
                  <a:schemeClr val="bg1">
                    <a:lumMod val="50000"/>
                  </a:schemeClr>
                </a:solidFill>
                <a:latin typeface="Calibri (Body)"/>
              </a:rPr>
              <a:t>_</a:t>
            </a:r>
            <a:r>
              <a:rPr lang="en-US" sz="1200" smtClean="0">
                <a:solidFill>
                  <a:schemeClr val="bg1">
                    <a:lumMod val="50000"/>
                  </a:schemeClr>
                </a:solidFill>
                <a:latin typeface="Calibri (Body)"/>
              </a:rPr>
              <a:t>API_Security</a:t>
            </a:r>
            <a:r>
              <a:rPr lang="vi-VN" sz="1200" smtClean="0">
                <a:solidFill>
                  <a:schemeClr val="bg1">
                    <a:lumMod val="50000"/>
                  </a:schemeClr>
                </a:solidFill>
                <a:latin typeface="Calibri (Body)"/>
              </a:rPr>
              <a:t>.pptx</a:t>
            </a:r>
            <a:r>
              <a:rPr lang="en-US" sz="1200" smtClean="0">
                <a:solidFill>
                  <a:schemeClr val="bg1">
                    <a:lumMod val="50000"/>
                  </a:schemeClr>
                </a:solidFill>
                <a:latin typeface="Calibri (Body)"/>
              </a:rPr>
              <a:t> - 15/08/2024</a:t>
            </a:r>
            <a:endParaRPr lang="en-GB" sz="1200">
              <a:solidFill>
                <a:schemeClr val="bg1">
                  <a:lumMod val="50000"/>
                </a:schemeClr>
              </a:solidFill>
              <a:latin typeface="Calibri (Body)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 xmlns:a14="http://schemas.microsoft.com/office/drawing/2010/main" xmlns:a16="http://schemas.microsoft.com/office/drawing/2014/main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3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39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EFB70C-2B51-4E7F-BC6C-83BE5B034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6607" y="401283"/>
            <a:ext cx="7553587" cy="515719"/>
          </a:xfrm>
        </p:spPr>
        <p:txBody>
          <a:bodyPr>
            <a:normAutofit fontScale="90000"/>
          </a:bodyPr>
          <a:lstStyle/>
          <a:p>
            <a:r>
              <a:rPr lang="en-US" sz="400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Subject Objectives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B71802-8097-4963-98F3-8C83B1B251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Rectangle 33">
            <a:extLst>
              <a:ext uri="{FF2B5EF4-FFF2-40B4-BE49-F238E27FC236}">
                <a16:creationId xmlns:a16="http://schemas.microsoft.com/office/drawing/2014/main" id="{5688A0F3-D012-472E-8CA1-F066606BF4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9360" y="1128599"/>
            <a:ext cx="9348640" cy="5180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52425" lvl="2" indent="-352425" eaLnBrk="0" hangingPunct="0">
              <a:spcBef>
                <a:spcPts val="1200"/>
              </a:spcBef>
              <a:buClr>
                <a:schemeClr val="accent2"/>
              </a:buClr>
              <a:buFont typeface="Wingdings" pitchFamily="2" charset="2"/>
              <a:buChar char="ü"/>
              <a:defRPr/>
            </a:pPr>
            <a:r>
              <a:rPr lang="en-US" sz="2800">
                <a:latin typeface="Calibri (Body)"/>
                <a:cs typeface="Arial" charset="0"/>
              </a:rPr>
              <a:t>Understand </a:t>
            </a:r>
            <a:r>
              <a:rPr lang="en-US" sz="2800" smtClean="0">
                <a:latin typeface="Calibri (Body)"/>
                <a:cs typeface="Arial" charset="0"/>
              </a:rPr>
              <a:t>API</a:t>
            </a:r>
            <a:r>
              <a:rPr lang="vi-VN" sz="2800" smtClean="0">
                <a:latin typeface="Calibri (Body)"/>
                <a:cs typeface="Arial" charset="0"/>
              </a:rPr>
              <a:t> </a:t>
            </a:r>
            <a:r>
              <a:rPr lang="en-US" sz="2800" smtClean="0">
                <a:latin typeface="Calibri (Body)"/>
                <a:cs typeface="Arial" charset="0"/>
              </a:rPr>
              <a:t>security basic</a:t>
            </a:r>
          </a:p>
          <a:p>
            <a:pPr marL="352425" lvl="2" indent="-352425" eaLnBrk="0" hangingPunct="0">
              <a:spcBef>
                <a:spcPts val="1200"/>
              </a:spcBef>
              <a:buClr>
                <a:schemeClr val="accent2"/>
              </a:buClr>
              <a:buFont typeface="Wingdings" pitchFamily="2" charset="2"/>
              <a:buChar char="ü"/>
              <a:defRPr/>
            </a:pPr>
            <a:r>
              <a:rPr lang="en-US" sz="2800">
                <a:latin typeface="Calibri (Body)"/>
                <a:cs typeface="Arial" charset="0"/>
              </a:rPr>
              <a:t>Understanding how to protect data </a:t>
            </a:r>
            <a:r>
              <a:rPr lang="en-US" sz="2800" smtClean="0">
                <a:latin typeface="Calibri (Body)"/>
                <a:cs typeface="Arial" charset="0"/>
              </a:rPr>
              <a:t>effectively</a:t>
            </a:r>
          </a:p>
          <a:p>
            <a:pPr marL="352425" lvl="2" indent="-352425" eaLnBrk="0" hangingPunct="0">
              <a:spcBef>
                <a:spcPts val="1200"/>
              </a:spcBef>
              <a:buClr>
                <a:schemeClr val="accent2"/>
              </a:buClr>
              <a:buFont typeface="Wingdings" pitchFamily="2" charset="2"/>
              <a:buChar char="ü"/>
              <a:defRPr/>
            </a:pPr>
            <a:r>
              <a:rPr lang="en-US" sz="2800">
                <a:latin typeface="Calibri (Body)"/>
                <a:cs typeface="Arial" charset="0"/>
              </a:rPr>
              <a:t>Understanding how to </a:t>
            </a:r>
            <a:r>
              <a:rPr lang="en-GB" sz="2800" smtClean="0"/>
              <a:t>Prevent </a:t>
            </a:r>
            <a:r>
              <a:rPr lang="en-GB" sz="2800"/>
              <a:t>Unauthorized Access</a:t>
            </a:r>
            <a:endParaRPr lang="en-US" sz="2800">
              <a:latin typeface="Calibri (Body)"/>
              <a:cs typeface="Arial" charset="0"/>
            </a:endParaRPr>
          </a:p>
          <a:p>
            <a:pPr marL="352425" lvl="2" indent="-352425" eaLnBrk="0" hangingPunct="0">
              <a:spcBef>
                <a:spcPts val="1200"/>
              </a:spcBef>
              <a:buClr>
                <a:schemeClr val="accent2"/>
              </a:buClr>
              <a:buFont typeface="Wingdings" pitchFamily="2" charset="2"/>
              <a:buChar char="ü"/>
              <a:defRPr/>
            </a:pPr>
            <a:r>
              <a:rPr lang="en-US" sz="2800" smtClean="0">
                <a:latin typeface="Calibri (Body)"/>
                <a:cs typeface="Arial" charset="0"/>
              </a:rPr>
              <a:t>Building practices </a:t>
            </a:r>
            <a:r>
              <a:rPr lang="en-US" sz="2800">
                <a:latin typeface="Calibri (Body)"/>
                <a:cs typeface="Arial" charset="0"/>
              </a:rPr>
              <a:t>for API </a:t>
            </a:r>
            <a:r>
              <a:rPr lang="en-US" sz="2800" smtClean="0">
                <a:latin typeface="Calibri (Body)"/>
                <a:cs typeface="Arial" charset="0"/>
              </a:rPr>
              <a:t>Security</a:t>
            </a:r>
          </a:p>
          <a:p>
            <a:pPr marL="352425" lvl="2" indent="-352425" eaLnBrk="0" hangingPunct="0">
              <a:spcBef>
                <a:spcPts val="1200"/>
              </a:spcBef>
              <a:buClr>
                <a:schemeClr val="accent2"/>
              </a:buClr>
              <a:buFont typeface="Wingdings" pitchFamily="2" charset="2"/>
              <a:buChar char="ü"/>
              <a:defRPr/>
            </a:pPr>
            <a:r>
              <a:rPr lang="en-US" sz="2800" smtClean="0">
                <a:latin typeface="Calibri (Body)"/>
                <a:cs typeface="Arial" charset="0"/>
              </a:rPr>
              <a:t>Skills</a:t>
            </a:r>
          </a:p>
          <a:p>
            <a:pPr marL="1304925" lvl="2" indent="-457200" eaLnBrk="0" hangingPunct="0">
              <a:spcBef>
                <a:spcPts val="12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/>
            </a:pPr>
            <a:r>
              <a:rPr lang="en-US" sz="2800" smtClean="0">
                <a:latin typeface="Calibri (Body)"/>
                <a:cs typeface="Arial" charset="0"/>
              </a:rPr>
              <a:t>Knowledge </a:t>
            </a:r>
            <a:r>
              <a:rPr lang="en-US" sz="2800">
                <a:latin typeface="Calibri (Body)"/>
                <a:cs typeface="Arial" charset="0"/>
              </a:rPr>
              <a:t>of HTTPS and </a:t>
            </a:r>
            <a:r>
              <a:rPr lang="en-US" sz="2800" smtClean="0">
                <a:latin typeface="Calibri (Body)"/>
                <a:cs typeface="Arial" charset="0"/>
              </a:rPr>
              <a:t>SSL/TLS</a:t>
            </a:r>
          </a:p>
          <a:p>
            <a:pPr marL="1304925" lvl="2" indent="-457200" eaLnBrk="0" hangingPunct="0">
              <a:spcBef>
                <a:spcPts val="12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/>
            </a:pPr>
            <a:r>
              <a:rPr lang="en-US" sz="2800">
                <a:latin typeface="Calibri (Body)"/>
                <a:cs typeface="Arial" charset="0"/>
              </a:rPr>
              <a:t>Authentication and </a:t>
            </a:r>
            <a:r>
              <a:rPr lang="en-US" sz="2800" smtClean="0">
                <a:latin typeface="Calibri (Body)"/>
                <a:cs typeface="Arial" charset="0"/>
              </a:rPr>
              <a:t>Authorization</a:t>
            </a:r>
          </a:p>
          <a:p>
            <a:pPr marL="1304925" lvl="2" indent="-457200" eaLnBrk="0" hangingPunct="0">
              <a:spcBef>
                <a:spcPts val="12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/>
            </a:pPr>
            <a:r>
              <a:rPr lang="en-US" sz="2800">
                <a:latin typeface="Calibri (Body)"/>
                <a:cs typeface="Arial" charset="0"/>
              </a:rPr>
              <a:t>Cross-Origin Resource </a:t>
            </a:r>
            <a:r>
              <a:rPr lang="en-US" sz="2800" smtClean="0">
                <a:latin typeface="Calibri (Body)"/>
                <a:cs typeface="Arial" charset="0"/>
              </a:rPr>
              <a:t>Sharing (CROS)</a:t>
            </a:r>
          </a:p>
          <a:p>
            <a:pPr marL="1304925" lvl="2" indent="-457200" eaLnBrk="0" hangingPunct="0">
              <a:spcBef>
                <a:spcPts val="12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/>
            </a:pPr>
            <a:r>
              <a:rPr lang="en-US" sz="2800">
                <a:latin typeface="Calibri (Body)"/>
                <a:cs typeface="Arial" charset="0"/>
              </a:rPr>
              <a:t>Cross-Site </a:t>
            </a:r>
            <a:r>
              <a:rPr lang="en-US" sz="2800" smtClean="0">
                <a:latin typeface="Calibri (Body)"/>
                <a:cs typeface="Arial" charset="0"/>
              </a:rPr>
              <a:t>Scripting (XSS)</a:t>
            </a:r>
            <a:endParaRPr lang="en-US" sz="2800">
              <a:latin typeface="Calibri (Body)"/>
              <a:cs typeface="Arial" charset="0"/>
            </a:endParaRPr>
          </a:p>
          <a:p>
            <a:pPr marL="352425" lvl="2" indent="-352425" eaLnBrk="0" hangingPunct="0">
              <a:spcBef>
                <a:spcPts val="1200"/>
              </a:spcBef>
              <a:buClr>
                <a:schemeClr val="accent2"/>
              </a:buClr>
              <a:buFont typeface="Wingdings" pitchFamily="2" charset="2"/>
              <a:buChar char="ü"/>
              <a:defRPr/>
            </a:pPr>
            <a:endParaRPr lang="en-US" sz="2800" smtClean="0">
              <a:latin typeface="Calibri (Body)"/>
              <a:cs typeface="Arial" charset="0"/>
            </a:endParaRPr>
          </a:p>
          <a:p>
            <a:pPr marL="352425" lvl="2" indent="-352425" eaLnBrk="0" hangingPunct="0">
              <a:spcBef>
                <a:spcPts val="1200"/>
              </a:spcBef>
              <a:buClr>
                <a:schemeClr val="accent2"/>
              </a:buClr>
              <a:buFont typeface="Wingdings" pitchFamily="2" charset="2"/>
              <a:buChar char="ü"/>
              <a:defRPr/>
            </a:pPr>
            <a:endParaRPr lang="en-US" sz="2800">
              <a:latin typeface="Calibri (Body)"/>
              <a:cs typeface="Arial" charset="0"/>
            </a:endParaRPr>
          </a:p>
        </p:txBody>
      </p:sp>
      <p:grpSp>
        <p:nvGrpSpPr>
          <p:cNvPr id="8" name="Group 17">
            <a:extLst>
              <a:ext uri="{FF2B5EF4-FFF2-40B4-BE49-F238E27FC236}">
                <a16:creationId xmlns:a16="http://schemas.microsoft.com/office/drawing/2014/main" id="{ED887729-ADFA-4A3C-8487-4A3E9EA69717}"/>
              </a:ext>
            </a:extLst>
          </p:cNvPr>
          <p:cNvGrpSpPr>
            <a:grpSpLocks/>
          </p:cNvGrpSpPr>
          <p:nvPr/>
        </p:nvGrpSpPr>
        <p:grpSpPr bwMode="auto">
          <a:xfrm>
            <a:off x="351081" y="5698643"/>
            <a:ext cx="872451" cy="871933"/>
            <a:chOff x="2562" y="439"/>
            <a:chExt cx="1684" cy="1683"/>
          </a:xfrm>
        </p:grpSpPr>
        <p:sp>
          <p:nvSpPr>
            <p:cNvPr id="9" name="Oval 5">
              <a:extLst>
                <a:ext uri="{FF2B5EF4-FFF2-40B4-BE49-F238E27FC236}">
                  <a16:creationId xmlns:a16="http://schemas.microsoft.com/office/drawing/2014/main" id="{823AD30B-EC73-436E-A1DD-C5277FB5F02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562" y="439"/>
              <a:ext cx="1684" cy="1683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" name="Oval 6">
              <a:extLst>
                <a:ext uri="{FF2B5EF4-FFF2-40B4-BE49-F238E27FC236}">
                  <a16:creationId xmlns:a16="http://schemas.microsoft.com/office/drawing/2014/main" id="{9D620571-D154-4B5F-8F9D-8D9A870C839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673" y="548"/>
              <a:ext cx="1461" cy="1463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54118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1" name="Oval 7">
              <a:extLst>
                <a:ext uri="{FF2B5EF4-FFF2-40B4-BE49-F238E27FC236}">
                  <a16:creationId xmlns:a16="http://schemas.microsoft.com/office/drawing/2014/main" id="{EA5E5C87-E81E-4FD8-BD9B-E1FDBB12E08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685" y="536"/>
              <a:ext cx="1461" cy="146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63529"/>
                    <a:invGamma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2" name="Oval 8">
              <a:extLst>
                <a:ext uri="{FF2B5EF4-FFF2-40B4-BE49-F238E27FC236}">
                  <a16:creationId xmlns:a16="http://schemas.microsoft.com/office/drawing/2014/main" id="{036FB501-C6B9-44B2-BB76-3C96CEBCEC5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45" y="622"/>
              <a:ext cx="1317" cy="131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3" name="Oval 9">
              <a:extLst>
                <a:ext uri="{FF2B5EF4-FFF2-40B4-BE49-F238E27FC236}">
                  <a16:creationId xmlns:a16="http://schemas.microsoft.com/office/drawing/2014/main" id="{AC52E75D-A96D-426B-B8DB-A9AD5A5F07B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66" y="643"/>
              <a:ext cx="1276" cy="1277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46275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14" name="Oval 10">
              <a:extLst>
                <a:ext uri="{FF2B5EF4-FFF2-40B4-BE49-F238E27FC236}">
                  <a16:creationId xmlns:a16="http://schemas.microsoft.com/office/drawing/2014/main" id="{49640741-9450-421D-908D-F9690C223DC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82" y="650"/>
              <a:ext cx="1246" cy="1246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D6E1E2">
                    <a:gamma/>
                    <a:tint val="34902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15" name="Oval 11">
              <a:extLst>
                <a:ext uri="{FF2B5EF4-FFF2-40B4-BE49-F238E27FC236}">
                  <a16:creationId xmlns:a16="http://schemas.microsoft.com/office/drawing/2014/main" id="{63C72EC7-9E50-4B9A-89D3-4CEC3FDC097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96" y="662"/>
              <a:ext cx="1184" cy="1164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79216"/>
                    <a:invGamma/>
                  </a:srgbClr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16" name="Oval 12">
              <a:extLst>
                <a:ext uri="{FF2B5EF4-FFF2-40B4-BE49-F238E27FC236}">
                  <a16:creationId xmlns:a16="http://schemas.microsoft.com/office/drawing/2014/main" id="{1FA6B37F-511C-4720-B9DE-5AA78C56839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865" y="695"/>
              <a:ext cx="1053" cy="945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>
                    <a:alpha val="38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pic>
          <p:nvPicPr>
            <p:cNvPr id="17" name="Picture 13" descr="mark">
              <a:extLst>
                <a:ext uri="{FF2B5EF4-FFF2-40B4-BE49-F238E27FC236}">
                  <a16:creationId xmlns:a16="http://schemas.microsoft.com/office/drawing/2014/main" id="{CDA1E34D-CC30-48C0-8749-AE29EAABF0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4" y="793"/>
              <a:ext cx="1011" cy="1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D3D43EB5-C52A-4822-A317-E8442C4950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31" y="248805"/>
            <a:ext cx="310052" cy="715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840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F86A26-9B92-408D-A754-87E8E4DA4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376" y="321207"/>
            <a:ext cx="2484119" cy="515719"/>
          </a:xfrm>
          <a:prstGeom prst="rect">
            <a:avLst/>
          </a:prstGeom>
        </p:spPr>
        <p:txBody>
          <a:bodyPr>
            <a:noAutofit/>
          </a:bodyPr>
          <a:lstStyle/>
          <a:p>
            <a:pPr algn="l"/>
            <a:r>
              <a:rPr lang="en-US" sz="3600" b="1" cap="all">
                <a:solidFill>
                  <a:srgbClr val="4426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C94347-3574-4376-A5A1-B446F25C9B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9D920AF-2440-4552-8F7A-6F88C8FE507A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Rectangle 33">
            <a:extLst>
              <a:ext uri="{FF2B5EF4-FFF2-40B4-BE49-F238E27FC236}">
                <a16:creationId xmlns:a16="http://schemas.microsoft.com/office/drawing/2014/main" id="{EFE10DED-040A-41E9-A1CC-DCE47341B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326" y="1041923"/>
            <a:ext cx="9580552" cy="552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971550" lvl="3" indent="-514350" eaLnBrk="0" hangingPunct="0">
              <a:buClr>
                <a:srgbClr val="6600FF"/>
              </a:buClr>
              <a:buFont typeface="+mj-lt"/>
              <a:buAutoNum type="arabicPeriod"/>
              <a:defRPr/>
            </a:pPr>
            <a:r>
              <a:rPr lang="en-US" sz="28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is API security necessary?</a:t>
            </a:r>
          </a:p>
          <a:p>
            <a:pPr marL="971550" lvl="3" indent="-514350" eaLnBrk="0" hangingPunct="0">
              <a:spcBef>
                <a:spcPts val="1800"/>
              </a:spcBef>
              <a:buClr>
                <a:srgbClr val="6600FF"/>
              </a:buClr>
              <a:buFont typeface="+mj-lt"/>
              <a:buAutoNum type="arabicPeriod"/>
              <a:defRPr/>
            </a:pPr>
            <a:r>
              <a:rPr lang="en-US" sz="28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 Security Solutions</a:t>
            </a:r>
            <a:endParaRPr lang="en-US" sz="2800" smtClean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58888" lvl="4" eaLnBrk="0" hangingPunct="0">
              <a:spcBef>
                <a:spcPts val="1200"/>
              </a:spcBef>
              <a:buClr>
                <a:srgbClr val="6600FF"/>
              </a:buClr>
              <a:defRPr/>
            </a:pPr>
            <a:r>
              <a:rPr lang="en-US" sz="28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2.1. Input </a:t>
            </a:r>
            <a:r>
              <a:rPr lang="en-US" sz="280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Validation and CORS</a:t>
            </a:r>
          </a:p>
          <a:p>
            <a:pPr marL="1258888" lvl="4" eaLnBrk="0" hangingPunct="0">
              <a:spcBef>
                <a:spcPts val="1200"/>
              </a:spcBef>
              <a:buClr>
                <a:srgbClr val="6600FF"/>
              </a:buClr>
              <a:defRPr/>
            </a:pPr>
            <a:r>
              <a:rPr lang="en-US" sz="280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2.2</a:t>
            </a:r>
            <a:r>
              <a:rPr lang="en-US" sz="28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Data Encryption</a:t>
            </a:r>
          </a:p>
          <a:p>
            <a:pPr marL="1258888" lvl="4" eaLnBrk="0" hangingPunct="0">
              <a:spcBef>
                <a:spcPts val="1200"/>
              </a:spcBef>
              <a:buClr>
                <a:srgbClr val="6600FF"/>
              </a:buClr>
              <a:defRPr/>
            </a:pPr>
            <a:r>
              <a:rPr lang="en-US" sz="280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2.3</a:t>
            </a:r>
            <a:r>
              <a:rPr lang="en-US" sz="28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Authentication and Authorization</a:t>
            </a:r>
          </a:p>
          <a:p>
            <a:pPr marL="1258888" lvl="4" eaLnBrk="0" hangingPunct="0">
              <a:spcBef>
                <a:spcPts val="1200"/>
              </a:spcBef>
              <a:buClr>
                <a:srgbClr val="6600FF"/>
              </a:buClr>
              <a:defRPr/>
            </a:pPr>
            <a:r>
              <a:rPr lang="en-US" sz="28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2.4. Rate </a:t>
            </a:r>
            <a:r>
              <a:rPr lang="en-US" sz="280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Limiting</a:t>
            </a:r>
          </a:p>
          <a:p>
            <a:pPr marL="1258888" lvl="4" eaLnBrk="0" hangingPunct="0">
              <a:spcBef>
                <a:spcPts val="1200"/>
              </a:spcBef>
              <a:buClr>
                <a:srgbClr val="6600FF"/>
              </a:buClr>
              <a:defRPr/>
            </a:pPr>
            <a:r>
              <a:rPr lang="en-US" sz="280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2.5. Prevent XSS (Cross-Site Scripting)</a:t>
            </a:r>
          </a:p>
          <a:p>
            <a:pPr marL="1258888" lvl="4" eaLnBrk="0" hangingPunct="0">
              <a:spcBef>
                <a:spcPts val="1200"/>
              </a:spcBef>
              <a:buClr>
                <a:srgbClr val="6600FF"/>
              </a:buClr>
              <a:defRPr/>
            </a:pPr>
            <a:r>
              <a:rPr lang="en-US" sz="280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2.6</a:t>
            </a:r>
            <a:r>
              <a:rPr lang="en-US" sz="28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Prevent CSRF (Cross-Site Request </a:t>
            </a:r>
            <a:r>
              <a:rPr lang="en-US" sz="280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Forgery)</a:t>
            </a:r>
          </a:p>
          <a:p>
            <a:pPr marL="1258888" lvl="4" eaLnBrk="0" hangingPunct="0">
              <a:spcBef>
                <a:spcPts val="1200"/>
              </a:spcBef>
              <a:buClr>
                <a:srgbClr val="6600FF"/>
              </a:buClr>
              <a:defRPr/>
            </a:pPr>
            <a:r>
              <a:rPr lang="en-US" sz="280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2.7</a:t>
            </a:r>
            <a:r>
              <a:rPr lang="en-US" sz="28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Using an API Firewall (API Gateway</a:t>
            </a:r>
            <a:r>
              <a:rPr lang="en-US" sz="280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C62F6C-B4E6-409D-BF40-0431799859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3902" y="440129"/>
            <a:ext cx="803202" cy="936385"/>
          </a:xfrm>
          <a:prstGeom prst="rect">
            <a:avLst/>
          </a:prstGeom>
        </p:spPr>
      </p:pic>
      <p:grpSp>
        <p:nvGrpSpPr>
          <p:cNvPr id="6" name="Group 17">
            <a:extLst>
              <a:ext uri="{FF2B5EF4-FFF2-40B4-BE49-F238E27FC236}">
                <a16:creationId xmlns:a16="http://schemas.microsoft.com/office/drawing/2014/main" id="{7587D1D3-0E69-4B23-890B-7ADC5A18E069}"/>
              </a:ext>
            </a:extLst>
          </p:cNvPr>
          <p:cNvGrpSpPr>
            <a:grpSpLocks/>
          </p:cNvGrpSpPr>
          <p:nvPr/>
        </p:nvGrpSpPr>
        <p:grpSpPr bwMode="auto">
          <a:xfrm>
            <a:off x="289073" y="5832536"/>
            <a:ext cx="838903" cy="838405"/>
            <a:chOff x="2562" y="439"/>
            <a:chExt cx="1684" cy="1683"/>
          </a:xfrm>
        </p:grpSpPr>
        <p:sp>
          <p:nvSpPr>
            <p:cNvPr id="7" name="Oval 5">
              <a:extLst>
                <a:ext uri="{FF2B5EF4-FFF2-40B4-BE49-F238E27FC236}">
                  <a16:creationId xmlns:a16="http://schemas.microsoft.com/office/drawing/2014/main" id="{6DB0B53C-59C8-4230-AC7B-8118916BA36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562" y="439"/>
              <a:ext cx="1684" cy="1683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" name="Oval 6">
              <a:extLst>
                <a:ext uri="{FF2B5EF4-FFF2-40B4-BE49-F238E27FC236}">
                  <a16:creationId xmlns:a16="http://schemas.microsoft.com/office/drawing/2014/main" id="{405E591B-03DF-4BD9-B2C0-C1E364537DB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673" y="548"/>
              <a:ext cx="1461" cy="1463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54118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" name="Oval 7">
              <a:extLst>
                <a:ext uri="{FF2B5EF4-FFF2-40B4-BE49-F238E27FC236}">
                  <a16:creationId xmlns:a16="http://schemas.microsoft.com/office/drawing/2014/main" id="{D9993AFF-5C29-4888-B6D1-E0E058D49E1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685" y="536"/>
              <a:ext cx="1461" cy="146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63529"/>
                    <a:invGamma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0" name="Oval 8">
              <a:extLst>
                <a:ext uri="{FF2B5EF4-FFF2-40B4-BE49-F238E27FC236}">
                  <a16:creationId xmlns:a16="http://schemas.microsoft.com/office/drawing/2014/main" id="{6BC9D9BF-B70F-493D-BA7D-85791AF48AB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45" y="622"/>
              <a:ext cx="1317" cy="131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1" name="Oval 9">
              <a:extLst>
                <a:ext uri="{FF2B5EF4-FFF2-40B4-BE49-F238E27FC236}">
                  <a16:creationId xmlns:a16="http://schemas.microsoft.com/office/drawing/2014/main" id="{86D33714-F722-4986-96CD-C2292FB845E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66" y="643"/>
              <a:ext cx="1276" cy="1277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46275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12" name="Oval 10">
              <a:extLst>
                <a:ext uri="{FF2B5EF4-FFF2-40B4-BE49-F238E27FC236}">
                  <a16:creationId xmlns:a16="http://schemas.microsoft.com/office/drawing/2014/main" id="{1217B2E1-4260-463A-AD5A-F326A7366D4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82" y="650"/>
              <a:ext cx="1246" cy="1246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D6E1E2">
                    <a:gamma/>
                    <a:tint val="34902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13" name="Oval 11">
              <a:extLst>
                <a:ext uri="{FF2B5EF4-FFF2-40B4-BE49-F238E27FC236}">
                  <a16:creationId xmlns:a16="http://schemas.microsoft.com/office/drawing/2014/main" id="{EE133A82-5032-493A-8C0D-EC09DBBC88D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96" y="662"/>
              <a:ext cx="1184" cy="1164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79216"/>
                    <a:invGamma/>
                  </a:srgbClr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14" name="Oval 12">
              <a:extLst>
                <a:ext uri="{FF2B5EF4-FFF2-40B4-BE49-F238E27FC236}">
                  <a16:creationId xmlns:a16="http://schemas.microsoft.com/office/drawing/2014/main" id="{90215A23-351E-4FF4-A7FB-F7FC527F564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865" y="695"/>
              <a:ext cx="1053" cy="945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>
                    <a:alpha val="38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pic>
          <p:nvPicPr>
            <p:cNvPr id="15" name="Picture 13" descr="mark">
              <a:extLst>
                <a:ext uri="{FF2B5EF4-FFF2-40B4-BE49-F238E27FC236}">
                  <a16:creationId xmlns:a16="http://schemas.microsoft.com/office/drawing/2014/main" id="{0B6591C8-BAB3-4017-9276-C76AB429C1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4" y="793"/>
              <a:ext cx="1011" cy="1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6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568" y="274419"/>
            <a:ext cx="481961" cy="111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851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6212763" y="3504104"/>
            <a:ext cx="4922597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568" y="274419"/>
            <a:ext cx="481961" cy="111221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FD2705F-8A3F-43FB-B599-CD432A022700}"/>
              </a:ext>
            </a:extLst>
          </p:cNvPr>
          <p:cNvSpPr txBox="1"/>
          <p:nvPr/>
        </p:nvSpPr>
        <p:spPr>
          <a:xfrm>
            <a:off x="5573307" y="2897038"/>
            <a:ext cx="6131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Why is API security </a:t>
            </a:r>
            <a:r>
              <a:rPr lang="en-US" sz="2800" b="1" smtClean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necessary?</a:t>
            </a:r>
            <a:endParaRPr lang="en-US" sz="2800" b="1">
              <a:solidFill>
                <a:srgbClr val="66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7DE2944F-AE04-492A-BB15-9E9B6DBB0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9D920AF-2440-4552-8F7A-6F88C8FE507A}" type="slidenum">
              <a:rPr lang="en-US" sz="1000" smtClean="0"/>
              <a:pPr/>
              <a:t>4</a:t>
            </a:fld>
            <a:endParaRPr lang="en-US" sz="1000"/>
          </a:p>
        </p:txBody>
      </p:sp>
      <p:grpSp>
        <p:nvGrpSpPr>
          <p:cNvPr id="13" name="Group 17">
            <a:extLst>
              <a:ext uri="{FF2B5EF4-FFF2-40B4-BE49-F238E27FC236}">
                <a16:creationId xmlns:a16="http://schemas.microsoft.com/office/drawing/2014/main" id="{6080DA0D-484A-4C70-BB3A-D9040DBEAE59}"/>
              </a:ext>
            </a:extLst>
          </p:cNvPr>
          <p:cNvGrpSpPr>
            <a:grpSpLocks/>
          </p:cNvGrpSpPr>
          <p:nvPr/>
        </p:nvGrpSpPr>
        <p:grpSpPr bwMode="auto">
          <a:xfrm>
            <a:off x="2773648" y="5049983"/>
            <a:ext cx="1219138" cy="1218414"/>
            <a:chOff x="2562" y="439"/>
            <a:chExt cx="1684" cy="1683"/>
          </a:xfrm>
        </p:grpSpPr>
        <p:sp>
          <p:nvSpPr>
            <p:cNvPr id="14" name="Oval 5">
              <a:extLst>
                <a:ext uri="{FF2B5EF4-FFF2-40B4-BE49-F238E27FC236}">
                  <a16:creationId xmlns:a16="http://schemas.microsoft.com/office/drawing/2014/main" id="{E4139574-C4EA-4556-ACDA-A76931EBDCA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562" y="439"/>
              <a:ext cx="1684" cy="1683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" name="Oval 6">
              <a:extLst>
                <a:ext uri="{FF2B5EF4-FFF2-40B4-BE49-F238E27FC236}">
                  <a16:creationId xmlns:a16="http://schemas.microsoft.com/office/drawing/2014/main" id="{0F894546-4EC9-47C0-B71E-69BF9C0F13C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673" y="548"/>
              <a:ext cx="1461" cy="1463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54118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" name="Oval 7">
              <a:extLst>
                <a:ext uri="{FF2B5EF4-FFF2-40B4-BE49-F238E27FC236}">
                  <a16:creationId xmlns:a16="http://schemas.microsoft.com/office/drawing/2014/main" id="{7F8A18EB-028B-4904-82AC-271110A4EA8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685" y="536"/>
              <a:ext cx="1461" cy="146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63529"/>
                    <a:invGamma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3" name="Oval 8">
              <a:extLst>
                <a:ext uri="{FF2B5EF4-FFF2-40B4-BE49-F238E27FC236}">
                  <a16:creationId xmlns:a16="http://schemas.microsoft.com/office/drawing/2014/main" id="{75655967-7598-41D4-AD1E-3A8317F57AB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45" y="622"/>
              <a:ext cx="1317" cy="131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6" name="Oval 9">
              <a:extLst>
                <a:ext uri="{FF2B5EF4-FFF2-40B4-BE49-F238E27FC236}">
                  <a16:creationId xmlns:a16="http://schemas.microsoft.com/office/drawing/2014/main" id="{65267B8C-8F7A-483A-951E-B580A472232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66" y="643"/>
              <a:ext cx="1276" cy="1277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46275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7" name="Oval 10">
              <a:extLst>
                <a:ext uri="{FF2B5EF4-FFF2-40B4-BE49-F238E27FC236}">
                  <a16:creationId xmlns:a16="http://schemas.microsoft.com/office/drawing/2014/main" id="{A9AA3EC5-79DC-4B8D-AB98-769BCA68198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82" y="650"/>
              <a:ext cx="1246" cy="1246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D6E1E2">
                    <a:gamma/>
                    <a:tint val="34902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8" name="Oval 11">
              <a:extLst>
                <a:ext uri="{FF2B5EF4-FFF2-40B4-BE49-F238E27FC236}">
                  <a16:creationId xmlns:a16="http://schemas.microsoft.com/office/drawing/2014/main" id="{706F5677-482E-4BA0-962F-377CD39AFA7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96" y="662"/>
              <a:ext cx="1184" cy="1164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79216"/>
                    <a:invGamma/>
                  </a:srgbClr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9" name="Oval 12">
              <a:extLst>
                <a:ext uri="{FF2B5EF4-FFF2-40B4-BE49-F238E27FC236}">
                  <a16:creationId xmlns:a16="http://schemas.microsoft.com/office/drawing/2014/main" id="{252F8531-A078-4482-B2EE-FB90AD06E56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865" y="695"/>
              <a:ext cx="1053" cy="945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>
                    <a:alpha val="38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pic>
          <p:nvPicPr>
            <p:cNvPr id="30" name="Picture 13" descr="mark">
              <a:extLst>
                <a:ext uri="{FF2B5EF4-FFF2-40B4-BE49-F238E27FC236}">
                  <a16:creationId xmlns:a16="http://schemas.microsoft.com/office/drawing/2014/main" id="{EFA5FDD7-8288-46D9-A2A0-D844DBC1A7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4" y="793"/>
              <a:ext cx="1011" cy="1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4" name="Subtitle 2">
            <a:extLst>
              <a:ext uri="{FF2B5EF4-FFF2-40B4-BE49-F238E27FC236}">
                <a16:creationId xmlns:a16="http://schemas.microsoft.com/office/drawing/2014/main" id="{685AE60F-970B-4CBE-B226-90761D73C2B4}"/>
              </a:ext>
            </a:extLst>
          </p:cNvPr>
          <p:cNvSpPr txBox="1">
            <a:spLocks/>
          </p:cNvSpPr>
          <p:nvPr/>
        </p:nvSpPr>
        <p:spPr>
          <a:xfrm>
            <a:off x="8908936" y="5821653"/>
            <a:ext cx="2699480" cy="10344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8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000">
                <a:solidFill>
                  <a:schemeClr val="bg1">
                    <a:lumMod val="50000"/>
                  </a:schemeClr>
                </a:solidFill>
              </a:rPr>
              <a:t>Lecturer: Phạm </a:t>
            </a:r>
            <a:r>
              <a:rPr lang="en-US" sz="1000" err="1">
                <a:solidFill>
                  <a:schemeClr val="bg1">
                    <a:lumMod val="50000"/>
                  </a:schemeClr>
                </a:solidFill>
              </a:rPr>
              <a:t>Đình</a:t>
            </a:r>
            <a:r>
              <a:rPr lang="en-US" sz="10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000" err="1">
                <a:solidFill>
                  <a:schemeClr val="bg1">
                    <a:lumMod val="50000"/>
                  </a:schemeClr>
                </a:solidFill>
              </a:rPr>
              <a:t>Sắc</a:t>
            </a:r>
            <a:endParaRPr lang="en-US" sz="100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lnSpc>
                <a:spcPct val="18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000">
                <a:solidFill>
                  <a:schemeClr val="bg1">
                    <a:lumMod val="50000"/>
                  </a:schemeClr>
                </a:solidFill>
              </a:rPr>
              <a:t>phamdinhsac@dntu.edu.vn</a:t>
            </a:r>
          </a:p>
          <a:p>
            <a:pPr marL="0" indent="0">
              <a:lnSpc>
                <a:spcPct val="180000"/>
              </a:lnSpc>
              <a:spcBef>
                <a:spcPts val="0"/>
              </a:spcBef>
              <a:buNone/>
            </a:pPr>
            <a:r>
              <a:rPr lang="en-US" sz="1000">
                <a:solidFill>
                  <a:schemeClr val="bg1">
                    <a:lumMod val="50000"/>
                  </a:schemeClr>
                </a:solidFill>
              </a:rPr>
              <a:t>Section: Software Engineering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0A41EFF0-0464-4F9C-B9C3-F3D1CDDF4C7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3750" y="6242344"/>
            <a:ext cx="142933" cy="14293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350F49AF-C69E-432E-8377-02A71E423B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3974" y="5850957"/>
            <a:ext cx="228600" cy="2286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C1F1749-96BC-46E2-B396-4978EE332512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8007" y="6482889"/>
            <a:ext cx="228600" cy="2286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C8725A2-2703-4E1E-8062-36648424444B}"/>
              </a:ext>
            </a:extLst>
          </p:cNvPr>
          <p:cNvSpPr txBox="1"/>
          <p:nvPr/>
        </p:nvSpPr>
        <p:spPr>
          <a:xfrm>
            <a:off x="11512027" y="251790"/>
            <a:ext cx="4271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endParaRPr lang="en-US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0C5823A-D2D1-41BC-9597-EDE8E6B8977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1748" y="5808519"/>
            <a:ext cx="578605" cy="67454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FD2705F-8A3F-43FB-B599-CD432A022700}"/>
              </a:ext>
            </a:extLst>
          </p:cNvPr>
          <p:cNvSpPr txBox="1"/>
          <p:nvPr/>
        </p:nvSpPr>
        <p:spPr>
          <a:xfrm>
            <a:off x="5908440" y="1154192"/>
            <a:ext cx="5359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API Security Basic</a:t>
            </a:r>
          </a:p>
        </p:txBody>
      </p:sp>
    </p:spTree>
    <p:extLst>
      <p:ext uri="{BB962C8B-B14F-4D97-AF65-F5344CB8AC3E}">
        <p14:creationId xmlns:p14="http://schemas.microsoft.com/office/powerpoint/2010/main" val="375927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 xmlns:a14="http://schemas.microsoft.com/office/drawing/2010/main" xmlns:a16="http://schemas.microsoft.com/office/drawing/2014/main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1. </a:t>
            </a:r>
            <a:r>
              <a:rPr lang="en-US"/>
              <a:t>Why is API security necessary?</a:t>
            </a:r>
            <a:endParaRPr lang="en-GB" sz="2800" dirty="0">
              <a:solidFill>
                <a:srgbClr val="FFFF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538480" y="832562"/>
            <a:ext cx="10982961" cy="2377998"/>
          </a:xfrm>
        </p:spPr>
        <p:txBody>
          <a:bodyPr/>
          <a:lstStyle/>
          <a:p>
            <a:pPr marL="457200" indent="-457200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>
                <a:sym typeface="Wingdings" panose="05000000000000000000" pitchFamily="2" charset="2"/>
              </a:rPr>
              <a:t>APIs, essential for software development, allow different systems to communicate. </a:t>
            </a:r>
            <a:endParaRPr lang="en-US" smtClean="0">
              <a:sym typeface="Wingdings" panose="05000000000000000000" pitchFamily="2" charset="2"/>
            </a:endParaRPr>
          </a:p>
          <a:p>
            <a:pPr marL="457200" indent="-457200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mtClean="0">
                <a:sym typeface="Wingdings" panose="05000000000000000000" pitchFamily="2" charset="2"/>
              </a:rPr>
              <a:t>However</a:t>
            </a:r>
            <a:r>
              <a:rPr lang="en-US">
                <a:sym typeface="Wingdings" panose="05000000000000000000" pitchFamily="2" charset="2"/>
              </a:rPr>
              <a:t>, their internet-based nature makes them prime targets for attacks. Thus, API security is </a:t>
            </a:r>
            <a:r>
              <a:rPr lang="en-US" smtClean="0">
                <a:sym typeface="Wingdings" panose="05000000000000000000" pitchFamily="2" charset="2"/>
              </a:rPr>
              <a:t>paramount (very important)</a:t>
            </a:r>
            <a:endParaRPr lang="en-GB" dirty="0"/>
          </a:p>
        </p:txBody>
      </p:sp>
      <p:pic>
        <p:nvPicPr>
          <p:cNvPr id="7" name="Picture 4" descr="https://orca.security/wp-content/uploads/2022/10/orca-security-api-security-launch-overview-blog-1979x1176-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445" y="3434080"/>
            <a:ext cx="4599223" cy="2733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554" y="3403600"/>
            <a:ext cx="5704485" cy="2769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869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1. </a:t>
            </a:r>
            <a:r>
              <a:rPr lang="en-US"/>
              <a:t>Why is API security necessary?</a:t>
            </a:r>
            <a:endParaRPr lang="en-GB" sz="2800" dirty="0">
              <a:solidFill>
                <a:srgbClr val="FFFF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528826" y="1218642"/>
            <a:ext cx="11220722" cy="4975681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sz="2400">
                <a:sym typeface="Wingdings" panose="05000000000000000000" pitchFamily="2" charset="2"/>
              </a:rPr>
              <a:t>API security helps protect sensitive data and prevents potential attacks such as:</a:t>
            </a:r>
          </a:p>
          <a:p>
            <a:pPr marL="457200" indent="-457200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400">
                <a:solidFill>
                  <a:srgbClr val="C00000"/>
                </a:solidFill>
                <a:sym typeface="Wingdings" panose="05000000000000000000" pitchFamily="2" charset="2"/>
              </a:rPr>
              <a:t>SQL Injection: </a:t>
            </a:r>
            <a:r>
              <a:rPr lang="en-US" sz="2400">
                <a:sym typeface="Wingdings" panose="05000000000000000000" pitchFamily="2" charset="2"/>
              </a:rPr>
              <a:t>Hackers insert malicious SQL code to access </a:t>
            </a:r>
            <a:r>
              <a:rPr lang="en-US" sz="2400" smtClean="0">
                <a:sym typeface="Wingdings" panose="05000000000000000000" pitchFamily="2" charset="2"/>
              </a:rPr>
              <a:t>unwanted </a:t>
            </a:r>
            <a:r>
              <a:rPr lang="en-US" sz="2400">
                <a:sym typeface="Wingdings" panose="05000000000000000000" pitchFamily="2" charset="2"/>
              </a:rPr>
              <a:t>data.</a:t>
            </a:r>
          </a:p>
          <a:p>
            <a:pPr marL="457200" indent="-457200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400">
                <a:solidFill>
                  <a:srgbClr val="C00000"/>
                </a:solidFill>
                <a:sym typeface="Wingdings" panose="05000000000000000000" pitchFamily="2" charset="2"/>
              </a:rPr>
              <a:t>Denial of Service (DoS): </a:t>
            </a:r>
            <a:r>
              <a:rPr lang="en-US" sz="2400">
                <a:sym typeface="Wingdings" panose="05000000000000000000" pitchFamily="2" charset="2"/>
              </a:rPr>
              <a:t>An attack that overloads the system with numerous requests, causing the service to become inoperable.</a:t>
            </a:r>
          </a:p>
          <a:p>
            <a:pPr marL="457200" indent="-457200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400" smtClean="0">
                <a:solidFill>
                  <a:srgbClr val="C00000"/>
                </a:solidFill>
                <a:sym typeface="Wingdings" panose="05000000000000000000" pitchFamily="2" charset="2"/>
              </a:rPr>
              <a:t>Cross-Site </a:t>
            </a:r>
            <a:r>
              <a:rPr lang="en-US" sz="2400">
                <a:solidFill>
                  <a:srgbClr val="C00000"/>
                </a:solidFill>
                <a:sym typeface="Wingdings" panose="05000000000000000000" pitchFamily="2" charset="2"/>
              </a:rPr>
              <a:t>Scripting (XSS): </a:t>
            </a:r>
            <a:r>
              <a:rPr lang="en-US" sz="2400">
                <a:sym typeface="Wingdings" panose="05000000000000000000" pitchFamily="2" charset="2"/>
              </a:rPr>
              <a:t>Hacker injects malicious code into websites (usually  javascript)</a:t>
            </a:r>
          </a:p>
          <a:p>
            <a:pPr marL="457200" indent="-457200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400" smtClean="0">
                <a:solidFill>
                  <a:srgbClr val="C00000"/>
                </a:solidFill>
                <a:sym typeface="Wingdings" panose="05000000000000000000" pitchFamily="2" charset="2"/>
              </a:rPr>
              <a:t>CSRF </a:t>
            </a:r>
            <a:r>
              <a:rPr lang="en-US" sz="2400">
                <a:solidFill>
                  <a:srgbClr val="C00000"/>
                </a:solidFill>
                <a:sym typeface="Wingdings" panose="05000000000000000000" pitchFamily="2" charset="2"/>
              </a:rPr>
              <a:t>(Cross-Site Request Forgery</a:t>
            </a:r>
            <a:r>
              <a:rPr lang="en-US" sz="2400" smtClean="0">
                <a:solidFill>
                  <a:srgbClr val="C00000"/>
                </a:solidFill>
                <a:sym typeface="Wingdings" panose="05000000000000000000" pitchFamily="2" charset="2"/>
              </a:rPr>
              <a:t>): </a:t>
            </a:r>
            <a:r>
              <a:rPr lang="en-US" sz="2400">
                <a:sym typeface="Wingdings" panose="05000000000000000000" pitchFamily="2" charset="2"/>
              </a:rPr>
              <a:t>Hacker injects malicious code or </a:t>
            </a:r>
            <a:r>
              <a:rPr lang="en-US" sz="2400" smtClean="0">
                <a:sym typeface="Wingdings" panose="05000000000000000000" pitchFamily="2" charset="2"/>
              </a:rPr>
              <a:t>link </a:t>
            </a:r>
            <a:r>
              <a:rPr lang="en-US" sz="2400">
                <a:sym typeface="Wingdings" panose="05000000000000000000" pitchFamily="2" charset="2"/>
              </a:rPr>
              <a:t>to a website where the user has been </a:t>
            </a:r>
            <a:r>
              <a:rPr lang="en-US" sz="2400" smtClean="0">
                <a:sym typeface="Wingdings" panose="05000000000000000000" pitchFamily="2" charset="2"/>
              </a:rPr>
              <a:t>authenticated.</a:t>
            </a:r>
          </a:p>
          <a:p>
            <a:pPr marL="457200" indent="-457200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400" smtClean="0"/>
              <a:t>…..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107314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3763875" y="1350934"/>
            <a:ext cx="5311298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375" y="235090"/>
            <a:ext cx="481961" cy="111221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FD2705F-8A3F-43FB-B599-CD432A022700}"/>
              </a:ext>
            </a:extLst>
          </p:cNvPr>
          <p:cNvSpPr txBox="1"/>
          <p:nvPr/>
        </p:nvSpPr>
        <p:spPr>
          <a:xfrm>
            <a:off x="3667432" y="680948"/>
            <a:ext cx="62238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smtClean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API </a:t>
            </a:r>
            <a:r>
              <a:rPr lang="en-US" sz="4000" b="1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Security Solutions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7DE2944F-AE04-492A-BB15-9E9B6DBB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920AF-2440-4552-8F7A-6F88C8FE507A}" type="slidenum">
              <a:rPr lang="en-US" sz="1000" smtClean="0"/>
              <a:pPr/>
              <a:t>7</a:t>
            </a:fld>
            <a:endParaRPr lang="en-US" sz="1000"/>
          </a:p>
        </p:txBody>
      </p:sp>
      <p:grpSp>
        <p:nvGrpSpPr>
          <p:cNvPr id="13" name="Group 17">
            <a:extLst>
              <a:ext uri="{FF2B5EF4-FFF2-40B4-BE49-F238E27FC236}">
                <a16:creationId xmlns:a16="http://schemas.microsoft.com/office/drawing/2014/main" id="{6080DA0D-484A-4C70-BB3A-D9040DBEAE59}"/>
              </a:ext>
            </a:extLst>
          </p:cNvPr>
          <p:cNvGrpSpPr>
            <a:grpSpLocks/>
          </p:cNvGrpSpPr>
          <p:nvPr/>
        </p:nvGrpSpPr>
        <p:grpSpPr bwMode="auto">
          <a:xfrm>
            <a:off x="536842" y="5690550"/>
            <a:ext cx="883826" cy="883301"/>
            <a:chOff x="2562" y="439"/>
            <a:chExt cx="1684" cy="1683"/>
          </a:xfrm>
        </p:grpSpPr>
        <p:sp>
          <p:nvSpPr>
            <p:cNvPr id="14" name="Oval 5">
              <a:extLst>
                <a:ext uri="{FF2B5EF4-FFF2-40B4-BE49-F238E27FC236}">
                  <a16:creationId xmlns:a16="http://schemas.microsoft.com/office/drawing/2014/main" id="{E4139574-C4EA-4556-ACDA-A76931EBDCA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562" y="439"/>
              <a:ext cx="1684" cy="1683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" name="Oval 6">
              <a:extLst>
                <a:ext uri="{FF2B5EF4-FFF2-40B4-BE49-F238E27FC236}">
                  <a16:creationId xmlns:a16="http://schemas.microsoft.com/office/drawing/2014/main" id="{0F894546-4EC9-47C0-B71E-69BF9C0F13C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673" y="548"/>
              <a:ext cx="1461" cy="1463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54118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" name="Oval 7">
              <a:extLst>
                <a:ext uri="{FF2B5EF4-FFF2-40B4-BE49-F238E27FC236}">
                  <a16:creationId xmlns:a16="http://schemas.microsoft.com/office/drawing/2014/main" id="{7F8A18EB-028B-4904-82AC-271110A4EA8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685" y="536"/>
              <a:ext cx="1461" cy="146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63529"/>
                    <a:invGamma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3" name="Oval 8">
              <a:extLst>
                <a:ext uri="{FF2B5EF4-FFF2-40B4-BE49-F238E27FC236}">
                  <a16:creationId xmlns:a16="http://schemas.microsoft.com/office/drawing/2014/main" id="{75655967-7598-41D4-AD1E-3A8317F57AB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45" y="622"/>
              <a:ext cx="1317" cy="131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6" name="Oval 9">
              <a:extLst>
                <a:ext uri="{FF2B5EF4-FFF2-40B4-BE49-F238E27FC236}">
                  <a16:creationId xmlns:a16="http://schemas.microsoft.com/office/drawing/2014/main" id="{65267B8C-8F7A-483A-951E-B580A472232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66" y="643"/>
              <a:ext cx="1276" cy="1277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46275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7" name="Oval 10">
              <a:extLst>
                <a:ext uri="{FF2B5EF4-FFF2-40B4-BE49-F238E27FC236}">
                  <a16:creationId xmlns:a16="http://schemas.microsoft.com/office/drawing/2014/main" id="{A9AA3EC5-79DC-4B8D-AB98-769BCA68198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82" y="650"/>
              <a:ext cx="1246" cy="1246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D6E1E2">
                    <a:gamma/>
                    <a:tint val="34902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8" name="Oval 11">
              <a:extLst>
                <a:ext uri="{FF2B5EF4-FFF2-40B4-BE49-F238E27FC236}">
                  <a16:creationId xmlns:a16="http://schemas.microsoft.com/office/drawing/2014/main" id="{706F5677-482E-4BA0-962F-377CD39AFA7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96" y="662"/>
              <a:ext cx="1184" cy="1164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79216"/>
                    <a:invGamma/>
                  </a:srgbClr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9" name="Oval 12">
              <a:extLst>
                <a:ext uri="{FF2B5EF4-FFF2-40B4-BE49-F238E27FC236}">
                  <a16:creationId xmlns:a16="http://schemas.microsoft.com/office/drawing/2014/main" id="{252F8531-A078-4482-B2EE-FB90AD06E56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865" y="695"/>
              <a:ext cx="1053" cy="945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>
                    <a:alpha val="38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pic>
          <p:nvPicPr>
            <p:cNvPr id="30" name="Picture 13" descr="mark">
              <a:extLst>
                <a:ext uri="{FF2B5EF4-FFF2-40B4-BE49-F238E27FC236}">
                  <a16:creationId xmlns:a16="http://schemas.microsoft.com/office/drawing/2014/main" id="{EFA5FDD7-8288-46D9-A2A0-D844DBC1A7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4" y="793"/>
              <a:ext cx="1011" cy="1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F0C5823A-D2D1-41BC-9597-EDE8E6B8977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7168" y="5829096"/>
            <a:ext cx="578605" cy="674546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286910" y="1517960"/>
            <a:ext cx="7511799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smtClean="0">
                <a:solidFill>
                  <a:srgbClr val="C00000"/>
                </a:solidFill>
              </a:rPr>
              <a:t>2.1. </a:t>
            </a:r>
            <a:r>
              <a:rPr lang="en-US" sz="2600">
                <a:solidFill>
                  <a:srgbClr val="C00000"/>
                </a:solidFill>
              </a:rPr>
              <a:t>Input Validation and </a:t>
            </a:r>
            <a:r>
              <a:rPr lang="en-US" sz="2600" smtClean="0">
                <a:solidFill>
                  <a:srgbClr val="C00000"/>
                </a:solidFill>
              </a:rPr>
              <a:t>CORS </a:t>
            </a:r>
            <a:r>
              <a:rPr lang="en-US" sz="2000" smtClean="0"/>
              <a:t>(</a:t>
            </a:r>
            <a:r>
              <a:rPr lang="en-US" sz="2000"/>
              <a:t>Cross-Origin Requests</a:t>
            </a:r>
            <a:r>
              <a:rPr lang="en-US" sz="2000" smtClean="0"/>
              <a:t>)</a:t>
            </a:r>
            <a:r>
              <a:rPr lang="en-US" sz="2600"/>
              <a:t/>
            </a:r>
            <a:br>
              <a:rPr lang="en-US" sz="2600"/>
            </a:br>
            <a:r>
              <a:rPr lang="en-US" sz="2600" smtClean="0"/>
              <a:t>2.2. </a:t>
            </a:r>
            <a:r>
              <a:rPr lang="en-US" sz="2600"/>
              <a:t>Data </a:t>
            </a:r>
            <a:r>
              <a:rPr lang="en-US" sz="2600" smtClean="0"/>
              <a:t>Encryption</a:t>
            </a:r>
            <a:r>
              <a:rPr lang="en-US" sz="2600">
                <a:solidFill>
                  <a:srgbClr val="C00000"/>
                </a:solidFill>
              </a:rPr>
              <a:t/>
            </a:r>
            <a:br>
              <a:rPr lang="en-US" sz="2600">
                <a:solidFill>
                  <a:srgbClr val="C00000"/>
                </a:solidFill>
              </a:rPr>
            </a:br>
            <a:r>
              <a:rPr lang="en-US" sz="2600" smtClean="0"/>
              <a:t>2.3. </a:t>
            </a:r>
            <a:r>
              <a:rPr lang="en-US" sz="2600"/>
              <a:t>Authentication and Authorization</a:t>
            </a:r>
            <a:br>
              <a:rPr lang="en-US" sz="2600"/>
            </a:br>
            <a:r>
              <a:rPr lang="en-US" sz="2600" smtClean="0"/>
              <a:t>2.4. </a:t>
            </a:r>
            <a:r>
              <a:rPr lang="en-US" sz="2600"/>
              <a:t>Rate </a:t>
            </a:r>
            <a:r>
              <a:rPr lang="en-US" sz="2600" smtClean="0"/>
              <a:t>Limiting</a:t>
            </a:r>
          </a:p>
          <a:p>
            <a:pPr>
              <a:lnSpc>
                <a:spcPct val="150000"/>
              </a:lnSpc>
            </a:pPr>
            <a:r>
              <a:rPr lang="en-US" sz="260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2.5. Prevent XSS </a:t>
            </a:r>
            <a:r>
              <a:rPr lang="en-US" sz="2600">
                <a:solidFill>
                  <a:schemeClr val="tx1">
                    <a:lumMod val="75000"/>
                    <a:lumOff val="25000"/>
                  </a:schemeClr>
                </a:solidFill>
              </a:rPr>
              <a:t>(Cross-Site Scripting</a:t>
            </a:r>
            <a:r>
              <a:rPr lang="en-US" sz="260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sz="26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600">
                <a:solidFill>
                  <a:schemeClr val="tx1">
                    <a:lumMod val="75000"/>
                    <a:lumOff val="25000"/>
                  </a:schemeClr>
                </a:solidFill>
              </a:rPr>
              <a:t>2.6. </a:t>
            </a:r>
            <a:r>
              <a:rPr lang="en-US" sz="260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Prevent CSRF </a:t>
            </a:r>
            <a:r>
              <a:rPr lang="en-US" sz="2600">
                <a:solidFill>
                  <a:schemeClr val="tx1">
                    <a:lumMod val="75000"/>
                    <a:lumOff val="25000"/>
                  </a:schemeClr>
                </a:solidFill>
              </a:rPr>
              <a:t>(Cross-Site Request Forgery</a:t>
            </a:r>
            <a:r>
              <a:rPr lang="en-US" sz="260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r>
              <a:rPr lang="en-US" sz="260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60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60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2.7. </a:t>
            </a:r>
            <a:r>
              <a:rPr lang="en-US" sz="2600">
                <a:solidFill>
                  <a:schemeClr val="tx1">
                    <a:lumMod val="75000"/>
                    <a:lumOff val="25000"/>
                  </a:schemeClr>
                </a:solidFill>
              </a:rPr>
              <a:t>Using an API Firewall (API Gateway)</a:t>
            </a:r>
            <a:br>
              <a:rPr lang="en-US" sz="260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0551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 xmlns:a14="http://schemas.microsoft.com/office/drawing/2010/main" xmlns:a16="http://schemas.microsoft.com/office/drawing/2014/main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smtClean="0"/>
              <a:t>2.1.1. </a:t>
            </a:r>
            <a:r>
              <a:rPr lang="en-US" sz="2400"/>
              <a:t>Input </a:t>
            </a:r>
            <a:r>
              <a:rPr lang="en-US" sz="2400" smtClean="0"/>
              <a:t>Validation helps </a:t>
            </a:r>
            <a:r>
              <a:rPr lang="en-US" sz="2400" smtClean="0">
                <a:solidFill>
                  <a:srgbClr val="FF9900"/>
                </a:solidFill>
              </a:rPr>
              <a:t>Prevent: </a:t>
            </a:r>
            <a:endParaRPr lang="en-US" sz="2400">
              <a:solidFill>
                <a:srgbClr val="FF99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6537" y="1166252"/>
            <a:ext cx="10660508" cy="5028070"/>
          </a:xfrm>
        </p:spPr>
        <p:txBody>
          <a:bodyPr/>
          <a:lstStyle/>
          <a:p>
            <a:pPr marL="457200" indent="-457200">
              <a:lnSpc>
                <a:spcPct val="110000"/>
              </a:lnSpc>
              <a:spcBef>
                <a:spcPts val="1800"/>
              </a:spcBef>
              <a:buFont typeface="Wingdings" panose="05000000000000000000" pitchFamily="2" charset="2"/>
              <a:buChar char="ü"/>
            </a:pPr>
            <a:r>
              <a:rPr lang="en-US">
                <a:solidFill>
                  <a:srgbClr val="FF9900"/>
                </a:solidFill>
              </a:rPr>
              <a:t>Prevent </a:t>
            </a:r>
            <a:r>
              <a:rPr lang="en-US" smtClean="0"/>
              <a:t>attackers </a:t>
            </a:r>
            <a:r>
              <a:rPr lang="en-US"/>
              <a:t>from injecting malicious code into SQL, NoSQL queries</a:t>
            </a:r>
          </a:p>
          <a:p>
            <a:pPr marL="457200" indent="-457200">
              <a:lnSpc>
                <a:spcPct val="110000"/>
              </a:lnSpc>
              <a:spcBef>
                <a:spcPts val="1800"/>
              </a:spcBef>
              <a:buFont typeface="Wingdings" panose="05000000000000000000" pitchFamily="2" charset="2"/>
              <a:buChar char="ü"/>
            </a:pPr>
            <a:r>
              <a:rPr lang="en-US">
                <a:solidFill>
                  <a:srgbClr val="FF9900"/>
                </a:solidFill>
              </a:rPr>
              <a:t>Prevent </a:t>
            </a:r>
            <a:r>
              <a:rPr lang="en-US" smtClean="0"/>
              <a:t>denial </a:t>
            </a:r>
            <a:r>
              <a:rPr lang="en-US"/>
              <a:t>of service (DoS) attacks by limiting the size and number of requests.</a:t>
            </a:r>
          </a:p>
          <a:p>
            <a:pPr marL="457200" indent="-457200">
              <a:lnSpc>
                <a:spcPct val="110000"/>
              </a:lnSpc>
              <a:spcBef>
                <a:spcPts val="1800"/>
              </a:spcBef>
              <a:buFont typeface="Wingdings" panose="05000000000000000000" pitchFamily="2" charset="2"/>
              <a:buChar char="ü"/>
            </a:pPr>
            <a:r>
              <a:rPr lang="en-US">
                <a:solidFill>
                  <a:srgbClr val="FF9900"/>
                </a:solidFill>
              </a:rPr>
              <a:t>Prevent </a:t>
            </a:r>
            <a:r>
              <a:rPr lang="en-US" smtClean="0"/>
              <a:t>malicious </a:t>
            </a:r>
            <a:r>
              <a:rPr lang="en-US"/>
              <a:t>code (XSS) from being injected into web pages to steal user information.</a:t>
            </a:r>
          </a:p>
          <a:p>
            <a:pPr marL="457200" indent="-457200">
              <a:lnSpc>
                <a:spcPct val="110000"/>
              </a:lnSpc>
              <a:spcBef>
                <a:spcPts val="1800"/>
              </a:spcBef>
              <a:buFont typeface="Wingdings" panose="05000000000000000000" pitchFamily="2" charset="2"/>
              <a:buChar char="ü"/>
            </a:pPr>
            <a:r>
              <a:rPr lang="en-US">
                <a:solidFill>
                  <a:srgbClr val="FF9900"/>
                </a:solidFill>
              </a:rPr>
              <a:t>Prevent </a:t>
            </a:r>
            <a:r>
              <a:rPr lang="en-US" smtClean="0"/>
              <a:t>invalid </a:t>
            </a:r>
            <a:r>
              <a:rPr lang="en-US"/>
              <a:t>data from causing application-layer errors</a:t>
            </a:r>
          </a:p>
          <a:p>
            <a:pPr marL="457200" indent="-457200">
              <a:lnSpc>
                <a:spcPct val="110000"/>
              </a:lnSpc>
              <a:spcBef>
                <a:spcPts val="1800"/>
              </a:spcBef>
              <a:buFont typeface="Wingdings" panose="05000000000000000000" pitchFamily="2" charset="2"/>
              <a:buChar char="ü"/>
            </a:pPr>
            <a:r>
              <a:rPr lang="en-US">
                <a:solidFill>
                  <a:srgbClr val="FF9900"/>
                </a:solidFill>
              </a:rPr>
              <a:t>Prevent </a:t>
            </a:r>
            <a:r>
              <a:rPr lang="en-US" smtClean="0"/>
              <a:t>error </a:t>
            </a:r>
            <a:r>
              <a:rPr lang="en-US"/>
              <a:t>messages about sensitive information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3513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EFB70C-2B51-4E7F-BC6C-83BE5B034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57" y="151507"/>
            <a:ext cx="10515600" cy="594995"/>
          </a:xfrm>
        </p:spPr>
        <p:txBody>
          <a:bodyPr/>
          <a:lstStyle/>
          <a:p>
            <a:r>
              <a:rPr lang="en-US" sz="2400" smtClean="0">
                <a:solidFill>
                  <a:srgbClr val="FFFF00"/>
                </a:solidFill>
                <a:cs typeface="Arial" charset="0"/>
              </a:rPr>
              <a:t>2.1.1</a:t>
            </a:r>
            <a:r>
              <a:rPr lang="en-US" sz="2400">
                <a:solidFill>
                  <a:srgbClr val="FFFF00"/>
                </a:solidFill>
                <a:cs typeface="Arial" charset="0"/>
              </a:rPr>
              <a:t>. </a:t>
            </a:r>
            <a:r>
              <a:rPr lang="en-US" sz="2400" smtClean="0">
                <a:solidFill>
                  <a:srgbClr val="FFFF00"/>
                </a:solidFill>
                <a:latin typeface="+mj-lt"/>
                <a:cs typeface="Arial" charset="0"/>
              </a:rPr>
              <a:t>Data </a:t>
            </a:r>
            <a:r>
              <a:rPr lang="en-US" sz="2400">
                <a:solidFill>
                  <a:srgbClr val="FFFF00"/>
                </a:solidFill>
                <a:latin typeface="+mj-lt"/>
                <a:cs typeface="Arial" charset="0"/>
              </a:rPr>
              <a:t>Annotations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B71802-8097-4963-98F3-8C83B1B251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3813" y="6356350"/>
            <a:ext cx="738187" cy="365125"/>
          </a:xfrm>
        </p:spPr>
        <p:txBody>
          <a:bodyPr/>
          <a:lstStyle/>
          <a:p>
            <a:fld id="{C983A250-531C-4018-816F-22C18A3C338C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Rectangle 33">
            <a:extLst>
              <a:ext uri="{FF2B5EF4-FFF2-40B4-BE49-F238E27FC236}">
                <a16:creationId xmlns:a16="http://schemas.microsoft.com/office/drawing/2014/main" id="{5688A0F3-D012-472E-8CA1-F066606BF4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26" y="842012"/>
            <a:ext cx="11523406" cy="55195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688975" lvl="3" indent="-403225" algn="just" eaLnBrk="0" hangingPunct="0">
              <a:spcBef>
                <a:spcPts val="12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/>
            </a:pPr>
            <a:r>
              <a:rPr lang="en-US" sz="2800">
                <a:solidFill>
                  <a:schemeClr val="tx1">
                    <a:lumMod val="95000"/>
                    <a:lumOff val="5000"/>
                  </a:schemeClr>
                </a:solidFill>
                <a:cs typeface="Arial" charset="0"/>
              </a:rPr>
              <a:t>Data Annotations are attributes you can apply directly to your model properties. </a:t>
            </a:r>
            <a:endParaRPr lang="en-US" sz="2800" smtClean="0">
              <a:solidFill>
                <a:schemeClr val="tx1">
                  <a:lumMod val="95000"/>
                  <a:lumOff val="5000"/>
                </a:schemeClr>
              </a:solidFill>
              <a:cs typeface="Arial" charset="0"/>
            </a:endParaRPr>
          </a:p>
          <a:p>
            <a:pPr marL="688975" lvl="3" indent="-403225" algn="just" eaLnBrk="0" hangingPunct="0">
              <a:spcBef>
                <a:spcPts val="12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/>
            </a:pPr>
            <a:r>
              <a:rPr lang="en-US" sz="2800" smtClean="0">
                <a:solidFill>
                  <a:schemeClr val="tx1">
                    <a:lumMod val="95000"/>
                    <a:lumOff val="5000"/>
                  </a:schemeClr>
                </a:solidFill>
                <a:cs typeface="Arial" charset="0"/>
              </a:rPr>
              <a:t>These </a:t>
            </a:r>
            <a:r>
              <a:rPr lang="en-US" sz="2800">
                <a:solidFill>
                  <a:schemeClr val="tx1">
                    <a:lumMod val="95000"/>
                    <a:lumOff val="5000"/>
                  </a:schemeClr>
                </a:solidFill>
                <a:cs typeface="Arial" charset="0"/>
              </a:rPr>
              <a:t>attributes specify validation rules that ASP.NET Core automatically enforces. </a:t>
            </a:r>
            <a:endParaRPr lang="en-US" sz="2800" smtClean="0">
              <a:solidFill>
                <a:schemeClr val="tx1">
                  <a:lumMod val="95000"/>
                  <a:lumOff val="5000"/>
                </a:schemeClr>
              </a:solidFill>
              <a:cs typeface="Arial" charset="0"/>
            </a:endParaRPr>
          </a:p>
          <a:p>
            <a:pPr marL="688975" lvl="3" indent="-403225" eaLnBrk="0" hangingPunct="0">
              <a:spcBef>
                <a:spcPts val="12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/>
            </a:pPr>
            <a:r>
              <a:rPr lang="en-US" sz="2800" smtClean="0">
                <a:solidFill>
                  <a:schemeClr val="tx1">
                    <a:lumMod val="95000"/>
                    <a:lumOff val="5000"/>
                  </a:schemeClr>
                </a:solidFill>
                <a:cs typeface="Arial" charset="0"/>
              </a:rPr>
              <a:t>Common </a:t>
            </a:r>
            <a:r>
              <a:rPr lang="en-US" sz="2800">
                <a:solidFill>
                  <a:schemeClr val="tx1">
                    <a:lumMod val="95000"/>
                    <a:lumOff val="5000"/>
                  </a:schemeClr>
                </a:solidFill>
                <a:cs typeface="Arial" charset="0"/>
              </a:rPr>
              <a:t>data annotation attributes include</a:t>
            </a:r>
            <a:r>
              <a:rPr lang="en-US" sz="2800" smtClean="0">
                <a:solidFill>
                  <a:schemeClr val="tx1">
                    <a:lumMod val="95000"/>
                    <a:lumOff val="5000"/>
                  </a:schemeClr>
                </a:solidFill>
                <a:cs typeface="Arial" charset="0"/>
              </a:rPr>
              <a:t>:</a:t>
            </a:r>
          </a:p>
          <a:p>
            <a:pPr marL="1376363" lvl="4" indent="-344488" eaLnBrk="0" hangingPunct="0">
              <a:spcBef>
                <a:spcPts val="12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/>
            </a:pPr>
            <a:r>
              <a:rPr lang="en-US" sz="2800">
                <a:solidFill>
                  <a:schemeClr val="tx1">
                    <a:lumMod val="95000"/>
                    <a:lumOff val="5000"/>
                  </a:schemeClr>
                </a:solidFill>
                <a:cs typeface="Arial" charset="0"/>
              </a:rPr>
              <a:t>[</a:t>
            </a:r>
            <a:r>
              <a:rPr lang="en-US" sz="2800" smtClean="0">
                <a:solidFill>
                  <a:schemeClr val="tx1">
                    <a:lumMod val="95000"/>
                    <a:lumOff val="5000"/>
                  </a:schemeClr>
                </a:solidFill>
                <a:cs typeface="Arial" charset="0"/>
              </a:rPr>
              <a:t>Required]</a:t>
            </a:r>
          </a:p>
          <a:p>
            <a:pPr marL="1376363" lvl="4" indent="-344488" eaLnBrk="0" hangingPunct="0">
              <a:spcBef>
                <a:spcPts val="12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/>
            </a:pPr>
            <a:r>
              <a:rPr lang="en-US" sz="2800" smtClean="0">
                <a:solidFill>
                  <a:schemeClr val="tx1">
                    <a:lumMod val="95000"/>
                    <a:lumOff val="5000"/>
                  </a:schemeClr>
                </a:solidFill>
                <a:cs typeface="Arial" charset="0"/>
              </a:rPr>
              <a:t>[MaxLength] </a:t>
            </a:r>
            <a:r>
              <a:rPr lang="en-US" sz="2800">
                <a:solidFill>
                  <a:schemeClr val="tx1">
                    <a:lumMod val="95000"/>
                    <a:lumOff val="5000"/>
                  </a:schemeClr>
                </a:solidFill>
                <a:cs typeface="Arial" charset="0"/>
              </a:rPr>
              <a:t>, [StringLength] </a:t>
            </a:r>
            <a:endParaRPr lang="en-US" sz="2800" smtClean="0">
              <a:solidFill>
                <a:schemeClr val="tx1">
                  <a:lumMod val="95000"/>
                  <a:lumOff val="5000"/>
                </a:schemeClr>
              </a:solidFill>
              <a:cs typeface="Arial" charset="0"/>
            </a:endParaRPr>
          </a:p>
          <a:p>
            <a:pPr marL="1376363" lvl="4" indent="-344488" eaLnBrk="0" hangingPunct="0">
              <a:spcBef>
                <a:spcPts val="12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/>
            </a:pPr>
            <a:r>
              <a:rPr lang="en-US" sz="2800" smtClean="0">
                <a:solidFill>
                  <a:schemeClr val="tx1">
                    <a:lumMod val="95000"/>
                    <a:lumOff val="5000"/>
                  </a:schemeClr>
                </a:solidFill>
                <a:cs typeface="Arial" charset="0"/>
              </a:rPr>
              <a:t>[</a:t>
            </a:r>
            <a:r>
              <a:rPr lang="en-US" sz="2800">
                <a:solidFill>
                  <a:schemeClr val="tx1">
                    <a:lumMod val="95000"/>
                    <a:lumOff val="5000"/>
                  </a:schemeClr>
                </a:solidFill>
                <a:cs typeface="Arial" charset="0"/>
              </a:rPr>
              <a:t>Range</a:t>
            </a:r>
            <a:r>
              <a:rPr lang="en-US" sz="2800" smtClean="0">
                <a:solidFill>
                  <a:schemeClr val="tx1">
                    <a:lumMod val="95000"/>
                    <a:lumOff val="5000"/>
                  </a:schemeClr>
                </a:solidFill>
                <a:cs typeface="Arial" charset="0"/>
              </a:rPr>
              <a:t>]</a:t>
            </a:r>
          </a:p>
          <a:p>
            <a:pPr marL="1376363" lvl="4" indent="-344488" eaLnBrk="0" hangingPunct="0">
              <a:spcBef>
                <a:spcPts val="12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/>
            </a:pPr>
            <a:r>
              <a:rPr lang="en-US" sz="2800" smtClean="0">
                <a:solidFill>
                  <a:schemeClr val="tx1">
                    <a:lumMod val="95000"/>
                    <a:lumOff val="5000"/>
                  </a:schemeClr>
                </a:solidFill>
                <a:cs typeface="Arial" charset="0"/>
              </a:rPr>
              <a:t>[</a:t>
            </a:r>
            <a:r>
              <a:rPr lang="en-US" sz="2800">
                <a:solidFill>
                  <a:schemeClr val="tx1">
                    <a:lumMod val="95000"/>
                    <a:lumOff val="5000"/>
                  </a:schemeClr>
                </a:solidFill>
                <a:cs typeface="Arial" charset="0"/>
              </a:rPr>
              <a:t>EmailAddress</a:t>
            </a:r>
            <a:r>
              <a:rPr lang="en-US" sz="2800" smtClean="0">
                <a:solidFill>
                  <a:schemeClr val="tx1">
                    <a:lumMod val="95000"/>
                    <a:lumOff val="5000"/>
                  </a:schemeClr>
                </a:solidFill>
                <a:cs typeface="Arial" charset="0"/>
              </a:rPr>
              <a:t>]</a:t>
            </a:r>
          </a:p>
          <a:p>
            <a:pPr marL="1376363" lvl="4" indent="-344488" eaLnBrk="0" hangingPunct="0">
              <a:spcBef>
                <a:spcPts val="12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/>
            </a:pPr>
            <a:r>
              <a:rPr lang="en-US" sz="2800" smtClean="0">
                <a:solidFill>
                  <a:schemeClr val="tx1">
                    <a:lumMod val="95000"/>
                    <a:lumOff val="5000"/>
                  </a:schemeClr>
                </a:solidFill>
                <a:cs typeface="Arial" charset="0"/>
              </a:rPr>
              <a:t>[</a:t>
            </a:r>
            <a:r>
              <a:rPr lang="en-US" sz="2800">
                <a:solidFill>
                  <a:schemeClr val="tx1">
                    <a:lumMod val="95000"/>
                    <a:lumOff val="5000"/>
                  </a:schemeClr>
                </a:solidFill>
                <a:cs typeface="Arial" charset="0"/>
              </a:rPr>
              <a:t>RegularExpression</a:t>
            </a:r>
            <a:r>
              <a:rPr lang="en-US" sz="2800" smtClean="0">
                <a:solidFill>
                  <a:schemeClr val="tx1">
                    <a:lumMod val="95000"/>
                    <a:lumOff val="5000"/>
                  </a:schemeClr>
                </a:solidFill>
                <a:cs typeface="Arial" charset="0"/>
              </a:rPr>
              <a:t>]</a:t>
            </a:r>
            <a:endParaRPr lang="en-US" sz="2800">
              <a:solidFill>
                <a:schemeClr val="tx1">
                  <a:lumMod val="95000"/>
                  <a:lumOff val="5000"/>
                </a:schemeClr>
              </a:solidFill>
              <a:cs typeface="Arial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767078" y="157005"/>
            <a:ext cx="51667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>
                <a:solidFill>
                  <a:srgbClr val="C00000"/>
                </a:solidFill>
                <a:latin typeface="Cascadia Mono" panose="020B0609020000020004" pitchFamily="49" charset="0"/>
              </a:rPr>
              <a:t>System.ComponentModel.DataAnnotations</a:t>
            </a:r>
            <a:endParaRPr lang="en-GB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8105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EFB70C-2B51-4E7F-BC6C-83BE5B034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57" y="151507"/>
            <a:ext cx="10515600" cy="594995"/>
          </a:xfrm>
        </p:spPr>
        <p:txBody>
          <a:bodyPr/>
          <a:lstStyle/>
          <a:p>
            <a:r>
              <a:rPr lang="en-US" sz="2400" smtClean="0">
                <a:solidFill>
                  <a:srgbClr val="FFFF00"/>
                </a:solidFill>
                <a:cs typeface="Arial" charset="0"/>
              </a:rPr>
              <a:t>2.1.1</a:t>
            </a:r>
            <a:r>
              <a:rPr lang="en-US" sz="2400">
                <a:solidFill>
                  <a:srgbClr val="FFFF00"/>
                </a:solidFill>
                <a:cs typeface="Arial" charset="0"/>
              </a:rPr>
              <a:t>. </a:t>
            </a:r>
            <a:r>
              <a:rPr lang="en-US" sz="2400" smtClean="0">
                <a:solidFill>
                  <a:srgbClr val="FFFF00"/>
                </a:solidFill>
                <a:latin typeface="+mj-lt"/>
                <a:cs typeface="Arial" charset="0"/>
              </a:rPr>
              <a:t>Data </a:t>
            </a:r>
            <a:r>
              <a:rPr lang="en-US" sz="2400">
                <a:solidFill>
                  <a:srgbClr val="FFFF00"/>
                </a:solidFill>
                <a:latin typeface="+mj-lt"/>
                <a:cs typeface="Arial" charset="0"/>
              </a:rPr>
              <a:t>Annotations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B71802-8097-4963-98F3-8C83B1B251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3813" y="6356350"/>
            <a:ext cx="738187" cy="365125"/>
          </a:xfrm>
        </p:spPr>
        <p:txBody>
          <a:bodyPr/>
          <a:lstStyle/>
          <a:p>
            <a:fld id="{C983A250-531C-4018-816F-22C18A3C338C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/>
          </p:nvPr>
        </p:nvGraphicFramePr>
        <p:xfrm>
          <a:off x="631419" y="1010544"/>
          <a:ext cx="11228439" cy="5123556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3216681">
                  <a:extLst>
                    <a:ext uri="{9D8B030D-6E8A-4147-A177-3AD203B41FA5}">
                      <a16:colId xmlns:a16="http://schemas.microsoft.com/office/drawing/2014/main" val="2040595253"/>
                    </a:ext>
                  </a:extLst>
                </a:gridCol>
                <a:gridCol w="8011758">
                  <a:extLst>
                    <a:ext uri="{9D8B030D-6E8A-4147-A177-3AD203B41FA5}">
                      <a16:colId xmlns:a16="http://schemas.microsoft.com/office/drawing/2014/main" val="2354136481"/>
                    </a:ext>
                  </a:extLst>
                </a:gridCol>
              </a:tblGrid>
              <a:tr h="68666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600" b="1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Keyword</a:t>
                      </a:r>
                      <a:endParaRPr lang="en-GB" sz="2600" b="1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pct5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2600" b="1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Validation</a:t>
                      </a:r>
                      <a:endParaRPr lang="en-GB" sz="2600" b="1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pct5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4137413991"/>
                  </a:ext>
                </a:extLst>
              </a:tr>
              <a:tr h="63384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solidFill>
                            <a:srgbClr val="0066CC"/>
                          </a:solidFill>
                          <a:effectLst/>
                        </a:rPr>
                        <a:t>Required</a:t>
                      </a:r>
                      <a:endParaRPr lang="en-GB" sz="2400">
                        <a:solidFill>
                          <a:srgbClr val="0066CC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pct5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GB" sz="2400" smtClean="0">
                          <a:effectLst/>
                        </a:rPr>
                        <a:t>The </a:t>
                      </a:r>
                      <a:r>
                        <a:rPr lang="en-GB" sz="2400">
                          <a:effectLst/>
                        </a:rPr>
                        <a:t>field is not empty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pct5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11985970"/>
                  </a:ext>
                </a:extLst>
              </a:tr>
              <a:tr h="6338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smtClean="0">
                          <a:solidFill>
                            <a:srgbClr val="0066CC"/>
                          </a:solidFill>
                          <a:effectLst/>
                        </a:rPr>
                        <a:t>MaxLength</a:t>
                      </a:r>
                      <a:endParaRPr lang="en-GB" sz="2400" smtClean="0">
                        <a:solidFill>
                          <a:srgbClr val="0066CC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pct5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maximum length for a string field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pct5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606440785"/>
                  </a:ext>
                </a:extLst>
              </a:tr>
              <a:tr h="63384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solidFill>
                            <a:srgbClr val="0066CC"/>
                          </a:solidFill>
                          <a:effectLst/>
                        </a:rPr>
                        <a:t>StringLength</a:t>
                      </a:r>
                      <a:endParaRPr lang="en-GB" sz="2400">
                        <a:solidFill>
                          <a:srgbClr val="0066CC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pct5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GB" sz="2400" smtClean="0">
                          <a:effectLst/>
                        </a:rPr>
                        <a:t>The maximum, MinimumLength </a:t>
                      </a:r>
                      <a:r>
                        <a:rPr lang="en-GB" sz="2400">
                          <a:effectLst/>
                        </a:rPr>
                        <a:t>for a string field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pct5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61654870"/>
                  </a:ext>
                </a:extLst>
              </a:tr>
              <a:tr h="63384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solidFill>
                            <a:srgbClr val="0066CC"/>
                          </a:solidFill>
                          <a:effectLst/>
                        </a:rPr>
                        <a:t>Range</a:t>
                      </a:r>
                      <a:endParaRPr lang="en-GB" sz="2400">
                        <a:solidFill>
                          <a:srgbClr val="0066CC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pct5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GB" sz="2400" smtClean="0">
                          <a:effectLst/>
                        </a:rPr>
                        <a:t>Value </a:t>
                      </a:r>
                      <a:r>
                        <a:rPr lang="en-GB" sz="2400">
                          <a:effectLst/>
                        </a:rPr>
                        <a:t>falls within a specified range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pct5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3763167311"/>
                  </a:ext>
                </a:extLst>
              </a:tr>
              <a:tr h="63384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solidFill>
                            <a:srgbClr val="0066CC"/>
                          </a:solidFill>
                          <a:effectLst/>
                        </a:rPr>
                        <a:t>EmailAddress</a:t>
                      </a:r>
                      <a:endParaRPr lang="en-GB" sz="2400">
                        <a:solidFill>
                          <a:srgbClr val="0066CC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pct5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GB" sz="2400" smtClean="0">
                          <a:effectLst/>
                        </a:rPr>
                        <a:t>The </a:t>
                      </a:r>
                      <a:r>
                        <a:rPr lang="en-GB" sz="2400">
                          <a:effectLst/>
                        </a:rPr>
                        <a:t>input is a valid email address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pct5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915794041"/>
                  </a:ext>
                </a:extLst>
              </a:tr>
              <a:tr h="63384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400" kern="1200" smtClean="0">
                          <a:solidFill>
                            <a:srgbClr val="0066C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DataType</a:t>
                      </a:r>
                      <a:endParaRPr lang="en-GB" sz="2400" kern="1200">
                        <a:solidFill>
                          <a:srgbClr val="0066CC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pct5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2400" smtClean="0">
                          <a:effectLst/>
                        </a:rPr>
                        <a:t>The input is a valid DataType specified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pct5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901921538"/>
                  </a:ext>
                </a:extLst>
              </a:tr>
              <a:tr h="63384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400" b="1">
                          <a:solidFill>
                            <a:srgbClr val="5600AC"/>
                          </a:solidFill>
                          <a:effectLst/>
                        </a:rPr>
                        <a:t>RegularExpression</a:t>
                      </a:r>
                      <a:endParaRPr lang="en-GB" sz="2400" b="1">
                        <a:solidFill>
                          <a:srgbClr val="5600AC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pct5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2400" smtClean="0">
                          <a:solidFill>
                            <a:srgbClr val="410082"/>
                          </a:solidFill>
                          <a:effectLst/>
                        </a:rPr>
                        <a:t>Input matches a regular expression pattern</a:t>
                      </a:r>
                      <a:endParaRPr lang="en-GB" sz="2400">
                        <a:solidFill>
                          <a:srgbClr val="41008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pct5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7608925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2102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871639"/>
              </p:ext>
            </p:extLst>
          </p:nvPr>
        </p:nvGraphicFramePr>
        <p:xfrm>
          <a:off x="477610" y="188951"/>
          <a:ext cx="11280914" cy="649403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554390">
                  <a:extLst>
                    <a:ext uri="{9D8B030D-6E8A-4147-A177-3AD203B41FA5}">
                      <a16:colId xmlns:a16="http://schemas.microsoft.com/office/drawing/2014/main" val="713277526"/>
                    </a:ext>
                  </a:extLst>
                </a:gridCol>
                <a:gridCol w="6614160">
                  <a:extLst>
                    <a:ext uri="{9D8B030D-6E8A-4147-A177-3AD203B41FA5}">
                      <a16:colId xmlns:a16="http://schemas.microsoft.com/office/drawing/2014/main" val="586995845"/>
                    </a:ext>
                  </a:extLst>
                </a:gridCol>
                <a:gridCol w="3112364">
                  <a:extLst>
                    <a:ext uri="{9D8B030D-6E8A-4147-A177-3AD203B41FA5}">
                      <a16:colId xmlns:a16="http://schemas.microsoft.com/office/drawing/2014/main" val="2920798311"/>
                    </a:ext>
                  </a:extLst>
                </a:gridCol>
              </a:tblGrid>
              <a:tr h="456084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Symbol</a:t>
                      </a:r>
                      <a:endParaRPr lang="en-GB" sz="240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Regular Expressions (Regex) Explanation</a:t>
                      </a:r>
                      <a:endParaRPr lang="en-GB" sz="240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 </a:t>
                      </a:r>
                      <a:r>
                        <a:rPr lang="en-GB" sz="240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Notes</a:t>
                      </a:r>
                      <a:endParaRPr lang="en-GB" sz="240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0960271"/>
                  </a:ext>
                </a:extLst>
              </a:tr>
              <a:tr h="40256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>
                          <a:solidFill>
                            <a:srgbClr val="990000"/>
                          </a:solidFill>
                          <a:effectLst/>
                        </a:rPr>
                        <a:t>^</a:t>
                      </a:r>
                      <a:endParaRPr lang="en-GB" sz="2400">
                        <a:solidFill>
                          <a:srgbClr val="99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 Start string character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 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9985231"/>
                  </a:ext>
                </a:extLst>
              </a:tr>
              <a:tr h="40256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>
                          <a:solidFill>
                            <a:srgbClr val="990000"/>
                          </a:solidFill>
                          <a:effectLst/>
                        </a:rPr>
                        <a:t>\d</a:t>
                      </a:r>
                      <a:endParaRPr lang="en-GB" sz="2400">
                        <a:solidFill>
                          <a:srgbClr val="99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Any digit from 0 to 9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 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690364"/>
                  </a:ext>
                </a:extLst>
              </a:tr>
              <a:tr h="40256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>
                          <a:solidFill>
                            <a:srgbClr val="990000"/>
                          </a:solidFill>
                          <a:effectLst/>
                        </a:rPr>
                        <a:t>\w</a:t>
                      </a:r>
                      <a:endParaRPr lang="en-GB" sz="2400">
                        <a:solidFill>
                          <a:srgbClr val="99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Any letter, number or underscore (_)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smtClean="0">
                          <a:solidFill>
                            <a:srgbClr val="C00000"/>
                          </a:solidFill>
                          <a:effectLst/>
                        </a:rPr>
                        <a:t>\W</a:t>
                      </a:r>
                      <a:r>
                        <a:rPr lang="en-GB" sz="2400" smtClean="0">
                          <a:effectLst/>
                        </a:rPr>
                        <a:t> negative of </a:t>
                      </a:r>
                      <a:r>
                        <a:rPr lang="en-GB" sz="2400" smtClean="0">
                          <a:solidFill>
                            <a:srgbClr val="C00000"/>
                          </a:solidFill>
                          <a:effectLst/>
                        </a:rPr>
                        <a:t>\w</a:t>
                      </a:r>
                      <a:r>
                        <a:rPr lang="en-GB" sz="2400">
                          <a:effectLst/>
                        </a:rPr>
                        <a:t> 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27976483"/>
                  </a:ext>
                </a:extLst>
              </a:tr>
              <a:tr h="40256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>
                          <a:solidFill>
                            <a:srgbClr val="990000"/>
                          </a:solidFill>
                          <a:effectLst/>
                        </a:rPr>
                        <a:t>\s</a:t>
                      </a:r>
                      <a:endParaRPr lang="en-GB" sz="2400">
                        <a:solidFill>
                          <a:srgbClr val="99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any white spcace (space, tab, newline) 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 smtClean="0">
                          <a:solidFill>
                            <a:srgbClr val="C00000"/>
                          </a:solidFill>
                          <a:effectLst/>
                        </a:rPr>
                        <a:t>\S</a:t>
                      </a:r>
                      <a:r>
                        <a:rPr lang="en-GB" sz="2400" smtClean="0">
                          <a:effectLst/>
                        </a:rPr>
                        <a:t> negative of</a:t>
                      </a:r>
                      <a:r>
                        <a:rPr lang="en-GB" sz="2400">
                          <a:effectLst/>
                        </a:rPr>
                        <a:t> </a:t>
                      </a:r>
                      <a:r>
                        <a:rPr lang="en-GB" sz="2400" smtClean="0">
                          <a:solidFill>
                            <a:srgbClr val="C00000"/>
                          </a:solidFill>
                          <a:effectLst/>
                        </a:rPr>
                        <a:t>\s</a:t>
                      </a:r>
                      <a:endParaRPr lang="en-GB" sz="240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7148055"/>
                  </a:ext>
                </a:extLst>
              </a:tr>
              <a:tr h="40256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>
                          <a:solidFill>
                            <a:srgbClr val="990000"/>
                          </a:solidFill>
                          <a:effectLst/>
                        </a:rPr>
                        <a:t>$</a:t>
                      </a:r>
                      <a:endParaRPr lang="en-GB" sz="2400">
                        <a:solidFill>
                          <a:srgbClr val="99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Represents the end of a string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 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66156946"/>
                  </a:ext>
                </a:extLst>
              </a:tr>
              <a:tr h="40256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>
                          <a:solidFill>
                            <a:srgbClr val="990000"/>
                          </a:solidFill>
                          <a:effectLst/>
                        </a:rPr>
                        <a:t>?</a:t>
                      </a:r>
                      <a:endParaRPr lang="en-GB" sz="2400">
                        <a:solidFill>
                          <a:srgbClr val="99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0 or 1 any </a:t>
                      </a:r>
                      <a:r>
                        <a:rPr lang="en-GB" sz="2400" smtClean="0">
                          <a:effectLst/>
                        </a:rPr>
                        <a:t>character  before it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 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565454"/>
                  </a:ext>
                </a:extLst>
              </a:tr>
              <a:tr h="40256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>
                          <a:solidFill>
                            <a:srgbClr val="990000"/>
                          </a:solidFill>
                          <a:effectLst/>
                        </a:rPr>
                        <a:t>*</a:t>
                      </a:r>
                      <a:endParaRPr lang="en-GB" sz="2400">
                        <a:solidFill>
                          <a:srgbClr val="99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0 or more any </a:t>
                      </a:r>
                      <a:r>
                        <a:rPr lang="en-GB" sz="2400" smtClean="0">
                          <a:effectLst/>
                        </a:rPr>
                        <a:t>characters  before it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 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40487380"/>
                  </a:ext>
                </a:extLst>
              </a:tr>
              <a:tr h="40256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>
                          <a:solidFill>
                            <a:srgbClr val="990000"/>
                          </a:solidFill>
                          <a:effectLst/>
                        </a:rPr>
                        <a:t>+</a:t>
                      </a:r>
                      <a:endParaRPr lang="en-GB" sz="2400">
                        <a:solidFill>
                          <a:srgbClr val="99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1 or more any </a:t>
                      </a:r>
                      <a:r>
                        <a:rPr lang="en-GB" sz="2400" smtClean="0">
                          <a:effectLst/>
                        </a:rPr>
                        <a:t>characters before it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 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094452"/>
                  </a:ext>
                </a:extLst>
              </a:tr>
              <a:tr h="40256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>
                          <a:solidFill>
                            <a:srgbClr val="990000"/>
                          </a:solidFill>
                          <a:effectLst/>
                        </a:rPr>
                        <a:t>{n}</a:t>
                      </a:r>
                      <a:endParaRPr lang="en-GB" sz="2400">
                        <a:solidFill>
                          <a:srgbClr val="99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Ensure the string length = n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 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2376904"/>
                  </a:ext>
                </a:extLst>
              </a:tr>
              <a:tr h="40256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>
                          <a:solidFill>
                            <a:srgbClr val="990000"/>
                          </a:solidFill>
                          <a:effectLst/>
                        </a:rPr>
                        <a:t>{n,}</a:t>
                      </a:r>
                      <a:endParaRPr lang="en-GB" sz="2400">
                        <a:solidFill>
                          <a:srgbClr val="99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Ensure minimum string length = n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 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7376894"/>
                  </a:ext>
                </a:extLst>
              </a:tr>
              <a:tr h="396837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>
                          <a:solidFill>
                            <a:srgbClr val="990000"/>
                          </a:solidFill>
                          <a:effectLst/>
                        </a:rPr>
                        <a:t>{n,m}</a:t>
                      </a:r>
                      <a:endParaRPr lang="en-GB" sz="2400">
                        <a:solidFill>
                          <a:srgbClr val="99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Ensure string length min = n and max = m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 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34464032"/>
                  </a:ext>
                </a:extLst>
              </a:tr>
              <a:tr h="40256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>
                          <a:solidFill>
                            <a:srgbClr val="990000"/>
                          </a:solidFill>
                          <a:effectLst/>
                        </a:rPr>
                        <a:t>[ ]</a:t>
                      </a:r>
                      <a:endParaRPr lang="en-GB" sz="2400">
                        <a:solidFill>
                          <a:srgbClr val="99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Set of characters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[abc]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04320"/>
                  </a:ext>
                </a:extLst>
              </a:tr>
              <a:tr h="40256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 smtClean="0">
                          <a:solidFill>
                            <a:srgbClr val="990000"/>
                          </a:solidFill>
                          <a:effectLst/>
                        </a:rPr>
                        <a:t>[^ ]</a:t>
                      </a:r>
                      <a:endParaRPr lang="en-GB" sz="2400">
                        <a:solidFill>
                          <a:srgbClr val="99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Negation of a set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[^xyz]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3339001"/>
                  </a:ext>
                </a:extLst>
              </a:tr>
              <a:tr h="40256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 smtClean="0">
                          <a:solidFill>
                            <a:srgbClr val="990000"/>
                          </a:solidFill>
                          <a:effectLst/>
                        </a:rPr>
                        <a:t>( )</a:t>
                      </a:r>
                      <a:endParaRPr lang="en-GB" sz="2400">
                        <a:solidFill>
                          <a:srgbClr val="99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Group characters together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([a-z]) or (abc)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084963"/>
                  </a:ext>
                </a:extLst>
              </a:tr>
              <a:tr h="384176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>
                          <a:solidFill>
                            <a:srgbClr val="990000"/>
                          </a:solidFill>
                          <a:effectLst/>
                        </a:rPr>
                        <a:t>(?=.*[ ])</a:t>
                      </a:r>
                      <a:endParaRPr lang="en-GB" sz="2400">
                        <a:solidFill>
                          <a:srgbClr val="99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Must at least one </a:t>
                      </a:r>
                      <a:r>
                        <a:rPr lang="en-GB" sz="2400">
                          <a:effectLst/>
                        </a:rPr>
                        <a:t>character in [ ]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(?=.*[a-z])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778" marR="11277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16856768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B71802-8097-4963-98F3-8C83B1B25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513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2.1.1. </a:t>
            </a:r>
            <a:r>
              <a:rPr lang="en-US"/>
              <a:t>Input Validation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644" y="666602"/>
            <a:ext cx="11995354" cy="586627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smtClean="0">
                <a:solidFill>
                  <a:srgbClr val="0000FF"/>
                </a:solidFill>
              </a:rPr>
              <a:t>public class </a:t>
            </a:r>
            <a:r>
              <a:rPr lang="en-US" sz="1800" smtClean="0"/>
              <a:t>Acount </a:t>
            </a: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sz="1800" smtClean="0"/>
              <a:t> {</a:t>
            </a:r>
            <a:endParaRPr lang="en-GB" sz="1800" smtClean="0"/>
          </a:p>
          <a:p>
            <a:pPr marL="461963">
              <a:lnSpc>
                <a:spcPct val="100000"/>
              </a:lnSpc>
              <a:spcBef>
                <a:spcPts val="0"/>
              </a:spcBef>
            </a:pPr>
            <a:r>
              <a:rPr lang="en-GB" sz="2000" smtClean="0"/>
              <a:t>[</a:t>
            </a:r>
            <a:r>
              <a:rPr lang="en-GB" sz="2000">
                <a:solidFill>
                  <a:srgbClr val="0099CC"/>
                </a:solidFill>
              </a:rPr>
              <a:t>Required</a:t>
            </a:r>
            <a:r>
              <a:rPr lang="en-GB" sz="2000"/>
              <a:t>(ErrorMessage = </a:t>
            </a:r>
            <a:r>
              <a:rPr lang="en-GB" sz="2000" smtClean="0"/>
              <a:t>"*")]</a:t>
            </a:r>
            <a:endParaRPr lang="en-US" sz="2000"/>
          </a:p>
          <a:p>
            <a:pPr marL="461963">
              <a:lnSpc>
                <a:spcPct val="100000"/>
              </a:lnSpc>
              <a:spcBef>
                <a:spcPts val="600"/>
              </a:spcBef>
            </a:pPr>
            <a:r>
              <a:rPr lang="vi-VN" sz="2000" smtClean="0"/>
              <a:t>[</a:t>
            </a:r>
            <a:r>
              <a:rPr lang="vi-VN" sz="2000">
                <a:solidFill>
                  <a:srgbClr val="0099CC"/>
                </a:solidFill>
              </a:rPr>
              <a:t>RegularExpression</a:t>
            </a:r>
            <a:r>
              <a:rPr lang="vi-VN" sz="2000"/>
              <a:t>(@"^[a-zA-Z0-9_]{</a:t>
            </a:r>
            <a:r>
              <a:rPr lang="vi-VN" sz="2000" smtClean="0"/>
              <a:t>3,</a:t>
            </a:r>
            <a:r>
              <a:rPr lang="en-US" sz="2000" smtClean="0"/>
              <a:t>10</a:t>
            </a:r>
            <a:r>
              <a:rPr lang="vi-VN" sz="2000" smtClean="0"/>
              <a:t>}$", </a:t>
            </a:r>
            <a:r>
              <a:rPr lang="vi-VN" sz="2000"/>
              <a:t>ErrorMessage = "</a:t>
            </a:r>
            <a:r>
              <a:rPr lang="en-US" sz="2000" smtClean="0"/>
              <a:t>**</a:t>
            </a:r>
            <a:r>
              <a:rPr lang="vi-VN" sz="2000" smtClean="0"/>
              <a:t>")]</a:t>
            </a:r>
            <a:endParaRPr lang="vi-VN" sz="2000"/>
          </a:p>
          <a:p>
            <a:pPr marL="461963">
              <a:lnSpc>
                <a:spcPct val="100000"/>
              </a:lnSpc>
              <a:spcBef>
                <a:spcPts val="600"/>
              </a:spcBef>
            </a:pPr>
            <a:r>
              <a:rPr lang="vi-VN" sz="2000">
                <a:solidFill>
                  <a:srgbClr val="0000FF"/>
                </a:solidFill>
              </a:rPr>
              <a:t>public</a:t>
            </a:r>
            <a:r>
              <a:rPr lang="vi-VN" sz="2000"/>
              <a:t> </a:t>
            </a:r>
            <a:r>
              <a:rPr lang="vi-VN" sz="2000">
                <a:solidFill>
                  <a:srgbClr val="0000FF"/>
                </a:solidFill>
              </a:rPr>
              <a:t>string</a:t>
            </a:r>
            <a:r>
              <a:rPr lang="vi-VN" sz="2000"/>
              <a:t> </a:t>
            </a:r>
            <a:r>
              <a:rPr lang="vi-VN" sz="2000" smtClean="0">
                <a:solidFill>
                  <a:srgbClr val="C00000"/>
                </a:solidFill>
              </a:rPr>
              <a:t>userName</a:t>
            </a:r>
            <a:r>
              <a:rPr lang="vi-VN" sz="2000" smtClean="0"/>
              <a:t> </a:t>
            </a:r>
            <a:r>
              <a:rPr lang="vi-VN" sz="2000"/>
              <a:t>{ </a:t>
            </a:r>
            <a:r>
              <a:rPr lang="vi-VN" sz="2000">
                <a:solidFill>
                  <a:srgbClr val="0000FF"/>
                </a:solidFill>
              </a:rPr>
              <a:t>get</a:t>
            </a:r>
            <a:r>
              <a:rPr lang="vi-VN" sz="2000"/>
              <a:t>; </a:t>
            </a:r>
            <a:r>
              <a:rPr lang="vi-VN" sz="2000">
                <a:solidFill>
                  <a:srgbClr val="0000FF"/>
                </a:solidFill>
              </a:rPr>
              <a:t>set</a:t>
            </a:r>
            <a:r>
              <a:rPr lang="vi-VN" sz="2000"/>
              <a:t>; </a:t>
            </a:r>
            <a:r>
              <a:rPr lang="vi-VN" sz="2000" smtClean="0"/>
              <a:t>}</a:t>
            </a:r>
            <a:endParaRPr lang="en-US" sz="2000" smtClean="0"/>
          </a:p>
          <a:p>
            <a:pPr marL="461963">
              <a:lnSpc>
                <a:spcPct val="100000"/>
              </a:lnSpc>
              <a:spcBef>
                <a:spcPts val="0"/>
              </a:spcBef>
            </a:pPr>
            <a:endParaRPr lang="en-US" sz="1800" smtClean="0"/>
          </a:p>
          <a:p>
            <a:pPr marL="461963">
              <a:lnSpc>
                <a:spcPct val="100000"/>
              </a:lnSpc>
              <a:spcBef>
                <a:spcPts val="600"/>
              </a:spcBef>
            </a:pPr>
            <a:r>
              <a:rPr lang="en-GB" sz="2000"/>
              <a:t>[</a:t>
            </a:r>
            <a:r>
              <a:rPr lang="en-GB" sz="2000">
                <a:solidFill>
                  <a:srgbClr val="0099CC"/>
                </a:solidFill>
              </a:rPr>
              <a:t>Required</a:t>
            </a:r>
            <a:r>
              <a:rPr lang="en-GB" sz="2000"/>
              <a:t>(ErrorMessage = "*")]</a:t>
            </a:r>
            <a:r>
              <a:rPr lang="en-US" sz="2000"/>
              <a:t/>
            </a:r>
            <a:br>
              <a:rPr lang="en-US" sz="2000"/>
            </a:br>
            <a:r>
              <a:rPr lang="vi-VN" sz="2000"/>
              <a:t>[</a:t>
            </a:r>
            <a:r>
              <a:rPr lang="vi-VN" sz="2000">
                <a:solidFill>
                  <a:srgbClr val="0099CC"/>
                </a:solidFill>
              </a:rPr>
              <a:t>RegularExpression</a:t>
            </a:r>
            <a:r>
              <a:rPr lang="vi-VN" sz="2000" smtClean="0"/>
              <a:t>(@"^</a:t>
            </a:r>
            <a:r>
              <a:rPr lang="en-US" sz="2000" smtClean="0"/>
              <a:t>\d</a:t>
            </a:r>
            <a:r>
              <a:rPr lang="vi-VN" sz="2000" smtClean="0"/>
              <a:t>[</a:t>
            </a:r>
            <a:r>
              <a:rPr lang="en-US" sz="2000" smtClean="0"/>
              <a:t>10</a:t>
            </a:r>
            <a:r>
              <a:rPr lang="vi-VN" sz="2000"/>
              <a:t>}$", ErrorMessage = "</a:t>
            </a:r>
            <a:r>
              <a:rPr lang="en-US" sz="2000"/>
              <a:t>**</a:t>
            </a:r>
            <a:r>
              <a:rPr lang="vi-VN" sz="2000"/>
              <a:t>")]</a:t>
            </a:r>
          </a:p>
          <a:p>
            <a:pPr marL="461963">
              <a:lnSpc>
                <a:spcPct val="100000"/>
              </a:lnSpc>
              <a:spcBef>
                <a:spcPts val="600"/>
              </a:spcBef>
            </a:pPr>
            <a:r>
              <a:rPr lang="vi-VN" sz="2000">
                <a:solidFill>
                  <a:srgbClr val="0000FF"/>
                </a:solidFill>
              </a:rPr>
              <a:t>public</a:t>
            </a:r>
            <a:r>
              <a:rPr lang="vi-VN" sz="2000"/>
              <a:t> </a:t>
            </a:r>
            <a:r>
              <a:rPr lang="vi-VN" sz="2000">
                <a:solidFill>
                  <a:srgbClr val="0000FF"/>
                </a:solidFill>
              </a:rPr>
              <a:t>string</a:t>
            </a:r>
            <a:r>
              <a:rPr lang="vi-VN" sz="2000"/>
              <a:t> </a:t>
            </a:r>
            <a:r>
              <a:rPr lang="en-US" sz="2000" smtClean="0">
                <a:solidFill>
                  <a:srgbClr val="C00000"/>
                </a:solidFill>
              </a:rPr>
              <a:t>phone</a:t>
            </a:r>
            <a:r>
              <a:rPr lang="vi-VN" sz="2000" smtClean="0"/>
              <a:t> </a:t>
            </a:r>
            <a:r>
              <a:rPr lang="vi-VN" sz="2000"/>
              <a:t>{ </a:t>
            </a:r>
            <a:r>
              <a:rPr lang="vi-VN" sz="2000">
                <a:solidFill>
                  <a:srgbClr val="0000FF"/>
                </a:solidFill>
              </a:rPr>
              <a:t>get</a:t>
            </a:r>
            <a:r>
              <a:rPr lang="vi-VN" sz="2000"/>
              <a:t>; </a:t>
            </a:r>
            <a:r>
              <a:rPr lang="vi-VN" sz="2000">
                <a:solidFill>
                  <a:srgbClr val="0000FF"/>
                </a:solidFill>
              </a:rPr>
              <a:t>set</a:t>
            </a:r>
            <a:r>
              <a:rPr lang="vi-VN" sz="2000"/>
              <a:t>; </a:t>
            </a:r>
            <a:r>
              <a:rPr lang="vi-VN" sz="2000" smtClean="0"/>
              <a:t>}</a:t>
            </a:r>
            <a:endParaRPr lang="en-US" sz="2000" smtClean="0"/>
          </a:p>
          <a:p>
            <a:pPr marL="461963">
              <a:lnSpc>
                <a:spcPct val="100000"/>
              </a:lnSpc>
              <a:spcBef>
                <a:spcPts val="0"/>
              </a:spcBef>
            </a:pPr>
            <a:endParaRPr lang="en-US" sz="1800" smtClean="0"/>
          </a:p>
          <a:p>
            <a:pPr marL="461963">
              <a:lnSpc>
                <a:spcPct val="100000"/>
              </a:lnSpc>
              <a:spcBef>
                <a:spcPts val="600"/>
              </a:spcBef>
            </a:pPr>
            <a:r>
              <a:rPr lang="en-GB" sz="2000"/>
              <a:t>[</a:t>
            </a:r>
            <a:r>
              <a:rPr lang="en-GB" sz="2000">
                <a:solidFill>
                  <a:srgbClr val="0099CC"/>
                </a:solidFill>
              </a:rPr>
              <a:t>Required</a:t>
            </a:r>
            <a:r>
              <a:rPr lang="en-GB" sz="2000"/>
              <a:t>(ErrorMessage = "*")]</a:t>
            </a:r>
            <a:r>
              <a:rPr lang="en-US" sz="2000"/>
              <a:t/>
            </a:r>
            <a:br>
              <a:rPr lang="en-US" sz="2000"/>
            </a:br>
            <a:r>
              <a:rPr lang="vi-VN" sz="2000" smtClean="0"/>
              <a:t>[</a:t>
            </a:r>
            <a:r>
              <a:rPr lang="vi-VN" sz="2000" smtClean="0">
                <a:solidFill>
                  <a:srgbClr val="0099CC"/>
                </a:solidFill>
              </a:rPr>
              <a:t>EmailAddress</a:t>
            </a:r>
            <a:r>
              <a:rPr lang="vi-VN" sz="2000" smtClean="0"/>
              <a:t>(ErrorMessage </a:t>
            </a:r>
            <a:r>
              <a:rPr lang="vi-VN" sz="2000"/>
              <a:t>= "</a:t>
            </a:r>
            <a:r>
              <a:rPr lang="en-US" sz="2000"/>
              <a:t>**</a:t>
            </a:r>
            <a:r>
              <a:rPr lang="vi-VN" sz="2000"/>
              <a:t>")]</a:t>
            </a:r>
          </a:p>
          <a:p>
            <a:pPr marL="461963">
              <a:lnSpc>
                <a:spcPct val="100000"/>
              </a:lnSpc>
              <a:spcBef>
                <a:spcPts val="600"/>
              </a:spcBef>
            </a:pPr>
            <a:r>
              <a:rPr lang="vi-VN" sz="2000">
                <a:solidFill>
                  <a:srgbClr val="0000FF"/>
                </a:solidFill>
              </a:rPr>
              <a:t>public</a:t>
            </a:r>
            <a:r>
              <a:rPr lang="vi-VN" sz="2000"/>
              <a:t> </a:t>
            </a:r>
            <a:r>
              <a:rPr lang="vi-VN" sz="2000">
                <a:solidFill>
                  <a:srgbClr val="0000FF"/>
                </a:solidFill>
              </a:rPr>
              <a:t>string</a:t>
            </a:r>
            <a:r>
              <a:rPr lang="vi-VN" sz="2000"/>
              <a:t> </a:t>
            </a:r>
            <a:r>
              <a:rPr lang="en-US" sz="2000" smtClean="0">
                <a:solidFill>
                  <a:srgbClr val="C00000"/>
                </a:solidFill>
              </a:rPr>
              <a:t>email </a:t>
            </a:r>
            <a:r>
              <a:rPr lang="vi-VN" sz="2000" smtClean="0"/>
              <a:t>{ </a:t>
            </a:r>
            <a:r>
              <a:rPr lang="vi-VN" sz="2000">
                <a:solidFill>
                  <a:srgbClr val="0000FF"/>
                </a:solidFill>
              </a:rPr>
              <a:t>get</a:t>
            </a:r>
            <a:r>
              <a:rPr lang="vi-VN" sz="2000"/>
              <a:t>; </a:t>
            </a:r>
            <a:r>
              <a:rPr lang="vi-VN" sz="2000">
                <a:solidFill>
                  <a:srgbClr val="0000FF"/>
                </a:solidFill>
              </a:rPr>
              <a:t>set</a:t>
            </a:r>
            <a:r>
              <a:rPr lang="vi-VN" sz="2000"/>
              <a:t>; </a:t>
            </a:r>
            <a:r>
              <a:rPr lang="vi-VN" sz="2000" smtClean="0"/>
              <a:t>}</a:t>
            </a:r>
            <a:endParaRPr lang="en-US" sz="2000" smtClean="0"/>
          </a:p>
          <a:p>
            <a:pPr marL="461963">
              <a:lnSpc>
                <a:spcPct val="100000"/>
              </a:lnSpc>
              <a:spcBef>
                <a:spcPts val="0"/>
              </a:spcBef>
            </a:pPr>
            <a:endParaRPr lang="en-US" sz="1800" smtClean="0"/>
          </a:p>
          <a:p>
            <a:pPr marL="461963">
              <a:lnSpc>
                <a:spcPct val="120000"/>
              </a:lnSpc>
              <a:spcBef>
                <a:spcPts val="0"/>
              </a:spcBef>
            </a:pPr>
            <a:r>
              <a:rPr lang="en-GB" sz="2000">
                <a:solidFill>
                  <a:srgbClr val="0099CC"/>
                </a:solidFill>
              </a:rPr>
              <a:t>Required</a:t>
            </a:r>
            <a:r>
              <a:rPr lang="en-GB" sz="2000"/>
              <a:t>(ErrorMessage = "*")]</a:t>
            </a:r>
            <a:r>
              <a:rPr lang="en-US" sz="2000"/>
              <a:t/>
            </a:r>
            <a:br>
              <a:rPr lang="en-US" sz="2000"/>
            </a:br>
            <a:r>
              <a:rPr lang="en-US" sz="2000"/>
              <a:t>[</a:t>
            </a:r>
            <a:r>
              <a:rPr lang="en-US" sz="2000">
                <a:solidFill>
                  <a:srgbClr val="0099CC"/>
                </a:solidFill>
              </a:rPr>
              <a:t>RegularExpression</a:t>
            </a:r>
            <a:r>
              <a:rPr lang="en-US" sz="2000"/>
              <a:t>(@"^</a:t>
            </a:r>
            <a:r>
              <a:rPr lang="en-US" sz="2000">
                <a:solidFill>
                  <a:srgbClr val="C00000"/>
                </a:solidFill>
              </a:rPr>
              <a:t>(?=.*[a-z]) </a:t>
            </a:r>
            <a:r>
              <a:rPr lang="en-US" sz="2000">
                <a:solidFill>
                  <a:srgbClr val="0000FF"/>
                </a:solidFill>
              </a:rPr>
              <a:t>(?=.*[A-Z])</a:t>
            </a:r>
            <a:r>
              <a:rPr lang="en-US" sz="2000"/>
              <a:t> </a:t>
            </a:r>
            <a:r>
              <a:rPr lang="en-US" sz="2000">
                <a:solidFill>
                  <a:srgbClr val="C00000"/>
                </a:solidFill>
              </a:rPr>
              <a:t>(?=.*\d)</a:t>
            </a:r>
            <a:r>
              <a:rPr lang="en-US" sz="2000"/>
              <a:t> </a:t>
            </a:r>
            <a:r>
              <a:rPr lang="en-US" sz="2000">
                <a:solidFill>
                  <a:srgbClr val="0000FF"/>
                </a:solidFill>
              </a:rPr>
              <a:t>(?=.*[\</a:t>
            </a:r>
            <a:r>
              <a:rPr lang="en-US" sz="2000" smtClean="0">
                <a:solidFill>
                  <a:srgbClr val="0000FF"/>
                </a:solidFill>
              </a:rPr>
              <a:t>W])</a:t>
            </a:r>
            <a:r>
              <a:rPr lang="en-US" sz="2000" smtClean="0"/>
              <a:t> </a:t>
            </a:r>
            <a:r>
              <a:rPr lang="en-US" sz="2000" smtClean="0">
                <a:solidFill>
                  <a:srgbClr val="0000FF"/>
                </a:solidFill>
              </a:rPr>
              <a:t>[\</a:t>
            </a:r>
            <a:r>
              <a:rPr lang="en-US" sz="2000">
                <a:solidFill>
                  <a:srgbClr val="0000FF"/>
                </a:solidFill>
              </a:rPr>
              <a:t>S]{8,}$</a:t>
            </a:r>
            <a:r>
              <a:rPr lang="en-US" sz="2000"/>
              <a:t>", ErrorMessage = “*")]</a:t>
            </a:r>
          </a:p>
          <a:p>
            <a:pPr marL="461963">
              <a:lnSpc>
                <a:spcPct val="120000"/>
              </a:lnSpc>
              <a:spcBef>
                <a:spcPts val="0"/>
              </a:spcBef>
            </a:pPr>
            <a:r>
              <a:rPr lang="en-US" sz="2000">
                <a:solidFill>
                  <a:srgbClr val="0000FF"/>
                </a:solidFill>
              </a:rPr>
              <a:t>public</a:t>
            </a:r>
            <a:r>
              <a:rPr lang="en-US" sz="2000"/>
              <a:t> string </a:t>
            </a:r>
            <a:r>
              <a:rPr lang="en-US" sz="2000">
                <a:solidFill>
                  <a:srgbClr val="C00000"/>
                </a:solidFill>
              </a:rPr>
              <a:t>password</a:t>
            </a:r>
            <a:r>
              <a:rPr lang="en-US" sz="2000"/>
              <a:t> { get; set; </a:t>
            </a:r>
            <a:r>
              <a:rPr lang="en-US" sz="2000" smtClean="0"/>
              <a:t>}</a:t>
            </a: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sz="1800"/>
              <a:t>}</a:t>
            </a:r>
            <a:endParaRPr lang="en-US" sz="1800" smtClean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smtClean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smtClean="0"/>
          </a:p>
        </p:txBody>
      </p:sp>
    </p:spTree>
    <p:extLst>
      <p:ext uri="{BB962C8B-B14F-4D97-AF65-F5344CB8AC3E}">
        <p14:creationId xmlns:p14="http://schemas.microsoft.com/office/powerpoint/2010/main" val="1105024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2.1.1. </a:t>
            </a:r>
            <a:r>
              <a:rPr lang="en-US"/>
              <a:t>Input Validation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9764" y="900282"/>
            <a:ext cx="11463756" cy="562997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smtClean="0">
                <a:solidFill>
                  <a:srgbClr val="0000FF"/>
                </a:solidFill>
              </a:rPr>
              <a:t>public class </a:t>
            </a:r>
            <a:r>
              <a:rPr lang="en-US" sz="2000" smtClean="0">
                <a:solidFill>
                  <a:srgbClr val="00B0F0"/>
                </a:solidFill>
              </a:rPr>
              <a:t>LoginModel</a:t>
            </a:r>
            <a:endParaRPr lang="en-US" sz="2000" smtClean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smtClean="0"/>
              <a:t> {</a:t>
            </a:r>
            <a:endParaRPr lang="en-GB" sz="2000" smtClean="0"/>
          </a:p>
          <a:p>
            <a:pPr marL="461963">
              <a:lnSpc>
                <a:spcPct val="150000"/>
              </a:lnSpc>
              <a:spcBef>
                <a:spcPts val="0"/>
              </a:spcBef>
            </a:pPr>
            <a:r>
              <a:rPr lang="en-GB" sz="2000" smtClean="0"/>
              <a:t>[</a:t>
            </a:r>
            <a:r>
              <a:rPr lang="en-GB" sz="2000">
                <a:solidFill>
                  <a:srgbClr val="0099CC"/>
                </a:solidFill>
              </a:rPr>
              <a:t>Required</a:t>
            </a:r>
            <a:r>
              <a:rPr lang="en-GB" sz="2000"/>
              <a:t>(ErrorMessage = "</a:t>
            </a:r>
            <a:r>
              <a:rPr lang="en-GB" sz="2000" smtClean="0"/>
              <a:t>*")]</a:t>
            </a:r>
            <a:r>
              <a:rPr lang="en-US" sz="2000" smtClean="0"/>
              <a:t/>
            </a:r>
            <a:br>
              <a:rPr lang="en-US" sz="2000" smtClean="0"/>
            </a:br>
            <a:r>
              <a:rPr lang="vi-VN" sz="2000" smtClean="0"/>
              <a:t>[</a:t>
            </a:r>
            <a:r>
              <a:rPr lang="vi-VN" sz="2000">
                <a:solidFill>
                  <a:srgbClr val="0099CC"/>
                </a:solidFill>
              </a:rPr>
              <a:t>RegularExpression</a:t>
            </a:r>
            <a:r>
              <a:rPr lang="vi-VN" sz="2000"/>
              <a:t>(@"^[a-zA-Z0-9_]{</a:t>
            </a:r>
            <a:r>
              <a:rPr lang="vi-VN" sz="2000" smtClean="0"/>
              <a:t>3,</a:t>
            </a:r>
            <a:r>
              <a:rPr lang="en-US" sz="2000" smtClean="0"/>
              <a:t>10</a:t>
            </a:r>
            <a:r>
              <a:rPr lang="vi-VN" sz="2000" smtClean="0"/>
              <a:t>}$", </a:t>
            </a:r>
            <a:r>
              <a:rPr lang="vi-VN" sz="2000"/>
              <a:t>ErrorMessage = "</a:t>
            </a:r>
            <a:r>
              <a:rPr lang="en-US" sz="2000" smtClean="0"/>
              <a:t>**</a:t>
            </a:r>
            <a:r>
              <a:rPr lang="vi-VN" sz="2000" smtClean="0"/>
              <a:t>")]</a:t>
            </a:r>
            <a:endParaRPr lang="vi-VN" sz="2000"/>
          </a:p>
          <a:p>
            <a:pPr marL="461963">
              <a:lnSpc>
                <a:spcPct val="150000"/>
              </a:lnSpc>
              <a:spcBef>
                <a:spcPts val="0"/>
              </a:spcBef>
            </a:pPr>
            <a:r>
              <a:rPr lang="vi-VN" sz="2000">
                <a:solidFill>
                  <a:srgbClr val="0000FF"/>
                </a:solidFill>
              </a:rPr>
              <a:t>public</a:t>
            </a:r>
            <a:r>
              <a:rPr lang="vi-VN" sz="2000"/>
              <a:t> </a:t>
            </a:r>
            <a:r>
              <a:rPr lang="vi-VN" sz="2000">
                <a:solidFill>
                  <a:srgbClr val="0000FF"/>
                </a:solidFill>
              </a:rPr>
              <a:t>string</a:t>
            </a:r>
            <a:r>
              <a:rPr lang="vi-VN" sz="2000"/>
              <a:t> </a:t>
            </a:r>
            <a:r>
              <a:rPr lang="vi-VN" sz="2000" smtClean="0">
                <a:solidFill>
                  <a:srgbClr val="C00000"/>
                </a:solidFill>
              </a:rPr>
              <a:t>userName</a:t>
            </a:r>
            <a:r>
              <a:rPr lang="vi-VN" sz="2000" smtClean="0"/>
              <a:t> </a:t>
            </a:r>
            <a:r>
              <a:rPr lang="vi-VN" sz="2000"/>
              <a:t>{ </a:t>
            </a:r>
            <a:r>
              <a:rPr lang="vi-VN" sz="2000">
                <a:solidFill>
                  <a:srgbClr val="0000FF"/>
                </a:solidFill>
              </a:rPr>
              <a:t>get</a:t>
            </a:r>
            <a:r>
              <a:rPr lang="vi-VN" sz="2000"/>
              <a:t>; </a:t>
            </a:r>
            <a:r>
              <a:rPr lang="vi-VN" sz="2000">
                <a:solidFill>
                  <a:srgbClr val="0000FF"/>
                </a:solidFill>
              </a:rPr>
              <a:t>set</a:t>
            </a:r>
            <a:r>
              <a:rPr lang="vi-VN" sz="2000"/>
              <a:t>; </a:t>
            </a:r>
            <a:r>
              <a:rPr lang="vi-VN" sz="2000" smtClean="0"/>
              <a:t>}</a:t>
            </a:r>
            <a:endParaRPr lang="en-US" sz="2000" smtClean="0"/>
          </a:p>
          <a:p>
            <a:pPr marL="461963">
              <a:lnSpc>
                <a:spcPct val="150000"/>
              </a:lnSpc>
              <a:spcBef>
                <a:spcPts val="0"/>
              </a:spcBef>
            </a:pPr>
            <a:endParaRPr lang="en-US" sz="2000" smtClean="0"/>
          </a:p>
          <a:p>
            <a:pPr marL="461963">
              <a:lnSpc>
                <a:spcPct val="150000"/>
              </a:lnSpc>
              <a:spcBef>
                <a:spcPts val="0"/>
              </a:spcBef>
            </a:pPr>
            <a:r>
              <a:rPr lang="en-GB" sz="2000">
                <a:solidFill>
                  <a:srgbClr val="0099CC"/>
                </a:solidFill>
              </a:rPr>
              <a:t>Required</a:t>
            </a:r>
            <a:r>
              <a:rPr lang="en-GB" sz="2000"/>
              <a:t>(ErrorMessage = "*")]</a:t>
            </a:r>
            <a:r>
              <a:rPr lang="en-US" sz="2000"/>
              <a:t/>
            </a:r>
            <a:br>
              <a:rPr lang="en-US" sz="2000"/>
            </a:br>
            <a:r>
              <a:rPr lang="en-US" sz="2000"/>
              <a:t>[</a:t>
            </a:r>
            <a:r>
              <a:rPr lang="en-US" sz="2000">
                <a:solidFill>
                  <a:srgbClr val="0099CC"/>
                </a:solidFill>
              </a:rPr>
              <a:t>RegularExpression</a:t>
            </a:r>
            <a:r>
              <a:rPr lang="en-US" sz="2000"/>
              <a:t>(@"^</a:t>
            </a:r>
            <a:r>
              <a:rPr lang="en-US" sz="2000">
                <a:solidFill>
                  <a:srgbClr val="C00000"/>
                </a:solidFill>
              </a:rPr>
              <a:t>(?=.*[a-z]) </a:t>
            </a:r>
            <a:r>
              <a:rPr lang="en-US" sz="2000">
                <a:solidFill>
                  <a:srgbClr val="0000FF"/>
                </a:solidFill>
              </a:rPr>
              <a:t>(?=.*[A-Z])</a:t>
            </a:r>
            <a:r>
              <a:rPr lang="en-US" sz="2000"/>
              <a:t> </a:t>
            </a:r>
            <a:r>
              <a:rPr lang="en-US" sz="2000">
                <a:solidFill>
                  <a:srgbClr val="C00000"/>
                </a:solidFill>
              </a:rPr>
              <a:t>(?=.*\d)</a:t>
            </a:r>
            <a:r>
              <a:rPr lang="en-US" sz="2000"/>
              <a:t> </a:t>
            </a:r>
            <a:r>
              <a:rPr lang="en-US" sz="2000">
                <a:solidFill>
                  <a:srgbClr val="0000FF"/>
                </a:solidFill>
              </a:rPr>
              <a:t>(?=.*[\</a:t>
            </a:r>
            <a:r>
              <a:rPr lang="en-US" sz="2000" smtClean="0">
                <a:solidFill>
                  <a:srgbClr val="0000FF"/>
                </a:solidFill>
              </a:rPr>
              <a:t>W])</a:t>
            </a:r>
            <a:r>
              <a:rPr lang="en-US" sz="2000" smtClean="0"/>
              <a:t> </a:t>
            </a:r>
            <a:r>
              <a:rPr lang="en-US" sz="2000" smtClean="0">
                <a:solidFill>
                  <a:srgbClr val="0000FF"/>
                </a:solidFill>
              </a:rPr>
              <a:t>[\</a:t>
            </a:r>
            <a:r>
              <a:rPr lang="en-US" sz="2000">
                <a:solidFill>
                  <a:srgbClr val="0000FF"/>
                </a:solidFill>
              </a:rPr>
              <a:t>S]{8,}$</a:t>
            </a:r>
            <a:r>
              <a:rPr lang="en-US" sz="2000"/>
              <a:t>", ErrorMessage = “*")]</a:t>
            </a:r>
          </a:p>
          <a:p>
            <a:pPr marL="461963">
              <a:lnSpc>
                <a:spcPct val="150000"/>
              </a:lnSpc>
              <a:spcBef>
                <a:spcPts val="0"/>
              </a:spcBef>
            </a:pPr>
            <a:r>
              <a:rPr lang="en-US" sz="2000"/>
              <a:t>public string </a:t>
            </a:r>
            <a:r>
              <a:rPr lang="en-US" sz="2000">
                <a:solidFill>
                  <a:srgbClr val="C00000"/>
                </a:solidFill>
              </a:rPr>
              <a:t>password</a:t>
            </a:r>
            <a:r>
              <a:rPr lang="en-US" sz="2000"/>
              <a:t> { get; set; </a:t>
            </a:r>
            <a:r>
              <a:rPr lang="en-US" sz="2000" smtClean="0"/>
              <a:t>}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/>
              <a:t>}</a:t>
            </a:r>
            <a:endParaRPr lang="en-US" sz="2000" smtClean="0"/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sz="2000"/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sz="2000" smtClean="0"/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sz="2000" smtClean="0"/>
          </a:p>
        </p:txBody>
      </p:sp>
    </p:spTree>
    <p:extLst>
      <p:ext uri="{BB962C8B-B14F-4D97-AF65-F5344CB8AC3E}">
        <p14:creationId xmlns:p14="http://schemas.microsoft.com/office/powerpoint/2010/main" val="2597019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47099" y="122011"/>
            <a:ext cx="5518205" cy="594995"/>
          </a:xfrm>
        </p:spPr>
        <p:txBody>
          <a:bodyPr>
            <a:normAutofit/>
          </a:bodyPr>
          <a:lstStyle/>
          <a:p>
            <a:r>
              <a:rPr lang="en-US" smtClean="0"/>
              <a:t>2.1.2. Check Validation</a:t>
            </a:r>
            <a:endParaRPr lang="en-GB" sz="2800" dirty="0">
              <a:solidFill>
                <a:srgbClr val="FF99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77762" y="846559"/>
            <a:ext cx="11150425" cy="5309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GB" smtClean="0">
                <a:solidFill>
                  <a:srgbClr val="0099CC"/>
                </a:solidFill>
                <a:latin typeface="Cascadia Mono" panose="020B0609020000020004" pitchFamily="49" charset="0"/>
              </a:rPr>
              <a:t>HttpPost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  <a:p>
            <a:r>
              <a:rPr lang="en-US" smtClean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>
                <a:solidFill>
                  <a:srgbClr val="0099CC"/>
                </a:solidFill>
                <a:latin typeface="Cascadia Mono" panose="020B0609020000020004" pitchFamily="49" charset="0"/>
              </a:rPr>
              <a:t>IActionResult</a:t>
            </a: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 LoginAPI([</a:t>
            </a:r>
            <a:r>
              <a:rPr lang="en-US">
                <a:solidFill>
                  <a:srgbClr val="0099CC"/>
                </a:solidFill>
                <a:latin typeface="Cascadia Mono" panose="020B0609020000020004" pitchFamily="49" charset="0"/>
              </a:rPr>
              <a:t>FromBody</a:t>
            </a: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] </a:t>
            </a:r>
            <a:r>
              <a:rPr lang="en-US" smtClean="0">
                <a:solidFill>
                  <a:srgbClr val="0099CC"/>
                </a:solidFill>
                <a:latin typeface="Cascadia Mono" panose="020B0609020000020004" pitchFamily="49" charset="0"/>
              </a:rPr>
              <a:t>LoginModel</a:t>
            </a:r>
            <a:r>
              <a:rPr lang="en-US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model)</a:t>
            </a:r>
          </a:p>
          <a:p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{   </a:t>
            </a:r>
          </a:p>
          <a:p>
            <a:pPr>
              <a:spcAft>
                <a:spcPts val="1800"/>
              </a:spcAft>
            </a:pPr>
            <a:r>
              <a:rPr lang="en-GB" smtClean="0">
                <a:solidFill>
                  <a:srgbClr val="0000FF"/>
                </a:solidFill>
                <a:latin typeface="Cascadia Mono" panose="020B0609020000020004" pitchFamily="49" charset="0"/>
              </a:rPr>
              <a:t>    if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GB">
                <a:solidFill>
                  <a:srgbClr val="FF0000"/>
                </a:solidFill>
                <a:latin typeface="Cascadia Mono" panose="020B0609020000020004" pitchFamily="49" charset="0"/>
              </a:rPr>
              <a:t>ModelState.IsValid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) </a:t>
            </a:r>
            <a:r>
              <a:rPr lang="en-US" smtClean="0">
                <a:solidFill>
                  <a:srgbClr val="0000FF"/>
                </a:solidFill>
                <a:latin typeface="Cascadia Mono" panose="020B0609020000020004" pitchFamily="49" charset="0"/>
              </a:rPr>
              <a:t>return </a:t>
            </a:r>
            <a:r>
              <a:rPr lang="en-US" smtClean="0">
                <a:solidFill>
                  <a:srgbClr val="990000"/>
                </a:solidFill>
                <a:latin typeface="Cascadia Mono" panose="020B0609020000020004" pitchFamily="49" charset="0"/>
              </a:rPr>
              <a:t>Unauthorized</a:t>
            </a: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(); </a:t>
            </a:r>
            <a:r>
              <a:rPr lang="en-US" smtClean="0">
                <a:solidFill>
                  <a:srgbClr val="006600"/>
                </a:solidFill>
                <a:latin typeface="Cascadia Mono" panose="020B0609020000020004" pitchFamily="49" charset="0"/>
              </a:rPr>
              <a:t>//Invalid Model</a:t>
            </a:r>
            <a:endParaRPr lang="en-GB" smtClean="0">
              <a:solidFill>
                <a:srgbClr val="006600"/>
              </a:solidFill>
              <a:latin typeface="Cascadia Mono" panose="020B0609020000020004" pitchFamily="49" charset="0"/>
            </a:endParaRPr>
          </a:p>
          <a:p>
            <a:r>
              <a:rPr lang="en-GB" smtClean="0">
                <a:solidFill>
                  <a:srgbClr val="0000FF"/>
                </a:solidFill>
                <a:latin typeface="Cascadia Mono" panose="020B0609020000020004" pitchFamily="49" charset="0"/>
              </a:rPr>
              <a:t>    if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 (model.UserName == </a:t>
            </a:r>
            <a:r>
              <a:rPr lang="en-GB" smtClean="0">
                <a:solidFill>
                  <a:srgbClr val="A31515"/>
                </a:solidFill>
                <a:latin typeface="Cascadia Mono" panose="020B0609020000020004" pitchFamily="49" charset="0"/>
              </a:rPr>
              <a:t>"admin"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 &amp;&amp; model.Password == </a:t>
            </a:r>
            <a:r>
              <a:rPr lang="en-GB" smtClean="0">
                <a:solidFill>
                  <a:srgbClr val="A31515"/>
                </a:solidFill>
                <a:latin typeface="Cascadia Mono" panose="020B0609020000020004" pitchFamily="49" charset="0"/>
              </a:rPr>
              <a:t>"noP@ss$123"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    {                                </a:t>
            </a:r>
            <a:endParaRPr lang="en-GB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GB" smtClean="0">
                <a:solidFill>
                  <a:srgbClr val="0000FF"/>
                </a:solidFill>
                <a:latin typeface="Cascadia Mono" panose="020B0609020000020004" pitchFamily="49" charset="0"/>
              </a:rPr>
              <a:t>	return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>
                <a:solidFill>
                  <a:srgbClr val="990000"/>
                </a:solidFill>
                <a:latin typeface="Cascadia Mono" panose="020B0609020000020004" pitchFamily="49" charset="0"/>
              </a:rPr>
              <a:t>Ok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GB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endParaRPr lang="en-GB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en-GB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	     success 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= </a:t>
            </a:r>
            <a:r>
              <a:rPr lang="en-GB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	     message 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= </a:t>
            </a:r>
            <a:r>
              <a:rPr lang="en-GB">
                <a:solidFill>
                  <a:srgbClr val="A31515"/>
                </a:solidFill>
                <a:latin typeface="Cascadia Mono" panose="020B0609020000020004" pitchFamily="49" charset="0"/>
              </a:rPr>
              <a:t>"Login successful"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,                    </a:t>
            </a:r>
          </a:p>
          <a:p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	});</a:t>
            </a:r>
            <a:endParaRPr lang="en-GB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  <a:endParaRPr lang="en-GB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mtClean="0">
                <a:solidFill>
                  <a:srgbClr val="0000FF"/>
                </a:solidFill>
                <a:latin typeface="Cascadia Mono" panose="020B0609020000020004" pitchFamily="49" charset="0"/>
              </a:rPr>
              <a:t>    return</a:t>
            </a:r>
            <a:r>
              <a:rPr lang="en-US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>
                <a:solidFill>
                  <a:srgbClr val="990000"/>
                </a:solidFill>
                <a:latin typeface="Cascadia Mono" panose="020B0609020000020004" pitchFamily="49" charset="0"/>
              </a:rPr>
              <a:t>Unauthorized</a:t>
            </a: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endParaRPr lang="en-US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mtClean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mtClean="0">
                <a:solidFill>
                  <a:srgbClr val="000000"/>
                </a:solidFill>
                <a:latin typeface="Cascadia Mono" panose="020B0609020000020004" pitchFamily="49" charset="0"/>
              </a:rPr>
              <a:t>     success </a:t>
            </a: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= </a:t>
            </a:r>
            <a:r>
              <a:rPr lang="en-US">
                <a:solidFill>
                  <a:srgbClr val="0000FF"/>
                </a:solidFill>
                <a:latin typeface="Cascadia Mono" panose="020B0609020000020004" pitchFamily="49" charset="0"/>
              </a:rPr>
              <a:t>false</a:t>
            </a: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endParaRPr lang="en-US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mtClean="0">
                <a:solidFill>
                  <a:srgbClr val="000000"/>
                </a:solidFill>
                <a:latin typeface="Cascadia Mono" panose="020B0609020000020004" pitchFamily="49" charset="0"/>
              </a:rPr>
              <a:t>     message </a:t>
            </a: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= </a:t>
            </a:r>
            <a:r>
              <a:rPr lang="en-US">
                <a:solidFill>
                  <a:srgbClr val="A31515"/>
                </a:solidFill>
                <a:latin typeface="Cascadia Mono" panose="020B0609020000020004" pitchFamily="49" charset="0"/>
              </a:rPr>
              <a:t>"Invalid username or password"</a:t>
            </a: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endParaRPr lang="en-US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mtClean="0">
                <a:solidFill>
                  <a:srgbClr val="000000"/>
                </a:solidFill>
                <a:latin typeface="Cascadia Mono" panose="020B0609020000020004" pitchFamily="49" charset="0"/>
              </a:rPr>
              <a:t>    });</a:t>
            </a:r>
            <a:endParaRPr lang="en-US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3954692" y="6093926"/>
            <a:ext cx="79219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mtClean="0">
                <a:solidFill>
                  <a:srgbClr val="C00000"/>
                </a:solidFill>
              </a:rPr>
              <a:t>Note: </a:t>
            </a:r>
            <a:r>
              <a:rPr lang="en-GB" smtClean="0"/>
              <a:t>By </a:t>
            </a:r>
            <a:r>
              <a:rPr lang="en-GB"/>
              <a:t>default POST, PUT, and PATCH data is retrieved from </a:t>
            </a:r>
            <a:r>
              <a:rPr lang="en-GB" smtClean="0"/>
              <a:t>body</a:t>
            </a:r>
            <a:endParaRPr lang="en-GB"/>
          </a:p>
        </p:txBody>
      </p:sp>
      <p:sp>
        <p:nvSpPr>
          <p:cNvPr id="7" name="Title 4"/>
          <p:cNvSpPr txBox="1">
            <a:spLocks/>
          </p:cNvSpPr>
          <p:nvPr/>
        </p:nvSpPr>
        <p:spPr>
          <a:xfrm>
            <a:off x="6985221" y="165080"/>
            <a:ext cx="5206779" cy="59499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400" b="0" smtClean="0">
                <a:solidFill>
                  <a:schemeClr val="tx1"/>
                </a:solidFill>
                <a:effectLst/>
              </a:rPr>
              <a:t>Use [</a:t>
            </a:r>
            <a:r>
              <a:rPr lang="en-GB" sz="2400" b="0" smtClean="0">
                <a:solidFill>
                  <a:srgbClr val="00B0F0"/>
                </a:solidFill>
                <a:effectLst/>
              </a:rPr>
              <a:t>FromBody</a:t>
            </a:r>
            <a:r>
              <a:rPr lang="en-GB" sz="2400" b="0" smtClean="0">
                <a:solidFill>
                  <a:schemeClr val="tx1"/>
                </a:solidFill>
                <a:effectLst/>
              </a:rPr>
              <a:t>] and ModelState</a:t>
            </a:r>
            <a:endParaRPr lang="en-GB" sz="2400" b="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23850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47099" y="122011"/>
            <a:ext cx="5518205" cy="594995"/>
          </a:xfrm>
        </p:spPr>
        <p:txBody>
          <a:bodyPr>
            <a:normAutofit/>
          </a:bodyPr>
          <a:lstStyle/>
          <a:p>
            <a:r>
              <a:rPr lang="en-US" smtClean="0"/>
              <a:t>2.1.2. Check Validation</a:t>
            </a:r>
            <a:endParaRPr lang="en-GB" sz="2800" dirty="0">
              <a:solidFill>
                <a:srgbClr val="FF99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" name="Title 4"/>
          <p:cNvSpPr txBox="1">
            <a:spLocks/>
          </p:cNvSpPr>
          <p:nvPr/>
        </p:nvSpPr>
        <p:spPr>
          <a:xfrm>
            <a:off x="6985221" y="165080"/>
            <a:ext cx="5206779" cy="59499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400" b="0" smtClean="0">
                <a:solidFill>
                  <a:schemeClr val="tx1"/>
                </a:solidFill>
                <a:effectLst/>
              </a:rPr>
              <a:t>Use [</a:t>
            </a:r>
            <a:r>
              <a:rPr lang="en-GB" sz="2400" b="0" smtClean="0">
                <a:solidFill>
                  <a:srgbClr val="00B0F0"/>
                </a:solidFill>
                <a:effectLst/>
              </a:rPr>
              <a:t>FromBody</a:t>
            </a:r>
            <a:r>
              <a:rPr lang="en-GB" sz="2400" b="0" smtClean="0">
                <a:solidFill>
                  <a:schemeClr val="tx1"/>
                </a:solidFill>
                <a:effectLst/>
              </a:rPr>
              <a:t>] and ModelState</a:t>
            </a:r>
            <a:endParaRPr lang="en-GB" sz="2400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87017" y="1438442"/>
            <a:ext cx="11032435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GB">
                <a:solidFill>
                  <a:srgbClr val="00B0F0"/>
                </a:solidFill>
                <a:latin typeface="Cascadia Mono" panose="020B0609020000020004" pitchFamily="49" charset="0"/>
              </a:rPr>
              <a:t>HttpPut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  <a:p>
            <a:r>
              <a:rPr lang="en-US" smtClean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mtClean="0">
                <a:solidFill>
                  <a:srgbClr val="0000FF"/>
                </a:solidFill>
                <a:latin typeface="Cascadia Mono" panose="020B0609020000020004" pitchFamily="49" charset="0"/>
              </a:rPr>
              <a:t>async</a:t>
            </a:r>
            <a:r>
              <a:rPr lang="en-US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mtClean="0">
                <a:solidFill>
                  <a:srgbClr val="00B0F0"/>
                </a:solidFill>
                <a:latin typeface="Cascadia Mono" panose="020B0609020000020004" pitchFamily="49" charset="0"/>
              </a:rPr>
              <a:t>Task</a:t>
            </a:r>
            <a:r>
              <a:rPr lang="en-US" smtClean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mtClean="0">
                <a:solidFill>
                  <a:srgbClr val="00B0F0"/>
                </a:solidFill>
                <a:latin typeface="Cascadia Mono" panose="020B0609020000020004" pitchFamily="49" charset="0"/>
              </a:rPr>
              <a:t>ActionResult</a:t>
            </a:r>
            <a:r>
              <a:rPr lang="en-US" smtClean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mtClean="0">
                <a:solidFill>
                  <a:srgbClr val="00B0F0"/>
                </a:solidFill>
                <a:latin typeface="Cascadia Mono" panose="020B0609020000020004" pitchFamily="49" charset="0"/>
              </a:rPr>
              <a:t>EmployeeDTO</a:t>
            </a:r>
            <a:r>
              <a:rPr lang="en-US" smtClean="0">
                <a:solidFill>
                  <a:srgbClr val="000000"/>
                </a:solidFill>
                <a:latin typeface="Cascadia Mono" panose="020B0609020000020004" pitchFamily="49" charset="0"/>
              </a:rPr>
              <a:t>&gt;&gt; </a:t>
            </a:r>
            <a:r>
              <a:rPr lang="en-US">
                <a:solidFill>
                  <a:srgbClr val="990000"/>
                </a:solidFill>
                <a:latin typeface="Cascadia Mono" panose="020B0609020000020004" pitchFamily="49" charset="0"/>
              </a:rPr>
              <a:t>Update</a:t>
            </a: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([</a:t>
            </a:r>
            <a:r>
              <a:rPr lang="en-US">
                <a:solidFill>
                  <a:srgbClr val="00B0F0"/>
                </a:solidFill>
                <a:latin typeface="Cascadia Mono" panose="020B0609020000020004" pitchFamily="49" charset="0"/>
              </a:rPr>
              <a:t>FromBody</a:t>
            </a: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] </a:t>
            </a:r>
            <a:r>
              <a:rPr lang="en-US">
                <a:solidFill>
                  <a:srgbClr val="00B0F0"/>
                </a:solidFill>
                <a:latin typeface="Cascadia Mono" panose="020B0609020000020004" pitchFamily="49" charset="0"/>
              </a:rPr>
              <a:t>EmployeeDTO</a:t>
            </a: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 model)</a:t>
            </a:r>
          </a:p>
          <a:p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en-GB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457200"/>
            <a:r>
              <a:rPr lang="en-GB" smtClean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GB">
                <a:solidFill>
                  <a:srgbClr val="FF0000"/>
                </a:solidFill>
                <a:latin typeface="Cascadia Mono" panose="020B0609020000020004" pitchFamily="49" charset="0"/>
              </a:rPr>
              <a:t>ModelState.IsValid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 marL="457200"/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en-GB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GB" smtClean="0">
                <a:solidFill>
                  <a:srgbClr val="0000FF"/>
                </a:solidFill>
                <a:latin typeface="Cascadia Mono" panose="020B0609020000020004" pitchFamily="49" charset="0"/>
              </a:rPr>
              <a:t>	var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entity = </a:t>
            </a:r>
            <a:r>
              <a:rPr lang="en-GB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_EmployeeRepository.</a:t>
            </a:r>
            <a:r>
              <a:rPr lang="en-GB">
                <a:solidFill>
                  <a:srgbClr val="990000"/>
                </a:solidFill>
                <a:latin typeface="Cascadia Mono" panose="020B0609020000020004" pitchFamily="49" charset="0"/>
              </a:rPr>
              <a:t>GetAsync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(model.Id);</a:t>
            </a:r>
          </a:p>
          <a:p>
            <a:pPr>
              <a:spcBef>
                <a:spcPts val="600"/>
              </a:spcBef>
            </a:pPr>
            <a:r>
              <a:rPr lang="en-GB" smtClean="0">
                <a:solidFill>
                  <a:srgbClr val="0000FF"/>
                </a:solidFill>
                <a:latin typeface="Cascadia Mono" panose="020B0609020000020004" pitchFamily="49" charset="0"/>
              </a:rPr>
              <a:t>	if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(entity != </a:t>
            </a:r>
            <a:r>
              <a:rPr lang="en-GB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   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en-GB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>
              <a:spcBef>
                <a:spcPts val="600"/>
              </a:spcBef>
            </a:pP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		_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mapper.Map(model, entity);</a:t>
            </a:r>
          </a:p>
          <a:p>
            <a:pPr>
              <a:spcBef>
                <a:spcPts val="600"/>
              </a:spcBef>
            </a:pPr>
            <a:r>
              <a:rPr lang="en-GB" smtClean="0">
                <a:solidFill>
                  <a:srgbClr val="0000FF"/>
                </a:solidFill>
                <a:latin typeface="Cascadia Mono" panose="020B0609020000020004" pitchFamily="49" charset="0"/>
              </a:rPr>
              <a:t>		if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GB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_EmployeeRepository.</a:t>
            </a:r>
            <a:r>
              <a:rPr lang="en-GB">
                <a:solidFill>
                  <a:srgbClr val="990000"/>
                </a:solidFill>
                <a:latin typeface="Cascadia Mono" panose="020B0609020000020004" pitchFamily="49" charset="0"/>
              </a:rPr>
              <a:t>UpdateAsync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(entity) != </a:t>
            </a:r>
            <a:r>
              <a:rPr lang="en-GB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>
              <a:spcBef>
                <a:spcPts val="600"/>
              </a:spcBef>
            </a:pPr>
            <a:r>
              <a:rPr lang="en-GB" smtClean="0">
                <a:solidFill>
                  <a:srgbClr val="0000FF"/>
                </a:solidFill>
                <a:latin typeface="Cascadia Mono" panose="020B0609020000020004" pitchFamily="49" charset="0"/>
              </a:rPr>
              <a:t>			return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Ok(model);</a:t>
            </a:r>
          </a:p>
          <a:p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	}</a:t>
            </a:r>
            <a:endParaRPr lang="en-GB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457200"/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pPr marL="457200"/>
            <a:r>
              <a:rPr lang="en-GB" smtClean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mtClean="0">
                <a:solidFill>
                  <a:srgbClr val="990000"/>
                </a:solidFill>
                <a:latin typeface="Cascadia Mono" panose="020B0609020000020004" pitchFamily="49" charset="0"/>
              </a:rPr>
              <a:t>NoContent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en-GB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3995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2.1.3. </a:t>
            </a:r>
            <a:r>
              <a:rPr lang="en-US"/>
              <a:t>CORS (Cross-Origin Requests</a:t>
            </a:r>
            <a:r>
              <a:rPr lang="en-US" smtClean="0"/>
              <a:t>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01446" y="1268558"/>
            <a:ext cx="11012128" cy="43581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200">
                <a:solidFill>
                  <a:srgbClr val="000000"/>
                </a:solidFill>
                <a:latin typeface="Cascadia Mono" panose="020B0609020000020004" pitchFamily="49" charset="0"/>
              </a:rPr>
              <a:t>builder.Services.</a:t>
            </a:r>
            <a:r>
              <a:rPr lang="en-GB" sz="2200">
                <a:solidFill>
                  <a:srgbClr val="990000"/>
                </a:solidFill>
                <a:latin typeface="Cascadia Mono" panose="020B0609020000020004" pitchFamily="49" charset="0"/>
              </a:rPr>
              <a:t>AddCors</a:t>
            </a:r>
            <a:r>
              <a:rPr lang="en-GB" sz="2200">
                <a:solidFill>
                  <a:srgbClr val="000000"/>
                </a:solidFill>
                <a:latin typeface="Cascadia Mono" panose="020B0609020000020004" pitchFamily="49" charset="0"/>
              </a:rPr>
              <a:t>(options =&gt;</a:t>
            </a:r>
          </a:p>
          <a:p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>
              <a:lnSpc>
                <a:spcPct val="120000"/>
              </a:lnSpc>
            </a:pPr>
            <a:r>
              <a:rPr lang="en-GB" sz="22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   options.</a:t>
            </a:r>
            <a:r>
              <a:rPr lang="en-GB" sz="2200" smtClean="0">
                <a:solidFill>
                  <a:srgbClr val="FF0000"/>
                </a:solidFill>
                <a:latin typeface="Cascadia Mono" panose="020B0609020000020004" pitchFamily="49" charset="0"/>
              </a:rPr>
              <a:t>AddPolicy</a:t>
            </a:r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GB" sz="2200" smtClean="0">
                <a:solidFill>
                  <a:srgbClr val="A31515"/>
                </a:solidFill>
                <a:latin typeface="Cascadia Mono" panose="020B0609020000020004" pitchFamily="49" charset="0"/>
              </a:rPr>
              <a:t>“</a:t>
            </a:r>
            <a:r>
              <a:rPr lang="en-GB" sz="2200" smtClean="0">
                <a:solidFill>
                  <a:srgbClr val="FF00FF"/>
                </a:solidFill>
                <a:latin typeface="Cascadia Mono" panose="020B0609020000020004" pitchFamily="49" charset="0"/>
              </a:rPr>
              <a:t>Policy1</a:t>
            </a:r>
            <a:r>
              <a:rPr lang="en-GB" sz="220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GB" sz="2200">
                <a:solidFill>
                  <a:srgbClr val="000000"/>
                </a:solidFill>
                <a:latin typeface="Cascadia Mono" panose="020B0609020000020004" pitchFamily="49" charset="0"/>
              </a:rPr>
              <a:t/>
            </a:r>
            <a:br>
              <a:rPr lang="en-GB" sz="2200">
                <a:solidFill>
                  <a:srgbClr val="000000"/>
                </a:solidFill>
                <a:latin typeface="Cascadia Mono" panose="020B0609020000020004" pitchFamily="49" charset="0"/>
              </a:rPr>
            </a:br>
            <a:r>
              <a:rPr lang="en-GB" sz="220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   policy =&gt; </a:t>
            </a:r>
          </a:p>
          <a:p>
            <a:pPr>
              <a:lnSpc>
                <a:spcPct val="120000"/>
              </a:lnSpc>
            </a:pPr>
            <a:r>
              <a:rPr lang="en-US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	   {</a:t>
            </a:r>
            <a:endParaRPr lang="en-GB" sz="220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		policy.</a:t>
            </a:r>
            <a:r>
              <a:rPr lang="en-GB" sz="2200" smtClean="0">
                <a:solidFill>
                  <a:srgbClr val="990000"/>
                </a:solidFill>
                <a:latin typeface="Cascadia Mono" panose="020B0609020000020004" pitchFamily="49" charset="0"/>
              </a:rPr>
              <a:t>WithOrigins</a:t>
            </a:r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GB" sz="220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GB" sz="2200" smtClean="0">
                <a:solidFill>
                  <a:srgbClr val="0000FF"/>
                </a:solidFill>
                <a:latin typeface="Cascadia Mono" panose="020B0609020000020004" pitchFamily="49" charset="0"/>
              </a:rPr>
              <a:t>https://dntu.edu.vn</a:t>
            </a:r>
            <a:r>
              <a:rPr lang="en-GB" sz="220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b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</a:br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				        </a:t>
            </a:r>
            <a:r>
              <a:rPr lang="en-GB" sz="220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GB" sz="2200" smtClean="0">
                <a:solidFill>
                  <a:srgbClr val="0000FF"/>
                </a:solidFill>
                <a:latin typeface="Cascadia Mono" panose="020B0609020000020004" pitchFamily="49" charset="0"/>
              </a:rPr>
              <a:t>https://localhost:44386</a:t>
            </a:r>
            <a:r>
              <a:rPr lang="en-GB" sz="220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		    	.</a:t>
            </a:r>
            <a:r>
              <a:rPr lang="en-GB" sz="2200" smtClean="0">
                <a:solidFill>
                  <a:srgbClr val="990000"/>
                </a:solidFill>
                <a:latin typeface="Cascadia Mono" panose="020B0609020000020004" pitchFamily="49" charset="0"/>
              </a:rPr>
              <a:t>AllowAnyHeader</a:t>
            </a:r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pPr>
              <a:lnSpc>
                <a:spcPct val="120000"/>
              </a:lnSpc>
            </a:pPr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			.</a:t>
            </a:r>
            <a:r>
              <a:rPr lang="en-GB" sz="2200" smtClean="0">
                <a:solidFill>
                  <a:srgbClr val="990000"/>
                </a:solidFill>
                <a:latin typeface="Cascadia Mono" panose="020B0609020000020004" pitchFamily="49" charset="0"/>
              </a:rPr>
              <a:t>AllowAnyMethod</a:t>
            </a:r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>
              <a:lnSpc>
                <a:spcPct val="120000"/>
              </a:lnSpc>
            </a:pPr>
            <a:r>
              <a:rPr lang="en-US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	   });</a:t>
            </a:r>
            <a:endParaRPr lang="en-GB" sz="220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});</a:t>
            </a:r>
            <a:endParaRPr lang="en-GB" sz="2200"/>
          </a:p>
        </p:txBody>
      </p:sp>
      <p:sp>
        <p:nvSpPr>
          <p:cNvPr id="7" name="Rectangle 6"/>
          <p:cNvSpPr/>
          <p:nvPr/>
        </p:nvSpPr>
        <p:spPr>
          <a:xfrm>
            <a:off x="481782" y="5917862"/>
            <a:ext cx="112874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400" smtClean="0">
                <a:solidFill>
                  <a:srgbClr val="000000"/>
                </a:solidFill>
                <a:latin typeface="Cascadia Mono" panose="020B0609020000020004" pitchFamily="49" charset="0"/>
              </a:rPr>
              <a:t>app.</a:t>
            </a:r>
            <a:r>
              <a:rPr lang="vi-VN" sz="2400" smtClean="0">
                <a:solidFill>
                  <a:srgbClr val="C00000"/>
                </a:solidFill>
                <a:latin typeface="Cascadia Mono" panose="020B0609020000020004" pitchFamily="49" charset="0"/>
              </a:rPr>
              <a:t>UseCors</a:t>
            </a:r>
            <a:r>
              <a:rPr lang="vi-VN" sz="240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GB" sz="240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GB" sz="2400" smtClean="0">
                <a:solidFill>
                  <a:srgbClr val="FF00FF"/>
                </a:solidFill>
                <a:latin typeface="Cascadia Mono" panose="020B0609020000020004" pitchFamily="49" charset="0"/>
              </a:rPr>
              <a:t>Policy1</a:t>
            </a:r>
            <a:r>
              <a:rPr lang="en-GB" sz="240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vi-VN" sz="2400" smtClean="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vi-VN" sz="200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en-US" sz="2000" smtClean="0">
                <a:solidFill>
                  <a:srgbClr val="008000"/>
                </a:solidFill>
                <a:latin typeface="Cascadia Mono" panose="020B0609020000020004" pitchFamily="49" charset="0"/>
              </a:rPr>
              <a:t>Place above </a:t>
            </a:r>
            <a:r>
              <a:rPr lang="vi-VN" sz="2000" smtClean="0">
                <a:solidFill>
                  <a:srgbClr val="008000"/>
                </a:solidFill>
                <a:latin typeface="Cascadia Mono" panose="020B0609020000020004" pitchFamily="49" charset="0"/>
              </a:rPr>
              <a:t>app.UseAuthentication</a:t>
            </a:r>
            <a:r>
              <a:rPr lang="vi-VN" sz="2000">
                <a:solidFill>
                  <a:srgbClr val="008000"/>
                </a:solidFill>
                <a:latin typeface="Cascadia Mono" panose="020B0609020000020004" pitchFamily="49" charset="0"/>
              </a:rPr>
              <a:t>()</a:t>
            </a:r>
            <a:endParaRPr lang="en-GB" sz="2400"/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14218" y="717750"/>
            <a:ext cx="6312310" cy="3886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1200"/>
              </a:spcBef>
            </a:pPr>
            <a:r>
              <a:rPr lang="en-US" sz="2400" smtClean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in Program.cs, use </a:t>
            </a:r>
            <a:r>
              <a:rPr lang="en-GB" sz="2400" smtClean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AddPolicy have name</a:t>
            </a:r>
            <a:endParaRPr lang="en-US" sz="2400">
              <a:solidFill>
                <a:schemeClr val="accent5">
                  <a:lumMod val="75000"/>
                </a:schemeClr>
              </a:solidFill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920967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2.1.3. </a:t>
            </a:r>
            <a:r>
              <a:rPr lang="en-US"/>
              <a:t>CORS (Cross-Origin Requests</a:t>
            </a:r>
            <a:r>
              <a:rPr lang="en-US" smtClean="0"/>
              <a:t>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88259" y="1416040"/>
            <a:ext cx="10884310" cy="44504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>
                <a:solidFill>
                  <a:srgbClr val="000000"/>
                </a:solidFill>
                <a:latin typeface="Cascadia Mono" panose="020B0609020000020004" pitchFamily="49" charset="0"/>
              </a:rPr>
              <a:t>builder.Services.AddCors(options =&gt;</a:t>
            </a:r>
          </a:p>
          <a:p>
            <a:r>
              <a:rPr lang="en-GB" sz="240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GB" sz="2400">
                <a:solidFill>
                  <a:srgbClr val="000000"/>
                </a:solidFill>
                <a:latin typeface="Cascadia Mono" panose="020B0609020000020004" pitchFamily="49" charset="0"/>
              </a:rPr>
              <a:t>    options.</a:t>
            </a:r>
            <a:r>
              <a:rPr lang="en-GB" sz="2400">
                <a:solidFill>
                  <a:srgbClr val="FF0000"/>
                </a:solidFill>
                <a:latin typeface="Cascadia Mono" panose="020B0609020000020004" pitchFamily="49" charset="0"/>
              </a:rPr>
              <a:t>AddDefaultPolicy</a:t>
            </a:r>
            <a:r>
              <a:rPr lang="en-GB" sz="240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</a:p>
          <a:p>
            <a:r>
              <a:rPr lang="en-GB" sz="2400">
                <a:solidFill>
                  <a:srgbClr val="000000"/>
                </a:solidFill>
                <a:latin typeface="Cascadia Mono" panose="020B0609020000020004" pitchFamily="49" charset="0"/>
              </a:rPr>
              <a:t>        policy =&gt;</a:t>
            </a:r>
          </a:p>
          <a:p>
            <a:r>
              <a:rPr lang="en-GB" sz="240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pPr>
              <a:lnSpc>
                <a:spcPct val="120000"/>
              </a:lnSpc>
            </a:pPr>
            <a:r>
              <a:rPr lang="en-GB" sz="2400">
                <a:solidFill>
                  <a:srgbClr val="000000"/>
                </a:solidFill>
                <a:latin typeface="Cascadia Mono" panose="020B0609020000020004" pitchFamily="49" charset="0"/>
              </a:rPr>
              <a:t>            policy.</a:t>
            </a:r>
            <a:r>
              <a:rPr lang="en-GB" sz="2400">
                <a:solidFill>
                  <a:srgbClr val="990000"/>
                </a:solidFill>
                <a:latin typeface="Cascadia Mono" panose="020B0609020000020004" pitchFamily="49" charset="0"/>
              </a:rPr>
              <a:t>WithOrigins</a:t>
            </a:r>
            <a:r>
              <a:rPr lang="en-GB" sz="240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GB" sz="240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GB" sz="2400" smtClean="0">
                <a:solidFill>
                  <a:srgbClr val="0000FF"/>
                </a:solidFill>
                <a:latin typeface="Cascadia Mono" panose="020B0609020000020004" pitchFamily="49" charset="0"/>
              </a:rPr>
              <a:t>https://dntu.edu.vn</a:t>
            </a:r>
            <a:r>
              <a:rPr lang="en-GB" sz="240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GB" sz="2400" smtClean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br>
              <a:rPr lang="en-GB" sz="2400" smtClean="0">
                <a:solidFill>
                  <a:srgbClr val="000000"/>
                </a:solidFill>
                <a:latin typeface="Cascadia Mono" panose="020B0609020000020004" pitchFamily="49" charset="0"/>
              </a:rPr>
            </a:br>
            <a:r>
              <a:rPr lang="en-GB" sz="2400" smtClean="0">
                <a:solidFill>
                  <a:srgbClr val="000000"/>
                </a:solidFill>
                <a:latin typeface="Cascadia Mono" panose="020B0609020000020004" pitchFamily="49" charset="0"/>
              </a:rPr>
              <a:t>				    </a:t>
            </a:r>
            <a:r>
              <a:rPr lang="en-GB" sz="240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GB" sz="2400">
                <a:solidFill>
                  <a:srgbClr val="0000FF"/>
                </a:solidFill>
                <a:latin typeface="Cascadia Mono" panose="020B0609020000020004" pitchFamily="49" charset="0"/>
              </a:rPr>
              <a:t>https://localhost:44386</a:t>
            </a:r>
            <a:r>
              <a:rPr lang="en-GB" sz="240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GB" sz="240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GB" sz="2400">
                <a:solidFill>
                  <a:srgbClr val="000000"/>
                </a:solidFill>
                <a:latin typeface="Cascadia Mono" panose="020B0609020000020004" pitchFamily="49" charset="0"/>
              </a:rPr>
              <a:t>            .</a:t>
            </a:r>
            <a:r>
              <a:rPr lang="en-GB" sz="2400">
                <a:solidFill>
                  <a:srgbClr val="990000"/>
                </a:solidFill>
                <a:latin typeface="Cascadia Mono" panose="020B0609020000020004" pitchFamily="49" charset="0"/>
              </a:rPr>
              <a:t>AllowAnyHeader</a:t>
            </a:r>
            <a:r>
              <a:rPr lang="en-GB" sz="240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pPr>
              <a:lnSpc>
                <a:spcPct val="120000"/>
              </a:lnSpc>
            </a:pPr>
            <a:r>
              <a:rPr lang="en-GB" sz="2400">
                <a:solidFill>
                  <a:srgbClr val="000000"/>
                </a:solidFill>
                <a:latin typeface="Cascadia Mono" panose="020B0609020000020004" pitchFamily="49" charset="0"/>
              </a:rPr>
              <a:t>            .</a:t>
            </a:r>
            <a:r>
              <a:rPr lang="en-GB" sz="2400">
                <a:solidFill>
                  <a:srgbClr val="990000"/>
                </a:solidFill>
                <a:latin typeface="Cascadia Mono" panose="020B0609020000020004" pitchFamily="49" charset="0"/>
              </a:rPr>
              <a:t>AllowAnyMethod</a:t>
            </a:r>
            <a:r>
              <a:rPr lang="en-GB" sz="240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GB" sz="2400">
                <a:solidFill>
                  <a:srgbClr val="000000"/>
                </a:solidFill>
                <a:latin typeface="Cascadia Mono" panose="020B0609020000020004" pitchFamily="49" charset="0"/>
              </a:rPr>
              <a:t>        });</a:t>
            </a:r>
          </a:p>
          <a:p>
            <a:r>
              <a:rPr lang="en-GB" sz="2400">
                <a:solidFill>
                  <a:srgbClr val="000000"/>
                </a:solidFill>
                <a:latin typeface="Cascadia Mono" panose="020B0609020000020004" pitchFamily="49" charset="0"/>
              </a:rPr>
              <a:t>});</a:t>
            </a:r>
            <a:endParaRPr lang="en-GB" sz="2400"/>
          </a:p>
        </p:txBody>
      </p:sp>
      <p:sp>
        <p:nvSpPr>
          <p:cNvPr id="7" name="Rectangle 6"/>
          <p:cNvSpPr/>
          <p:nvPr/>
        </p:nvSpPr>
        <p:spPr>
          <a:xfrm>
            <a:off x="668594" y="5908029"/>
            <a:ext cx="112874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400">
                <a:solidFill>
                  <a:srgbClr val="000000"/>
                </a:solidFill>
                <a:latin typeface="Cascadia Mono" panose="020B0609020000020004" pitchFamily="49" charset="0"/>
              </a:rPr>
              <a:t>app.</a:t>
            </a:r>
            <a:r>
              <a:rPr lang="vi-VN" sz="2400">
                <a:solidFill>
                  <a:srgbClr val="C00000"/>
                </a:solidFill>
                <a:latin typeface="Cascadia Mono" panose="020B0609020000020004" pitchFamily="49" charset="0"/>
              </a:rPr>
              <a:t>UseCors</a:t>
            </a:r>
            <a:r>
              <a:rPr lang="vi-VN" sz="2400">
                <a:solidFill>
                  <a:srgbClr val="000000"/>
                </a:solidFill>
                <a:latin typeface="Cascadia Mono" panose="020B0609020000020004" pitchFamily="49" charset="0"/>
              </a:rPr>
              <a:t>(); </a:t>
            </a:r>
            <a:r>
              <a:rPr lang="vi-VN" sz="240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en-US" sz="2400" smtClean="0">
                <a:solidFill>
                  <a:srgbClr val="008000"/>
                </a:solidFill>
                <a:latin typeface="Cascadia Mono" panose="020B0609020000020004" pitchFamily="49" charset="0"/>
              </a:rPr>
              <a:t>Plase above </a:t>
            </a:r>
            <a:r>
              <a:rPr lang="vi-VN" sz="2400" smtClean="0">
                <a:solidFill>
                  <a:srgbClr val="008000"/>
                </a:solidFill>
                <a:latin typeface="Cascadia Mono" panose="020B0609020000020004" pitchFamily="49" charset="0"/>
              </a:rPr>
              <a:t>app.UseAuthentication</a:t>
            </a:r>
            <a:r>
              <a:rPr lang="vi-VN" sz="2400">
                <a:solidFill>
                  <a:srgbClr val="008000"/>
                </a:solidFill>
                <a:latin typeface="Cascadia Mono" panose="020B0609020000020004" pitchFamily="49" charset="0"/>
              </a:rPr>
              <a:t>()</a:t>
            </a:r>
            <a:endParaRPr lang="en-GB" sz="2400"/>
          </a:p>
        </p:txBody>
      </p:sp>
      <p:sp>
        <p:nvSpPr>
          <p:cNvPr id="9" name="Text Placeholder 5"/>
          <p:cNvSpPr txBox="1">
            <a:spLocks/>
          </p:cNvSpPr>
          <p:nvPr/>
        </p:nvSpPr>
        <p:spPr>
          <a:xfrm>
            <a:off x="2251585" y="855402"/>
            <a:ext cx="9055511" cy="3886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1200"/>
              </a:spcBef>
            </a:pPr>
            <a:r>
              <a:rPr lang="en-US" sz="2400" smtClean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in Program.cs, use </a:t>
            </a:r>
            <a:r>
              <a:rPr lang="en-GB" sz="2400" smtClean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AddDefaultPolicy</a:t>
            </a:r>
            <a:endParaRPr lang="en-US" sz="2400">
              <a:solidFill>
                <a:schemeClr val="accent5">
                  <a:lumMod val="75000"/>
                </a:schemeClr>
              </a:solidFill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9027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2.1.3. </a:t>
            </a:r>
            <a:r>
              <a:rPr lang="en-US"/>
              <a:t>CORS (Cross-Origin Requests</a:t>
            </a:r>
            <a:r>
              <a:rPr lang="en-US" smtClean="0"/>
              <a:t>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9" name="Text Placeholder 5"/>
          <p:cNvSpPr txBox="1">
            <a:spLocks/>
          </p:cNvSpPr>
          <p:nvPr/>
        </p:nvSpPr>
        <p:spPr>
          <a:xfrm>
            <a:off x="560437" y="835738"/>
            <a:ext cx="11189111" cy="3886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400">
                <a:solidFill>
                  <a:schemeClr val="tx1"/>
                </a:solidFill>
                <a:sym typeface="Wingdings" panose="05000000000000000000" pitchFamily="2" charset="2"/>
              </a:rPr>
              <a:t>Enable CORS with attributes: </a:t>
            </a:r>
            <a:r>
              <a:rPr lang="en-US" sz="2400" smtClean="0">
                <a:solidFill>
                  <a:schemeClr val="tx1"/>
                </a:solidFill>
                <a:sym typeface="Wingdings" panose="05000000000000000000" pitchFamily="2" charset="2"/>
              </a:rPr>
              <a:t>enables </a:t>
            </a:r>
            <a:r>
              <a:rPr lang="en-US" sz="2400">
                <a:solidFill>
                  <a:schemeClr val="tx1"/>
                </a:solidFill>
                <a:sym typeface="Wingdings" panose="05000000000000000000" pitchFamily="2" charset="2"/>
              </a:rPr>
              <a:t>CORS for selected endpoints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56" y="1557626"/>
            <a:ext cx="11573748" cy="4882931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H="1">
            <a:off x="2683565" y="1288026"/>
            <a:ext cx="5723017" cy="220060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3030474" y="1292087"/>
            <a:ext cx="5378030" cy="38368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319371" y="5043091"/>
            <a:ext cx="7086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GB" smtClean="0">
                <a:solidFill>
                  <a:srgbClr val="008000"/>
                </a:solidFill>
              </a:rPr>
              <a:t>// Policy1</a:t>
            </a:r>
            <a:r>
              <a:rPr lang="en-GB">
                <a:solidFill>
                  <a:srgbClr val="008000"/>
                </a:solidFill>
              </a:rPr>
              <a:t>, Policy2 </a:t>
            </a:r>
            <a:r>
              <a:rPr lang="en-GB" smtClean="0">
                <a:solidFill>
                  <a:srgbClr val="008000"/>
                </a:solidFill>
              </a:rPr>
              <a:t>is name of </a:t>
            </a:r>
            <a:r>
              <a:rPr lang="en-GB" smtClean="0">
                <a:solidFill>
                  <a:srgbClr val="008000"/>
                </a:solidFill>
                <a:latin typeface="Cascadia Mono" panose="020B0609020000020004" pitchFamily="49" charset="0"/>
              </a:rPr>
              <a:t>AddPolicy </a:t>
            </a:r>
            <a:r>
              <a:rPr lang="en-GB">
                <a:solidFill>
                  <a:srgbClr val="008000"/>
                </a:solidFill>
                <a:latin typeface="Cascadia Mono" panose="020B0609020000020004" pitchFamily="49" charset="0"/>
              </a:rPr>
              <a:t>in Program.cs</a:t>
            </a:r>
            <a:endParaRPr lang="en-GB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023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3763875" y="1350934"/>
            <a:ext cx="5311298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375" y="235090"/>
            <a:ext cx="481961" cy="111221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FD2705F-8A3F-43FB-B599-CD432A022700}"/>
              </a:ext>
            </a:extLst>
          </p:cNvPr>
          <p:cNvSpPr txBox="1"/>
          <p:nvPr/>
        </p:nvSpPr>
        <p:spPr>
          <a:xfrm>
            <a:off x="3667432" y="680948"/>
            <a:ext cx="62238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smtClean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API </a:t>
            </a:r>
            <a:r>
              <a:rPr lang="en-US" sz="4000" b="1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Security Solutions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7DE2944F-AE04-492A-BB15-9E9B6DBB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920AF-2440-4552-8F7A-6F88C8FE507A}" type="slidenum">
              <a:rPr lang="en-US" sz="1000" smtClean="0"/>
              <a:pPr/>
              <a:t>19</a:t>
            </a:fld>
            <a:endParaRPr lang="en-US" sz="1000"/>
          </a:p>
        </p:txBody>
      </p:sp>
      <p:grpSp>
        <p:nvGrpSpPr>
          <p:cNvPr id="13" name="Group 17">
            <a:extLst>
              <a:ext uri="{FF2B5EF4-FFF2-40B4-BE49-F238E27FC236}">
                <a16:creationId xmlns:a16="http://schemas.microsoft.com/office/drawing/2014/main" id="{6080DA0D-484A-4C70-BB3A-D9040DBEAE59}"/>
              </a:ext>
            </a:extLst>
          </p:cNvPr>
          <p:cNvGrpSpPr>
            <a:grpSpLocks/>
          </p:cNvGrpSpPr>
          <p:nvPr/>
        </p:nvGrpSpPr>
        <p:grpSpPr bwMode="auto">
          <a:xfrm>
            <a:off x="536842" y="5690550"/>
            <a:ext cx="883826" cy="883301"/>
            <a:chOff x="2562" y="439"/>
            <a:chExt cx="1684" cy="1683"/>
          </a:xfrm>
        </p:grpSpPr>
        <p:sp>
          <p:nvSpPr>
            <p:cNvPr id="14" name="Oval 5">
              <a:extLst>
                <a:ext uri="{FF2B5EF4-FFF2-40B4-BE49-F238E27FC236}">
                  <a16:creationId xmlns:a16="http://schemas.microsoft.com/office/drawing/2014/main" id="{E4139574-C4EA-4556-ACDA-A76931EBDCA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562" y="439"/>
              <a:ext cx="1684" cy="1683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" name="Oval 6">
              <a:extLst>
                <a:ext uri="{FF2B5EF4-FFF2-40B4-BE49-F238E27FC236}">
                  <a16:creationId xmlns:a16="http://schemas.microsoft.com/office/drawing/2014/main" id="{0F894546-4EC9-47C0-B71E-69BF9C0F13C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673" y="548"/>
              <a:ext cx="1461" cy="1463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54118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" name="Oval 7">
              <a:extLst>
                <a:ext uri="{FF2B5EF4-FFF2-40B4-BE49-F238E27FC236}">
                  <a16:creationId xmlns:a16="http://schemas.microsoft.com/office/drawing/2014/main" id="{7F8A18EB-028B-4904-82AC-271110A4EA8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685" y="536"/>
              <a:ext cx="1461" cy="146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63529"/>
                    <a:invGamma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3" name="Oval 8">
              <a:extLst>
                <a:ext uri="{FF2B5EF4-FFF2-40B4-BE49-F238E27FC236}">
                  <a16:creationId xmlns:a16="http://schemas.microsoft.com/office/drawing/2014/main" id="{75655967-7598-41D4-AD1E-3A8317F57AB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45" y="622"/>
              <a:ext cx="1317" cy="131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6" name="Oval 9">
              <a:extLst>
                <a:ext uri="{FF2B5EF4-FFF2-40B4-BE49-F238E27FC236}">
                  <a16:creationId xmlns:a16="http://schemas.microsoft.com/office/drawing/2014/main" id="{65267B8C-8F7A-483A-951E-B580A472232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66" y="643"/>
              <a:ext cx="1276" cy="1277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46275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7" name="Oval 10">
              <a:extLst>
                <a:ext uri="{FF2B5EF4-FFF2-40B4-BE49-F238E27FC236}">
                  <a16:creationId xmlns:a16="http://schemas.microsoft.com/office/drawing/2014/main" id="{A9AA3EC5-79DC-4B8D-AB98-769BCA68198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82" y="650"/>
              <a:ext cx="1246" cy="1246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D6E1E2">
                    <a:gamma/>
                    <a:tint val="34902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8" name="Oval 11">
              <a:extLst>
                <a:ext uri="{FF2B5EF4-FFF2-40B4-BE49-F238E27FC236}">
                  <a16:creationId xmlns:a16="http://schemas.microsoft.com/office/drawing/2014/main" id="{706F5677-482E-4BA0-962F-377CD39AFA7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96" y="662"/>
              <a:ext cx="1184" cy="1164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79216"/>
                    <a:invGamma/>
                  </a:srgbClr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9" name="Oval 12">
              <a:extLst>
                <a:ext uri="{FF2B5EF4-FFF2-40B4-BE49-F238E27FC236}">
                  <a16:creationId xmlns:a16="http://schemas.microsoft.com/office/drawing/2014/main" id="{252F8531-A078-4482-B2EE-FB90AD06E56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865" y="695"/>
              <a:ext cx="1053" cy="945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>
                    <a:alpha val="38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pic>
          <p:nvPicPr>
            <p:cNvPr id="30" name="Picture 13" descr="mark">
              <a:extLst>
                <a:ext uri="{FF2B5EF4-FFF2-40B4-BE49-F238E27FC236}">
                  <a16:creationId xmlns:a16="http://schemas.microsoft.com/office/drawing/2014/main" id="{EFA5FDD7-8288-46D9-A2A0-D844DBC1A7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4" y="793"/>
              <a:ext cx="1011" cy="1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F0C5823A-D2D1-41BC-9597-EDE8E6B8977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7168" y="5829096"/>
            <a:ext cx="578605" cy="674546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286910" y="1517960"/>
            <a:ext cx="7511799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smtClean="0"/>
              <a:t>2.1. </a:t>
            </a:r>
            <a:r>
              <a:rPr lang="en-US" sz="2600"/>
              <a:t>Input Validation and </a:t>
            </a:r>
            <a:r>
              <a:rPr lang="en-US" sz="2600" smtClean="0"/>
              <a:t>CORS </a:t>
            </a:r>
            <a:r>
              <a:rPr lang="en-US" sz="2000" smtClean="0"/>
              <a:t>(</a:t>
            </a:r>
            <a:r>
              <a:rPr lang="en-US" sz="2000"/>
              <a:t>Cross-Origin Requests</a:t>
            </a:r>
            <a:r>
              <a:rPr lang="en-US" sz="2000" smtClean="0"/>
              <a:t>)</a:t>
            </a:r>
            <a:r>
              <a:rPr lang="en-US" sz="2600"/>
              <a:t/>
            </a:r>
            <a:br>
              <a:rPr lang="en-US" sz="2600"/>
            </a:br>
            <a:r>
              <a:rPr lang="en-US" sz="2600" smtClean="0">
                <a:solidFill>
                  <a:srgbClr val="C00000"/>
                </a:solidFill>
              </a:rPr>
              <a:t>2.2. </a:t>
            </a:r>
            <a:r>
              <a:rPr lang="en-US" sz="2600">
                <a:solidFill>
                  <a:srgbClr val="C00000"/>
                </a:solidFill>
              </a:rPr>
              <a:t>Data </a:t>
            </a:r>
            <a:r>
              <a:rPr lang="en-US" sz="2600" smtClean="0">
                <a:solidFill>
                  <a:srgbClr val="C00000"/>
                </a:solidFill>
              </a:rPr>
              <a:t>Encryption</a:t>
            </a:r>
            <a:r>
              <a:rPr lang="en-US" sz="2600">
                <a:solidFill>
                  <a:srgbClr val="C00000"/>
                </a:solidFill>
              </a:rPr>
              <a:t/>
            </a:r>
            <a:br>
              <a:rPr lang="en-US" sz="2600">
                <a:solidFill>
                  <a:srgbClr val="C00000"/>
                </a:solidFill>
              </a:rPr>
            </a:br>
            <a:r>
              <a:rPr lang="en-US" sz="2600" smtClean="0"/>
              <a:t>2.3. </a:t>
            </a:r>
            <a:r>
              <a:rPr lang="en-US" sz="2600"/>
              <a:t>Authentication and Authorization</a:t>
            </a:r>
            <a:br>
              <a:rPr lang="en-US" sz="2600"/>
            </a:br>
            <a:r>
              <a:rPr lang="en-US" sz="2600" smtClean="0"/>
              <a:t>2.4. </a:t>
            </a:r>
            <a:r>
              <a:rPr lang="en-US" sz="2600"/>
              <a:t>Rate </a:t>
            </a:r>
            <a:r>
              <a:rPr lang="en-US" sz="2600" smtClean="0"/>
              <a:t>Limiting</a:t>
            </a:r>
          </a:p>
          <a:p>
            <a:pPr>
              <a:lnSpc>
                <a:spcPct val="150000"/>
              </a:lnSpc>
            </a:pPr>
            <a:r>
              <a:rPr lang="en-US" sz="260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2.5. Prevent XSS </a:t>
            </a:r>
            <a:r>
              <a:rPr lang="en-US" sz="2600">
                <a:solidFill>
                  <a:schemeClr val="tx1">
                    <a:lumMod val="75000"/>
                    <a:lumOff val="25000"/>
                  </a:schemeClr>
                </a:solidFill>
              </a:rPr>
              <a:t>(Cross-Site Scripting</a:t>
            </a:r>
            <a:r>
              <a:rPr lang="en-US" sz="260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sz="26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600">
                <a:solidFill>
                  <a:schemeClr val="tx1">
                    <a:lumMod val="75000"/>
                    <a:lumOff val="25000"/>
                  </a:schemeClr>
                </a:solidFill>
              </a:rPr>
              <a:t>2.6. </a:t>
            </a:r>
            <a:r>
              <a:rPr lang="en-US" sz="260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Prevent CSRF </a:t>
            </a:r>
            <a:r>
              <a:rPr lang="en-US" sz="2600">
                <a:solidFill>
                  <a:schemeClr val="tx1">
                    <a:lumMod val="75000"/>
                    <a:lumOff val="25000"/>
                  </a:schemeClr>
                </a:solidFill>
              </a:rPr>
              <a:t>(Cross-Site Request Forgery</a:t>
            </a:r>
            <a:r>
              <a:rPr lang="en-US" sz="260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r>
              <a:rPr lang="en-US" sz="260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60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60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2.7. </a:t>
            </a:r>
            <a:r>
              <a:rPr lang="en-US" sz="2600">
                <a:solidFill>
                  <a:schemeClr val="tx1">
                    <a:lumMod val="75000"/>
                    <a:lumOff val="25000"/>
                  </a:schemeClr>
                </a:solidFill>
              </a:rPr>
              <a:t>Using an API Firewall (API Gateway)</a:t>
            </a:r>
            <a:br>
              <a:rPr lang="en-US" sz="260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1664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 xmlns:a14="http://schemas.microsoft.com/office/drawing/2010/main" xmlns:a16="http://schemas.microsoft.com/office/drawing/2014/main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2.2. </a:t>
            </a:r>
            <a:r>
              <a:rPr lang="en-US"/>
              <a:t>Data Encryption </a:t>
            </a:r>
            <a:endParaRPr lang="en-GB" sz="2800" dirty="0">
              <a:solidFill>
                <a:srgbClr val="FFFF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473046" y="704679"/>
            <a:ext cx="11062749" cy="5845208"/>
          </a:xfrm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400" smtClean="0">
                <a:sym typeface="Wingdings" panose="05000000000000000000" pitchFamily="2" charset="2"/>
              </a:rPr>
              <a:t>HTTPS/TLS to </a:t>
            </a:r>
            <a:r>
              <a:rPr lang="en-US" sz="2400">
                <a:sym typeface="Wingdings" panose="05000000000000000000" pitchFamily="2" charset="2"/>
              </a:rPr>
              <a:t>encrypt all data transmitted between client and server, helping to prevent Man-in-the-Middle </a:t>
            </a:r>
            <a:r>
              <a:rPr lang="en-US" sz="2400" smtClean="0">
                <a:sym typeface="Wingdings" panose="05000000000000000000" pitchFamily="2" charset="2"/>
              </a:rPr>
              <a:t>attacks.    </a:t>
            </a:r>
            <a:r>
              <a:rPr lang="en-US" sz="2400" smtClean="0">
                <a:solidFill>
                  <a:srgbClr val="006600"/>
                </a:solidFill>
                <a:sym typeface="Wingdings" panose="05000000000000000000" pitchFamily="2" charset="2"/>
              </a:rPr>
              <a:t>//in Program.cs</a:t>
            </a:r>
          </a:p>
          <a:p>
            <a:pPr marL="1604963">
              <a:lnSpc>
                <a:spcPct val="120000"/>
              </a:lnSpc>
              <a:spcBef>
                <a:spcPts val="1200"/>
              </a:spcBef>
            </a:pPr>
            <a:r>
              <a:rPr lang="en-GB" sz="2400" smtClean="0">
                <a:solidFill>
                  <a:srgbClr val="000000"/>
                </a:solidFill>
                <a:latin typeface="Cascadia Mono" panose="020B0609020000020004" pitchFamily="49" charset="0"/>
              </a:rPr>
              <a:t>app.</a:t>
            </a:r>
            <a:r>
              <a:rPr lang="en-GB" sz="2400" smtClean="0">
                <a:solidFill>
                  <a:srgbClr val="C00000"/>
                </a:solidFill>
                <a:latin typeface="Cascadia Mono" panose="020B0609020000020004" pitchFamily="49" charset="0"/>
              </a:rPr>
              <a:t>UseHttpsRedirection</a:t>
            </a:r>
            <a:r>
              <a:rPr lang="en-GB" sz="240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br>
              <a:rPr lang="en-GB" sz="2400">
                <a:solidFill>
                  <a:srgbClr val="000000"/>
                </a:solidFill>
                <a:latin typeface="Cascadia Mono" panose="020B0609020000020004" pitchFamily="49" charset="0"/>
              </a:rPr>
            </a:br>
            <a:r>
              <a:rPr lang="en-GB" sz="2400">
                <a:solidFill>
                  <a:srgbClr val="000000"/>
                </a:solidFill>
                <a:latin typeface="Cascadia Mono" panose="020B0609020000020004" pitchFamily="49" charset="0"/>
              </a:rPr>
              <a:t>app.</a:t>
            </a:r>
            <a:r>
              <a:rPr lang="en-GB" sz="2400">
                <a:solidFill>
                  <a:srgbClr val="990000"/>
                </a:solidFill>
                <a:latin typeface="Cascadia Mono" panose="020B0609020000020004" pitchFamily="49" charset="0"/>
              </a:rPr>
              <a:t>UseHsts</a:t>
            </a:r>
            <a:r>
              <a:rPr lang="en-GB" sz="2400">
                <a:solidFill>
                  <a:srgbClr val="000000"/>
                </a:solidFill>
                <a:latin typeface="Cascadia Mono" panose="020B0609020000020004" pitchFamily="49" charset="0"/>
              </a:rPr>
              <a:t>(); </a:t>
            </a:r>
            <a:r>
              <a:rPr lang="en-US" sz="2400" smtClean="0">
                <a:solidFill>
                  <a:srgbClr val="006600"/>
                </a:solidFill>
                <a:sym typeface="Wingdings" panose="05000000000000000000" pitchFamily="2" charset="2"/>
              </a:rPr>
              <a:t>// Browser only uses https</a:t>
            </a:r>
            <a:endParaRPr lang="en-GB" sz="2400" smtClean="0"/>
          </a:p>
          <a:p>
            <a:pPr marL="342900" indent="-342900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400" smtClean="0">
                <a:sym typeface="Wingdings" panose="05000000000000000000" pitchFamily="2" charset="2"/>
              </a:rPr>
              <a:t>In the </a:t>
            </a:r>
            <a:r>
              <a:rPr lang="en-US" sz="2400" smtClean="0">
                <a:solidFill>
                  <a:srgbClr val="C00000"/>
                </a:solidFill>
                <a:sym typeface="Wingdings" panose="05000000000000000000" pitchFamily="2" charset="2"/>
              </a:rPr>
              <a:t>launchSettings.json</a:t>
            </a:r>
            <a:r>
              <a:rPr lang="en-US" sz="2400" smtClean="0">
                <a:sym typeface="Wingdings" panose="05000000000000000000" pitchFamily="2" charset="2"/>
              </a:rPr>
              <a:t> file, make sure the configuration has https enabled</a:t>
            </a:r>
          </a:p>
          <a:p>
            <a:pPr marL="1717675">
              <a:lnSpc>
                <a:spcPct val="100000"/>
              </a:lnSpc>
              <a:spcBef>
                <a:spcPts val="0"/>
              </a:spcBef>
            </a:pPr>
            <a:r>
              <a:rPr lang="en-GB" sz="2400" smtClean="0"/>
              <a:t>"</a:t>
            </a:r>
            <a:r>
              <a:rPr lang="en-GB" sz="2400">
                <a:solidFill>
                  <a:srgbClr val="0066CC"/>
                </a:solidFill>
              </a:rPr>
              <a:t>iisSettings</a:t>
            </a:r>
            <a:r>
              <a:rPr lang="en-GB" sz="2400"/>
              <a:t>": { </a:t>
            </a:r>
            <a:endParaRPr lang="en-GB" sz="2400" smtClean="0"/>
          </a:p>
          <a:p>
            <a:pPr marL="1717675">
              <a:lnSpc>
                <a:spcPct val="100000"/>
              </a:lnSpc>
              <a:spcBef>
                <a:spcPts val="0"/>
              </a:spcBef>
            </a:pPr>
            <a:r>
              <a:rPr lang="en-GB" sz="2400" smtClean="0"/>
              <a:t>     "</a:t>
            </a:r>
            <a:r>
              <a:rPr lang="en-GB" sz="2400">
                <a:solidFill>
                  <a:srgbClr val="0066CC"/>
                </a:solidFill>
              </a:rPr>
              <a:t>iisExpress</a:t>
            </a:r>
            <a:r>
              <a:rPr lang="en-GB" sz="2400"/>
              <a:t>": { </a:t>
            </a:r>
            <a:endParaRPr lang="en-GB" sz="2400" smtClean="0"/>
          </a:p>
          <a:p>
            <a:pPr marL="1717675">
              <a:lnSpc>
                <a:spcPct val="100000"/>
              </a:lnSpc>
              <a:spcBef>
                <a:spcPts val="0"/>
              </a:spcBef>
            </a:pPr>
            <a:r>
              <a:rPr lang="en-GB" sz="2400" smtClean="0"/>
              <a:t>		"</a:t>
            </a:r>
            <a:r>
              <a:rPr lang="en-GB" sz="2400">
                <a:solidFill>
                  <a:srgbClr val="0066CC"/>
                </a:solidFill>
              </a:rPr>
              <a:t>sslPort</a:t>
            </a:r>
            <a:r>
              <a:rPr lang="en-GB" sz="2400"/>
              <a:t>": 44382 </a:t>
            </a:r>
            <a:endParaRPr lang="en-GB" sz="2400" smtClean="0"/>
          </a:p>
          <a:p>
            <a:pPr marL="1717675">
              <a:lnSpc>
                <a:spcPct val="100000"/>
              </a:lnSpc>
              <a:spcBef>
                <a:spcPts val="0"/>
              </a:spcBef>
            </a:pPr>
            <a:r>
              <a:rPr lang="en-GB" sz="2400"/>
              <a:t> </a:t>
            </a:r>
            <a:r>
              <a:rPr lang="en-GB" sz="2400" smtClean="0"/>
              <a:t>     }</a:t>
            </a:r>
          </a:p>
          <a:p>
            <a:pPr marL="1717675">
              <a:lnSpc>
                <a:spcPct val="100000"/>
              </a:lnSpc>
              <a:spcBef>
                <a:spcPts val="0"/>
              </a:spcBef>
            </a:pPr>
            <a:r>
              <a:rPr lang="en-GB" sz="2400" smtClean="0"/>
              <a:t> }</a:t>
            </a:r>
            <a:endParaRPr lang="en-US" sz="2400">
              <a:sym typeface="Wingdings" panose="05000000000000000000" pitchFamily="2" charset="2"/>
            </a:endParaRPr>
          </a:p>
          <a:p>
            <a:pPr marL="342900" indent="-342900">
              <a:lnSpc>
                <a:spcPct val="100000"/>
              </a:lnSpc>
              <a:spcBef>
                <a:spcPts val="1800"/>
              </a:spcBef>
              <a:buFont typeface="Wingdings" panose="05000000000000000000" pitchFamily="2" charset="2"/>
              <a:buChar char="ü"/>
            </a:pPr>
            <a:r>
              <a:rPr lang="en-US" sz="2400" smtClean="0">
                <a:sym typeface="Wingdings" panose="05000000000000000000" pitchFamily="2" charset="2"/>
              </a:rPr>
              <a:t>Write </a:t>
            </a:r>
            <a:r>
              <a:rPr lang="en-US" sz="2400">
                <a:sym typeface="Wingdings" panose="05000000000000000000" pitchFamily="2" charset="2"/>
              </a:rPr>
              <a:t>code that handles properties </a:t>
            </a:r>
            <a:r>
              <a:rPr lang="en-US" sz="2400" smtClean="0">
                <a:sym typeface="Wingdings" panose="05000000000000000000" pitchFamily="2" charset="2"/>
              </a:rPr>
              <a:t>encryption </a:t>
            </a:r>
            <a:r>
              <a:rPr lang="en-US" sz="2400">
                <a:sym typeface="Wingdings" panose="05000000000000000000" pitchFamily="2" charset="2"/>
              </a:rPr>
              <a:t>with sensitive </a:t>
            </a:r>
            <a:r>
              <a:rPr lang="en-US" sz="2400" smtClean="0">
                <a:sym typeface="Wingdings" panose="05000000000000000000" pitchFamily="2" charset="2"/>
              </a:rPr>
              <a:t>data</a:t>
            </a:r>
          </a:p>
          <a:p>
            <a:pPr marL="0" lvl="1">
              <a:lnSpc>
                <a:spcPct val="100000"/>
              </a:lnSpc>
              <a:spcBef>
                <a:spcPts val="600"/>
              </a:spcBef>
            </a:pPr>
            <a:r>
              <a:rPr lang="en-US" sz="240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	</a:t>
            </a:r>
            <a:r>
              <a:rPr lang="en-US" sz="240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Ex: </a:t>
            </a:r>
            <a:r>
              <a:rPr lang="en-US" sz="240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username</a:t>
            </a:r>
            <a:r>
              <a:rPr 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password, connection </a:t>
            </a:r>
            <a:r>
              <a:rPr lang="en-US" sz="240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string, s</a:t>
            </a:r>
            <a:r>
              <a:rPr lang="en-GB" sz="240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ecret key</a:t>
            </a:r>
            <a:r>
              <a:rPr lang="en-GB" sz="24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240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 Id</a:t>
            </a:r>
            <a:r>
              <a:rPr lang="en-GB" sz="24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240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 secret… in appsetting.json</a:t>
            </a:r>
            <a:endParaRPr lang="en-US" sz="240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866255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2.2. </a:t>
            </a:r>
            <a:r>
              <a:rPr lang="en-US"/>
              <a:t>Data Encryption </a:t>
            </a:r>
            <a:endParaRPr lang="en-GB" sz="2800" dirty="0">
              <a:solidFill>
                <a:srgbClr val="FFFF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71120" y="667891"/>
            <a:ext cx="11907520" cy="5933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 Encrypt(</a:t>
            </a:r>
            <a:r>
              <a:rPr lang="en-US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 plainText, </a:t>
            </a:r>
            <a:r>
              <a:rPr lang="en-US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 key)</a:t>
            </a: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GB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(Aes aesAlg = Aes.Create())</a:t>
            </a: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pPr>
              <a:lnSpc>
                <a:spcPct val="120000"/>
              </a:lnSpc>
            </a:pP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GB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keyBytes = Encoding.UTF8.GetBytes(key.PadRight(32)); </a:t>
            </a:r>
            <a:r>
              <a:rPr lang="en-GB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en-GB" smtClean="0">
                <a:solidFill>
                  <a:srgbClr val="008000"/>
                </a:solidFill>
                <a:latin typeface="Cascadia Mono" panose="020B0609020000020004" pitchFamily="49" charset="0"/>
              </a:rPr>
              <a:t>length key 32 </a:t>
            </a:r>
            <a:r>
              <a:rPr lang="en-GB">
                <a:solidFill>
                  <a:srgbClr val="008000"/>
                </a:solidFill>
                <a:latin typeface="Cascadia Mono" panose="020B0609020000020004" pitchFamily="49" charset="0"/>
              </a:rPr>
              <a:t>byte</a:t>
            </a:r>
          </a:p>
          <a:p>
            <a:pPr>
              <a:lnSpc>
                <a:spcPct val="120000"/>
              </a:lnSpc>
            </a:pP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    aesAlg.Key = keyBytes;</a:t>
            </a:r>
          </a:p>
          <a:p>
            <a:pPr>
              <a:lnSpc>
                <a:spcPct val="120000"/>
              </a:lnSpc>
            </a:pP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    aesAlg.IV = </a:t>
            </a:r>
            <a:r>
              <a:rPr lang="en-GB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>
                <a:solidFill>
                  <a:srgbClr val="0000FF"/>
                </a:solidFill>
                <a:latin typeface="Cascadia Mono" panose="020B0609020000020004" pitchFamily="49" charset="0"/>
              </a:rPr>
              <a:t>byte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[16]; </a:t>
            </a:r>
            <a:r>
              <a:rPr lang="en-GB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en-GB" smtClean="0">
                <a:solidFill>
                  <a:srgbClr val="008000"/>
                </a:solidFill>
                <a:latin typeface="Cascadia Mono" panose="020B0609020000020004" pitchFamily="49" charset="0"/>
              </a:rPr>
              <a:t>(Initialization </a:t>
            </a:r>
            <a:r>
              <a:rPr lang="en-GB">
                <a:solidFill>
                  <a:srgbClr val="008000"/>
                </a:solidFill>
                <a:latin typeface="Cascadia Mono" panose="020B0609020000020004" pitchFamily="49" charset="0"/>
              </a:rPr>
              <a:t>Vector)</a:t>
            </a:r>
          </a:p>
          <a:p>
            <a:pPr>
              <a:lnSpc>
                <a:spcPct val="120000"/>
              </a:lnSpc>
            </a:pP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GB">
                <a:solidFill>
                  <a:srgbClr val="0066CC"/>
                </a:solidFill>
                <a:latin typeface="Cascadia Mono" panose="020B0609020000020004" pitchFamily="49" charset="0"/>
              </a:rPr>
              <a:t>ICryptoTransform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encryptor = aesAlg.</a:t>
            </a:r>
            <a:r>
              <a:rPr lang="en-GB">
                <a:solidFill>
                  <a:srgbClr val="C00000"/>
                </a:solidFill>
                <a:latin typeface="Cascadia Mono" panose="020B0609020000020004" pitchFamily="49" charset="0"/>
              </a:rPr>
              <a:t>CreateEncryptor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(aesAlg.Key, aesAlg.IV);</a:t>
            </a:r>
          </a:p>
          <a:p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 msEncrypt = </a:t>
            </a:r>
            <a:r>
              <a:rPr lang="en-US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>
                <a:solidFill>
                  <a:srgbClr val="0066CC"/>
                </a:solidFill>
                <a:latin typeface="Cascadia Mono" panose="020B0609020000020004" pitchFamily="49" charset="0"/>
              </a:rPr>
              <a:t>MemoryStream</a:t>
            </a: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())</a:t>
            </a: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GB" sz="160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</a:t>
            </a:r>
            <a:r>
              <a:rPr lang="en-GB" sz="160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GB" sz="160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csEncrypt = </a:t>
            </a:r>
            <a:r>
              <a:rPr lang="en-GB" sz="160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1600">
                <a:solidFill>
                  <a:srgbClr val="0066CC"/>
                </a:solidFill>
                <a:latin typeface="Cascadia Mono" panose="020B0609020000020004" pitchFamily="49" charset="0"/>
              </a:rPr>
              <a:t>CryptoStream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(msEncrypt, encryptor, </a:t>
            </a:r>
            <a:r>
              <a:rPr lang="en-GB" sz="1600">
                <a:solidFill>
                  <a:srgbClr val="0066CC"/>
                </a:solidFill>
                <a:latin typeface="Cascadia Mono" panose="020B0609020000020004" pitchFamily="49" charset="0"/>
              </a:rPr>
              <a:t>CryptoStreamMode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.Write))</a:t>
            </a:r>
          </a:p>
          <a:p>
            <a:pPr>
              <a:lnSpc>
                <a:spcPct val="120000"/>
              </a:lnSpc>
            </a:pP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 swEncrypt = </a:t>
            </a:r>
            <a:r>
              <a:rPr lang="en-US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>
                <a:solidFill>
                  <a:srgbClr val="0066CC"/>
                </a:solidFill>
                <a:latin typeface="Cascadia Mono" panose="020B0609020000020004" pitchFamily="49" charset="0"/>
              </a:rPr>
              <a:t>StreamWriter</a:t>
            </a: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(csEncrypt))</a:t>
            </a: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        {</a:t>
            </a: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            swEncrypt.Write(plainText);</a:t>
            </a: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pPr>
              <a:lnSpc>
                <a:spcPct val="120000"/>
              </a:lnSpc>
            </a:pP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GB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encrypted = msEncrypt.ToArray();</a:t>
            </a:r>
          </a:p>
          <a:p>
            <a:pPr>
              <a:lnSpc>
                <a:spcPct val="120000"/>
              </a:lnSpc>
            </a:pP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GB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Convert.ToBase64String(encrypted);</a:t>
            </a: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7294505" y="104894"/>
            <a:ext cx="48974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System.Security.Cryptography;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5880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2.2. </a:t>
            </a:r>
            <a:r>
              <a:rPr lang="en-US"/>
              <a:t>Data Encryption </a:t>
            </a:r>
            <a:endParaRPr lang="en-GB" sz="2800" dirty="0">
              <a:solidFill>
                <a:srgbClr val="FFFF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816551"/>
            <a:ext cx="12192000" cy="57431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mtClean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 Decrypt(</a:t>
            </a:r>
            <a:r>
              <a:rPr lang="en-US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 cipherText, </a:t>
            </a:r>
            <a:r>
              <a:rPr lang="en-US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 key)</a:t>
            </a:r>
          </a:p>
          <a:p>
            <a:endParaRPr lang="en-GB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GB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(Aes aesAlg = Aes.Create())</a:t>
            </a: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 {</a:t>
            </a:r>
          </a:p>
          <a:p>
            <a:pPr>
              <a:lnSpc>
                <a:spcPct val="120000"/>
              </a:lnSpc>
            </a:pP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GB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keyBytes = Encoding.UTF8.GetBytes(key.PadRight(32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));</a:t>
            </a:r>
            <a:endParaRPr lang="en-GB">
              <a:solidFill>
                <a:srgbClr val="008000"/>
              </a:solidFill>
              <a:latin typeface="Cascadia Mono" panose="020B06090200000200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aesAlg.Key = keyBytes;</a:t>
            </a:r>
          </a:p>
          <a:p>
            <a:pPr>
              <a:lnSpc>
                <a:spcPct val="120000"/>
              </a:lnSpc>
            </a:pPr>
            <a:r>
              <a:rPr lang="vi-VN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vi-VN">
                <a:solidFill>
                  <a:srgbClr val="000000"/>
                </a:solidFill>
                <a:latin typeface="Cascadia Mono" panose="020B0609020000020004" pitchFamily="49" charset="0"/>
              </a:rPr>
              <a:t>aesAlg.IV = </a:t>
            </a:r>
            <a:r>
              <a:rPr lang="vi-VN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vi-VN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vi-VN">
                <a:solidFill>
                  <a:srgbClr val="0000FF"/>
                </a:solidFill>
                <a:latin typeface="Cascadia Mono" panose="020B0609020000020004" pitchFamily="49" charset="0"/>
              </a:rPr>
              <a:t>byte</a:t>
            </a:r>
            <a:r>
              <a:rPr lang="vi-VN">
                <a:solidFill>
                  <a:srgbClr val="000000"/>
                </a:solidFill>
                <a:latin typeface="Cascadia Mono" panose="020B0609020000020004" pitchFamily="49" charset="0"/>
              </a:rPr>
              <a:t>[16]; </a:t>
            </a:r>
            <a:endParaRPr lang="vi-VN">
              <a:solidFill>
                <a:srgbClr val="008000"/>
              </a:solidFill>
              <a:latin typeface="Cascadia Mono" panose="020B06090200000200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GB">
                <a:solidFill>
                  <a:srgbClr val="0066CC"/>
                </a:solidFill>
                <a:latin typeface="Cascadia Mono" panose="020B0609020000020004" pitchFamily="49" charset="0"/>
              </a:rPr>
              <a:t>ICryptoTransform 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decryptor = aesAlg.</a:t>
            </a:r>
            <a:r>
              <a:rPr lang="en-GB">
                <a:solidFill>
                  <a:srgbClr val="C00000"/>
                </a:solidFill>
                <a:latin typeface="Cascadia Mono" panose="020B0609020000020004" pitchFamily="49" charset="0"/>
              </a:rPr>
              <a:t>CreateDecryptor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(aesAlg.Key, aesAlg.IV);</a:t>
            </a:r>
          </a:p>
          <a:p>
            <a:pPr>
              <a:lnSpc>
                <a:spcPct val="120000"/>
              </a:lnSpc>
            </a:pP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GB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cipherBytes = </a:t>
            </a:r>
            <a:r>
              <a:rPr lang="en-GB" smtClean="0">
                <a:solidFill>
                  <a:srgbClr val="0066CC"/>
                </a:solidFill>
                <a:latin typeface="Cascadia Mono" panose="020B0609020000020004" pitchFamily="49" charset="0"/>
              </a:rPr>
              <a:t>Convert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.</a:t>
            </a:r>
            <a:r>
              <a:rPr lang="en-GB" smtClean="0">
                <a:solidFill>
                  <a:srgbClr val="C00000"/>
                </a:solidFill>
                <a:latin typeface="Cascadia Mono" panose="020B0609020000020004" pitchFamily="49" charset="0"/>
              </a:rPr>
              <a:t>FromBase64String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(cipherText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 msDecrypt = </a:t>
            </a:r>
            <a:r>
              <a:rPr lang="en-US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>
                <a:solidFill>
                  <a:srgbClr val="0066CC"/>
                </a:solidFill>
                <a:latin typeface="Cascadia Mono" panose="020B0609020000020004" pitchFamily="49" charset="0"/>
              </a:rPr>
              <a:t>MemoryStream</a:t>
            </a: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(cipherBytes))</a:t>
            </a:r>
          </a:p>
          <a:p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>
              <a:lnSpc>
                <a:spcPct val="120000"/>
              </a:lnSpc>
            </a:pP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      </a:t>
            </a:r>
            <a:r>
              <a:rPr lang="en-GB" sz="1600" smtClean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GB" sz="160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GB" sz="160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csDecrypt = </a:t>
            </a:r>
            <a:r>
              <a:rPr lang="en-GB" sz="160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1600">
                <a:solidFill>
                  <a:srgbClr val="0066CC"/>
                </a:solidFill>
                <a:latin typeface="Cascadia Mono" panose="020B0609020000020004" pitchFamily="49" charset="0"/>
              </a:rPr>
              <a:t>CryptoStream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(msDecrypt, decryptor, CryptoStreamMode.Read))</a:t>
            </a:r>
          </a:p>
          <a:p>
            <a:pPr>
              <a:lnSpc>
                <a:spcPct val="120000"/>
              </a:lnSpc>
            </a:pP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             </a:t>
            </a:r>
            <a:r>
              <a:rPr lang="en-US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 srDecrypt = </a:t>
            </a:r>
            <a:r>
              <a:rPr lang="en-US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>
                <a:solidFill>
                  <a:srgbClr val="0066CC"/>
                </a:solidFill>
                <a:latin typeface="Cascadia Mono" panose="020B0609020000020004" pitchFamily="49" charset="0"/>
              </a:rPr>
              <a:t>StreamReader</a:t>
            </a: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(csDecrypt))</a:t>
            </a: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         {</a:t>
            </a: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             </a:t>
            </a:r>
            <a:r>
              <a:rPr lang="en-GB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srDecrypt.ReadToEnd();</a:t>
            </a: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         }</a:t>
            </a:r>
          </a:p>
          <a:p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530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568" y="274419"/>
            <a:ext cx="481961" cy="111221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FD2705F-8A3F-43FB-B599-CD432A022700}"/>
              </a:ext>
            </a:extLst>
          </p:cNvPr>
          <p:cNvSpPr txBox="1"/>
          <p:nvPr/>
        </p:nvSpPr>
        <p:spPr>
          <a:xfrm>
            <a:off x="5367959" y="371864"/>
            <a:ext cx="54845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cap="all" smtClean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Homework 1</a:t>
            </a:r>
            <a:endParaRPr lang="en-US" sz="4000" b="1" cap="all">
              <a:solidFill>
                <a:srgbClr val="66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7DE2944F-AE04-492A-BB15-9E9B6DBB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920AF-2440-4552-8F7A-6F88C8FE507A}" type="slidenum">
              <a:rPr lang="en-US" sz="1000" smtClean="0"/>
              <a:pPr/>
              <a:t>23</a:t>
            </a:fld>
            <a:endParaRPr lang="en-US" sz="1000"/>
          </a:p>
        </p:txBody>
      </p:sp>
      <p:grpSp>
        <p:nvGrpSpPr>
          <p:cNvPr id="13" name="Group 17">
            <a:extLst>
              <a:ext uri="{FF2B5EF4-FFF2-40B4-BE49-F238E27FC236}">
                <a16:creationId xmlns:a16="http://schemas.microsoft.com/office/drawing/2014/main" id="{6080DA0D-484A-4C70-BB3A-D9040DBEAE59}"/>
              </a:ext>
            </a:extLst>
          </p:cNvPr>
          <p:cNvGrpSpPr>
            <a:grpSpLocks/>
          </p:cNvGrpSpPr>
          <p:nvPr/>
        </p:nvGrpSpPr>
        <p:grpSpPr bwMode="auto">
          <a:xfrm>
            <a:off x="487680" y="5710215"/>
            <a:ext cx="883826" cy="883301"/>
            <a:chOff x="2562" y="439"/>
            <a:chExt cx="1684" cy="1683"/>
          </a:xfrm>
        </p:grpSpPr>
        <p:sp>
          <p:nvSpPr>
            <p:cNvPr id="14" name="Oval 5">
              <a:extLst>
                <a:ext uri="{FF2B5EF4-FFF2-40B4-BE49-F238E27FC236}">
                  <a16:creationId xmlns:a16="http://schemas.microsoft.com/office/drawing/2014/main" id="{E4139574-C4EA-4556-ACDA-A76931EBDCA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562" y="439"/>
              <a:ext cx="1684" cy="1683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" name="Oval 6">
              <a:extLst>
                <a:ext uri="{FF2B5EF4-FFF2-40B4-BE49-F238E27FC236}">
                  <a16:creationId xmlns:a16="http://schemas.microsoft.com/office/drawing/2014/main" id="{0F894546-4EC9-47C0-B71E-69BF9C0F13C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673" y="548"/>
              <a:ext cx="1461" cy="1463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54118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" name="Oval 7">
              <a:extLst>
                <a:ext uri="{FF2B5EF4-FFF2-40B4-BE49-F238E27FC236}">
                  <a16:creationId xmlns:a16="http://schemas.microsoft.com/office/drawing/2014/main" id="{7F8A18EB-028B-4904-82AC-271110A4EA8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685" y="536"/>
              <a:ext cx="1461" cy="146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63529"/>
                    <a:invGamma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3" name="Oval 8">
              <a:extLst>
                <a:ext uri="{FF2B5EF4-FFF2-40B4-BE49-F238E27FC236}">
                  <a16:creationId xmlns:a16="http://schemas.microsoft.com/office/drawing/2014/main" id="{75655967-7598-41D4-AD1E-3A8317F57AB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45" y="622"/>
              <a:ext cx="1317" cy="131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6" name="Oval 9">
              <a:extLst>
                <a:ext uri="{FF2B5EF4-FFF2-40B4-BE49-F238E27FC236}">
                  <a16:creationId xmlns:a16="http://schemas.microsoft.com/office/drawing/2014/main" id="{65267B8C-8F7A-483A-951E-B580A472232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66" y="643"/>
              <a:ext cx="1276" cy="1277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46275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7" name="Oval 10">
              <a:extLst>
                <a:ext uri="{FF2B5EF4-FFF2-40B4-BE49-F238E27FC236}">
                  <a16:creationId xmlns:a16="http://schemas.microsoft.com/office/drawing/2014/main" id="{A9AA3EC5-79DC-4B8D-AB98-769BCA68198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82" y="650"/>
              <a:ext cx="1246" cy="1246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D6E1E2">
                    <a:gamma/>
                    <a:tint val="34902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8" name="Oval 11">
              <a:extLst>
                <a:ext uri="{FF2B5EF4-FFF2-40B4-BE49-F238E27FC236}">
                  <a16:creationId xmlns:a16="http://schemas.microsoft.com/office/drawing/2014/main" id="{706F5677-482E-4BA0-962F-377CD39AFA7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96" y="662"/>
              <a:ext cx="1184" cy="1164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79216"/>
                    <a:invGamma/>
                  </a:srgbClr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9" name="Oval 12">
              <a:extLst>
                <a:ext uri="{FF2B5EF4-FFF2-40B4-BE49-F238E27FC236}">
                  <a16:creationId xmlns:a16="http://schemas.microsoft.com/office/drawing/2014/main" id="{252F8531-A078-4482-B2EE-FB90AD06E56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865" y="695"/>
              <a:ext cx="1053" cy="945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>
                    <a:alpha val="38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pic>
          <p:nvPicPr>
            <p:cNvPr id="30" name="Picture 13" descr="mark">
              <a:extLst>
                <a:ext uri="{FF2B5EF4-FFF2-40B4-BE49-F238E27FC236}">
                  <a16:creationId xmlns:a16="http://schemas.microsoft.com/office/drawing/2014/main" id="{EFA5FDD7-8288-46D9-A2A0-D844DBC1A7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4" y="793"/>
              <a:ext cx="1011" cy="1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Rectangle 1"/>
          <p:cNvSpPr/>
          <p:nvPr/>
        </p:nvSpPr>
        <p:spPr>
          <a:xfrm>
            <a:off x="3467978" y="1402622"/>
            <a:ext cx="8281571" cy="40995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20000"/>
              </a:lnSpc>
              <a:spcBef>
                <a:spcPts val="1800"/>
              </a:spcBef>
              <a:buFont typeface="+mj-lt"/>
              <a:buAutoNum type="arabicPeriod"/>
            </a:pPr>
            <a:r>
              <a:rPr lang="en-US" sz="2400"/>
              <a:t>Write a library to encrypt and decrypt sensitive data like: </a:t>
            </a:r>
            <a:r>
              <a:rPr lang="en-US" sz="2400" smtClean="0"/>
              <a:t>contents in appstting.jon (connection string, authentication…) and other content you want implement.</a:t>
            </a:r>
          </a:p>
          <a:p>
            <a:pPr marL="514350" indent="-514350">
              <a:lnSpc>
                <a:spcPct val="120000"/>
              </a:lnSpc>
              <a:spcBef>
                <a:spcPts val="1800"/>
              </a:spcBef>
              <a:buFont typeface="+mj-lt"/>
              <a:buAutoNum type="arabicPeriod"/>
            </a:pPr>
            <a:r>
              <a:rPr lang="en-US" sz="2400"/>
              <a:t>Methods with write functionality (Post, Put, </a:t>
            </a:r>
            <a:r>
              <a:rPr lang="en-US" sz="2400" smtClean="0"/>
              <a:t>Delete, Attach…) placing </a:t>
            </a:r>
            <a:r>
              <a:rPr lang="en-US" sz="2400" smtClean="0">
                <a:solidFill>
                  <a:srgbClr val="C00000"/>
                </a:solidFill>
              </a:rPr>
              <a:t>[</a:t>
            </a:r>
            <a:r>
              <a:rPr lang="en-US" sz="2400">
                <a:solidFill>
                  <a:srgbClr val="C00000"/>
                </a:solidFill>
              </a:rPr>
              <a:t>FromBody] </a:t>
            </a:r>
            <a:r>
              <a:rPr lang="en-US" sz="2400"/>
              <a:t>keyword </a:t>
            </a:r>
            <a:r>
              <a:rPr lang="en-US" sz="2400" smtClean="0"/>
              <a:t>before </a:t>
            </a:r>
            <a:r>
              <a:rPr lang="en-US" sz="2400"/>
              <a:t>the model parameter </a:t>
            </a:r>
            <a:r>
              <a:rPr lang="en-US" sz="2400" smtClean="0"/>
              <a:t>and check the  </a:t>
            </a:r>
            <a:r>
              <a:rPr lang="en-US" sz="2400" smtClean="0">
                <a:solidFill>
                  <a:srgbClr val="0099CC"/>
                </a:solidFill>
              </a:rPr>
              <a:t>ModelState</a:t>
            </a:r>
            <a:r>
              <a:rPr lang="en-US" sz="2400" smtClean="0"/>
              <a:t>.IsValid property</a:t>
            </a:r>
          </a:p>
          <a:p>
            <a:pPr marL="514350" indent="-514350">
              <a:lnSpc>
                <a:spcPct val="120000"/>
              </a:lnSpc>
              <a:spcBef>
                <a:spcPts val="1800"/>
              </a:spcBef>
              <a:buFont typeface="+mj-lt"/>
              <a:buAutoNum type="arabicPeriod"/>
            </a:pPr>
            <a:r>
              <a:rPr lang="en-US" sz="2400"/>
              <a:t>Configure Input Validation and CORS (Cross-Origin Requests) to protect </a:t>
            </a:r>
            <a:r>
              <a:rPr lang="en-US" sz="2400" smtClean="0"/>
              <a:t>APIs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234541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 xmlns:a14="http://schemas.microsoft.com/office/drawing/2010/main" xmlns:a16="http://schemas.microsoft.com/office/drawing/2014/main">
      <p:transition spd="med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3763875" y="1350934"/>
            <a:ext cx="5311298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375" y="235090"/>
            <a:ext cx="481961" cy="111221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FD2705F-8A3F-43FB-B599-CD432A022700}"/>
              </a:ext>
            </a:extLst>
          </p:cNvPr>
          <p:cNvSpPr txBox="1"/>
          <p:nvPr/>
        </p:nvSpPr>
        <p:spPr>
          <a:xfrm>
            <a:off x="3667432" y="680948"/>
            <a:ext cx="62238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smtClean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API </a:t>
            </a:r>
            <a:r>
              <a:rPr lang="en-US" sz="4000" b="1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Security Solutions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7DE2944F-AE04-492A-BB15-9E9B6DBB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920AF-2440-4552-8F7A-6F88C8FE507A}" type="slidenum">
              <a:rPr lang="en-US" sz="1000" smtClean="0"/>
              <a:pPr/>
              <a:t>24</a:t>
            </a:fld>
            <a:endParaRPr lang="en-US" sz="1000"/>
          </a:p>
        </p:txBody>
      </p:sp>
      <p:grpSp>
        <p:nvGrpSpPr>
          <p:cNvPr id="13" name="Group 17">
            <a:extLst>
              <a:ext uri="{FF2B5EF4-FFF2-40B4-BE49-F238E27FC236}">
                <a16:creationId xmlns:a16="http://schemas.microsoft.com/office/drawing/2014/main" id="{6080DA0D-484A-4C70-BB3A-D9040DBEAE59}"/>
              </a:ext>
            </a:extLst>
          </p:cNvPr>
          <p:cNvGrpSpPr>
            <a:grpSpLocks/>
          </p:cNvGrpSpPr>
          <p:nvPr/>
        </p:nvGrpSpPr>
        <p:grpSpPr bwMode="auto">
          <a:xfrm>
            <a:off x="536842" y="5690550"/>
            <a:ext cx="883826" cy="883301"/>
            <a:chOff x="2562" y="439"/>
            <a:chExt cx="1684" cy="1683"/>
          </a:xfrm>
        </p:grpSpPr>
        <p:sp>
          <p:nvSpPr>
            <p:cNvPr id="14" name="Oval 5">
              <a:extLst>
                <a:ext uri="{FF2B5EF4-FFF2-40B4-BE49-F238E27FC236}">
                  <a16:creationId xmlns:a16="http://schemas.microsoft.com/office/drawing/2014/main" id="{E4139574-C4EA-4556-ACDA-A76931EBDCA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562" y="439"/>
              <a:ext cx="1684" cy="1683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" name="Oval 6">
              <a:extLst>
                <a:ext uri="{FF2B5EF4-FFF2-40B4-BE49-F238E27FC236}">
                  <a16:creationId xmlns:a16="http://schemas.microsoft.com/office/drawing/2014/main" id="{0F894546-4EC9-47C0-B71E-69BF9C0F13C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673" y="548"/>
              <a:ext cx="1461" cy="1463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54118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" name="Oval 7">
              <a:extLst>
                <a:ext uri="{FF2B5EF4-FFF2-40B4-BE49-F238E27FC236}">
                  <a16:creationId xmlns:a16="http://schemas.microsoft.com/office/drawing/2014/main" id="{7F8A18EB-028B-4904-82AC-271110A4EA8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685" y="536"/>
              <a:ext cx="1461" cy="146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63529"/>
                    <a:invGamma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3" name="Oval 8">
              <a:extLst>
                <a:ext uri="{FF2B5EF4-FFF2-40B4-BE49-F238E27FC236}">
                  <a16:creationId xmlns:a16="http://schemas.microsoft.com/office/drawing/2014/main" id="{75655967-7598-41D4-AD1E-3A8317F57AB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45" y="622"/>
              <a:ext cx="1317" cy="131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6" name="Oval 9">
              <a:extLst>
                <a:ext uri="{FF2B5EF4-FFF2-40B4-BE49-F238E27FC236}">
                  <a16:creationId xmlns:a16="http://schemas.microsoft.com/office/drawing/2014/main" id="{65267B8C-8F7A-483A-951E-B580A472232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66" y="643"/>
              <a:ext cx="1276" cy="1277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46275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7" name="Oval 10">
              <a:extLst>
                <a:ext uri="{FF2B5EF4-FFF2-40B4-BE49-F238E27FC236}">
                  <a16:creationId xmlns:a16="http://schemas.microsoft.com/office/drawing/2014/main" id="{A9AA3EC5-79DC-4B8D-AB98-769BCA68198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82" y="650"/>
              <a:ext cx="1246" cy="1246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D6E1E2">
                    <a:gamma/>
                    <a:tint val="34902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8" name="Oval 11">
              <a:extLst>
                <a:ext uri="{FF2B5EF4-FFF2-40B4-BE49-F238E27FC236}">
                  <a16:creationId xmlns:a16="http://schemas.microsoft.com/office/drawing/2014/main" id="{706F5677-482E-4BA0-962F-377CD39AFA7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96" y="662"/>
              <a:ext cx="1184" cy="1164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79216"/>
                    <a:invGamma/>
                  </a:srgbClr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9" name="Oval 12">
              <a:extLst>
                <a:ext uri="{FF2B5EF4-FFF2-40B4-BE49-F238E27FC236}">
                  <a16:creationId xmlns:a16="http://schemas.microsoft.com/office/drawing/2014/main" id="{252F8531-A078-4482-B2EE-FB90AD06E56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865" y="695"/>
              <a:ext cx="1053" cy="945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>
                    <a:alpha val="38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pic>
          <p:nvPicPr>
            <p:cNvPr id="30" name="Picture 13" descr="mark">
              <a:extLst>
                <a:ext uri="{FF2B5EF4-FFF2-40B4-BE49-F238E27FC236}">
                  <a16:creationId xmlns:a16="http://schemas.microsoft.com/office/drawing/2014/main" id="{EFA5FDD7-8288-46D9-A2A0-D844DBC1A7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4" y="793"/>
              <a:ext cx="1011" cy="1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F0C5823A-D2D1-41BC-9597-EDE8E6B8977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7168" y="5829096"/>
            <a:ext cx="578605" cy="674546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286910" y="1517960"/>
            <a:ext cx="7511799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smtClean="0"/>
              <a:t>2.1. </a:t>
            </a:r>
            <a:r>
              <a:rPr lang="en-US" sz="2600"/>
              <a:t>Input Validation and </a:t>
            </a:r>
            <a:r>
              <a:rPr lang="en-US" sz="2600" smtClean="0"/>
              <a:t>CORS </a:t>
            </a:r>
            <a:r>
              <a:rPr lang="en-US" sz="2000" smtClean="0"/>
              <a:t>(</a:t>
            </a:r>
            <a:r>
              <a:rPr lang="en-US" sz="2000"/>
              <a:t>Cross-Origin Requests</a:t>
            </a:r>
            <a:r>
              <a:rPr lang="en-US" sz="2000" smtClean="0"/>
              <a:t>)</a:t>
            </a:r>
            <a:r>
              <a:rPr lang="en-US" sz="2600"/>
              <a:t/>
            </a:r>
            <a:br>
              <a:rPr lang="en-US" sz="2600"/>
            </a:br>
            <a:r>
              <a:rPr lang="en-US" sz="2600" smtClean="0"/>
              <a:t>2.2. </a:t>
            </a:r>
            <a:r>
              <a:rPr lang="en-US" sz="2600"/>
              <a:t>Data </a:t>
            </a:r>
            <a:r>
              <a:rPr lang="en-US" sz="2600" smtClean="0"/>
              <a:t>Encryption</a:t>
            </a:r>
            <a:r>
              <a:rPr lang="en-US" sz="2600">
                <a:solidFill>
                  <a:srgbClr val="C00000"/>
                </a:solidFill>
              </a:rPr>
              <a:t/>
            </a:r>
            <a:br>
              <a:rPr lang="en-US" sz="2600">
                <a:solidFill>
                  <a:srgbClr val="C00000"/>
                </a:solidFill>
              </a:rPr>
            </a:br>
            <a:r>
              <a:rPr lang="en-US" sz="2600" smtClean="0">
                <a:solidFill>
                  <a:srgbClr val="C00000"/>
                </a:solidFill>
              </a:rPr>
              <a:t>2.3. </a:t>
            </a:r>
            <a:r>
              <a:rPr lang="en-US" sz="2600">
                <a:solidFill>
                  <a:srgbClr val="C00000"/>
                </a:solidFill>
              </a:rPr>
              <a:t>Authentication and Authorization</a:t>
            </a:r>
            <a:r>
              <a:rPr lang="en-US" sz="2600"/>
              <a:t/>
            </a:r>
            <a:br>
              <a:rPr lang="en-US" sz="2600"/>
            </a:br>
            <a:r>
              <a:rPr lang="en-US" sz="2600" smtClean="0"/>
              <a:t>2.4. </a:t>
            </a:r>
            <a:r>
              <a:rPr lang="en-US" sz="2600"/>
              <a:t>Rate </a:t>
            </a:r>
            <a:r>
              <a:rPr lang="en-US" sz="2600" smtClean="0"/>
              <a:t>Limiting</a:t>
            </a:r>
          </a:p>
          <a:p>
            <a:pPr>
              <a:lnSpc>
                <a:spcPct val="150000"/>
              </a:lnSpc>
            </a:pPr>
            <a:r>
              <a:rPr lang="en-US" sz="260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2.5. Prevent XSS </a:t>
            </a:r>
            <a:r>
              <a:rPr lang="en-US" sz="2600">
                <a:solidFill>
                  <a:schemeClr val="tx1">
                    <a:lumMod val="75000"/>
                    <a:lumOff val="25000"/>
                  </a:schemeClr>
                </a:solidFill>
              </a:rPr>
              <a:t>(Cross-Site Scripting</a:t>
            </a:r>
            <a:r>
              <a:rPr lang="en-US" sz="260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sz="26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600">
                <a:solidFill>
                  <a:schemeClr val="tx1">
                    <a:lumMod val="75000"/>
                    <a:lumOff val="25000"/>
                  </a:schemeClr>
                </a:solidFill>
              </a:rPr>
              <a:t>2.6. </a:t>
            </a:r>
            <a:r>
              <a:rPr lang="en-US" sz="260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Prevent CSRF </a:t>
            </a:r>
            <a:r>
              <a:rPr lang="en-US" sz="2600">
                <a:solidFill>
                  <a:schemeClr val="tx1">
                    <a:lumMod val="75000"/>
                    <a:lumOff val="25000"/>
                  </a:schemeClr>
                </a:solidFill>
              </a:rPr>
              <a:t>(Cross-Site Request Forgery</a:t>
            </a:r>
            <a:r>
              <a:rPr lang="en-US" sz="260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r>
              <a:rPr lang="en-US" sz="260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60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60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2.7. </a:t>
            </a:r>
            <a:r>
              <a:rPr lang="en-US" sz="2600">
                <a:solidFill>
                  <a:schemeClr val="tx1">
                    <a:lumMod val="75000"/>
                    <a:lumOff val="25000"/>
                  </a:schemeClr>
                </a:solidFill>
              </a:rPr>
              <a:t>Using an API Firewall (API Gateway)</a:t>
            </a:r>
            <a:br>
              <a:rPr lang="en-US" sz="260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4395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 xmlns:a14="http://schemas.microsoft.com/office/drawing/2010/main" xmlns:a16="http://schemas.microsoft.com/office/drawing/2014/main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2.2</a:t>
            </a:r>
            <a:r>
              <a:rPr lang="en-US"/>
              <a:t>. Authentication and Authorization</a:t>
            </a:r>
            <a:br>
              <a:rPr lang="en-US"/>
            </a:br>
            <a:endParaRPr lang="en-GB" sz="2800" dirty="0">
              <a:solidFill>
                <a:srgbClr val="FFFF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702530" y="822402"/>
            <a:ext cx="10920509" cy="570031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400" smtClean="0">
                <a:sym typeface="Wingdings" panose="05000000000000000000" pitchFamily="2" charset="2"/>
              </a:rPr>
              <a:t>Step 1. Install </a:t>
            </a:r>
            <a:r>
              <a:rPr lang="en-US" sz="2400">
                <a:sym typeface="Wingdings" panose="05000000000000000000" pitchFamily="2" charset="2"/>
              </a:rPr>
              <a:t>the </a:t>
            </a:r>
            <a:r>
              <a:rPr lang="en-US" sz="2400">
                <a:solidFill>
                  <a:srgbClr val="C00000"/>
                </a:solidFill>
                <a:sym typeface="Wingdings" panose="05000000000000000000" pitchFamily="2" charset="2"/>
              </a:rPr>
              <a:t>Microsoft.AspNetCore.Authentication.JwtBearer</a:t>
            </a:r>
            <a:r>
              <a:rPr lang="en-US" sz="2400">
                <a:sym typeface="Wingdings" panose="05000000000000000000" pitchFamily="2" charset="2"/>
              </a:rPr>
              <a:t> package </a:t>
            </a:r>
            <a:endParaRPr lang="en-US" sz="2400" smtClean="0">
              <a:sym typeface="Wingdings" panose="05000000000000000000" pitchFamily="2" charset="2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400">
                <a:sym typeface="Wingdings" panose="05000000000000000000" pitchFamily="2" charset="2"/>
              </a:rPr>
              <a:t>Step 2</a:t>
            </a:r>
            <a:r>
              <a:rPr lang="en-US" sz="2400" smtClean="0">
                <a:sym typeface="Wingdings" panose="05000000000000000000" pitchFamily="2" charset="2"/>
              </a:rPr>
              <a:t>. Configure </a:t>
            </a:r>
            <a:r>
              <a:rPr lang="en-US" sz="2400">
                <a:sym typeface="Wingdings" panose="05000000000000000000" pitchFamily="2" charset="2"/>
              </a:rPr>
              <a:t>JWT for your </a:t>
            </a:r>
            <a:r>
              <a:rPr lang="en-US" sz="2400" smtClean="0">
                <a:sym typeface="Wingdings" panose="05000000000000000000" pitchFamily="2" charset="2"/>
              </a:rPr>
              <a:t>API</a:t>
            </a:r>
            <a:r>
              <a:rPr lang="en-US" sz="2400">
                <a:sym typeface="Wingdings" panose="05000000000000000000" pitchFamily="2" charset="2"/>
              </a:rPr>
              <a:t> </a:t>
            </a:r>
            <a:r>
              <a:rPr lang="en-US" sz="2400" smtClean="0">
                <a:sym typeface="Wingdings" panose="05000000000000000000" pitchFamily="2" charset="2"/>
              </a:rPr>
              <a:t>(appsettings.json, Program.cs…) 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400">
                <a:sym typeface="Wingdings" panose="05000000000000000000" pitchFamily="2" charset="2"/>
              </a:rPr>
              <a:t>Step 3</a:t>
            </a:r>
            <a:r>
              <a:rPr lang="en-US" sz="2400" smtClean="0">
                <a:sym typeface="Wingdings" panose="05000000000000000000" pitchFamily="2" charset="2"/>
              </a:rPr>
              <a:t>. Create </a:t>
            </a:r>
            <a:r>
              <a:rPr lang="en-GB" sz="2400"/>
              <a:t>GenerateAccessToken (GenerateJwtToken) </a:t>
            </a:r>
            <a:r>
              <a:rPr lang="en-GB" sz="2400" smtClean="0"/>
              <a:t>m</a:t>
            </a:r>
            <a:r>
              <a:rPr lang="en-US" sz="2400" smtClean="0">
                <a:sym typeface="Wingdings" panose="05000000000000000000" pitchFamily="2" charset="2"/>
              </a:rPr>
              <a:t>ethod 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400">
                <a:sym typeface="Wingdings" panose="05000000000000000000" pitchFamily="2" charset="2"/>
              </a:rPr>
              <a:t>Step 4</a:t>
            </a:r>
            <a:r>
              <a:rPr lang="en-US" sz="2400" smtClean="0">
                <a:sym typeface="Wingdings" panose="05000000000000000000" pitchFamily="2" charset="2"/>
              </a:rPr>
              <a:t>. Create Login/Logout </a:t>
            </a:r>
            <a:r>
              <a:rPr lang="en-US" sz="2400">
                <a:sym typeface="Wingdings" panose="05000000000000000000" pitchFamily="2" charset="2"/>
              </a:rPr>
              <a:t>(Singin/Signout) </a:t>
            </a:r>
            <a:r>
              <a:rPr lang="en-US" sz="2400" smtClean="0">
                <a:sym typeface="Wingdings" panose="05000000000000000000" pitchFamily="2" charset="2"/>
              </a:rPr>
              <a:t>methods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400">
                <a:sym typeface="Wingdings" panose="05000000000000000000" pitchFamily="2" charset="2"/>
              </a:rPr>
              <a:t>Step 5. </a:t>
            </a:r>
            <a:r>
              <a:rPr lang="en-US" sz="2400" smtClean="0">
                <a:sym typeface="Wingdings" panose="05000000000000000000" pitchFamily="2" charset="2"/>
              </a:rPr>
              <a:t>Grant </a:t>
            </a:r>
            <a:r>
              <a:rPr lang="en-US" sz="2400">
                <a:sym typeface="Wingdings" panose="05000000000000000000" pitchFamily="2" charset="2"/>
              </a:rPr>
              <a:t>endpoint </a:t>
            </a:r>
            <a:r>
              <a:rPr lang="en-US" sz="2400" smtClean="0">
                <a:sym typeface="Wingdings" panose="05000000000000000000" pitchFamily="2" charset="2"/>
              </a:rPr>
              <a:t>access (Endpoints protection)</a:t>
            </a:r>
            <a:endParaRPr lang="en-US" sz="2400">
              <a:sym typeface="Wingdings" panose="05000000000000000000" pitchFamily="2" charset="2"/>
            </a:endParaRP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sz="2400" smtClean="0">
                <a:sym typeface="Wingdings" panose="05000000000000000000" pitchFamily="2" charset="2"/>
              </a:rPr>
              <a:t>Step 6. Option Methods: </a:t>
            </a:r>
          </a:p>
          <a:p>
            <a:pPr marL="974725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sz="2400" smtClean="0"/>
              <a:t>RefreshToken, </a:t>
            </a:r>
          </a:p>
          <a:p>
            <a:pPr marL="974725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sz="2400" smtClean="0"/>
              <a:t>GenerateRefreshToken, </a:t>
            </a:r>
          </a:p>
          <a:p>
            <a:pPr marL="974725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sz="2400" smtClean="0"/>
              <a:t>ValidateAccessToken, </a:t>
            </a:r>
          </a:p>
          <a:p>
            <a:pPr marL="974725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sz="2400" smtClean="0"/>
              <a:t>ValidateRefreshToken, </a:t>
            </a:r>
          </a:p>
          <a:p>
            <a:pPr marL="974725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sz="2400" smtClean="0"/>
              <a:t>ChangePassword</a:t>
            </a:r>
          </a:p>
          <a:p>
            <a:pPr marL="974725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sz="2400" smtClean="0"/>
              <a:t>………………</a:t>
            </a:r>
            <a:endParaRPr lang="en-US" sz="2400">
              <a:sym typeface="Wingdings" panose="05000000000000000000" pitchFamily="2" charset="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040" y="3525396"/>
            <a:ext cx="4341301" cy="245179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92240" y="6028174"/>
            <a:ext cx="51409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mtClean="0"/>
              <a:t>     </a:t>
            </a:r>
            <a:r>
              <a:rPr lang="en-US" smtClean="0">
                <a:solidFill>
                  <a:srgbClr val="C00000"/>
                </a:solidFill>
              </a:rPr>
              <a:t>Who </a:t>
            </a:r>
            <a:r>
              <a:rPr lang="en-US">
                <a:solidFill>
                  <a:srgbClr val="C00000"/>
                </a:solidFill>
              </a:rPr>
              <a:t>are you? </a:t>
            </a:r>
            <a:r>
              <a:rPr lang="en-US" smtClean="0">
                <a:solidFill>
                  <a:srgbClr val="C00000"/>
                </a:solidFill>
              </a:rPr>
              <a:t>           Can </a:t>
            </a:r>
            <a:r>
              <a:rPr lang="en-US">
                <a:solidFill>
                  <a:srgbClr val="C00000"/>
                </a:solidFill>
              </a:rPr>
              <a:t>you do that?</a:t>
            </a:r>
            <a:endParaRPr lang="en-GB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1013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Step 2. Configure </a:t>
            </a:r>
            <a:r>
              <a:rPr lang="en-US"/>
              <a:t>JWT for your </a:t>
            </a:r>
            <a:r>
              <a:rPr lang="en-US" smtClean="0"/>
              <a:t>API</a:t>
            </a:r>
            <a:endParaRPr lang="en-GB" sz="2800" dirty="0">
              <a:solidFill>
                <a:srgbClr val="FFFF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06400" y="773291"/>
            <a:ext cx="11247120" cy="57184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GB">
                <a:solidFill>
                  <a:srgbClr val="2E75B6"/>
                </a:solidFill>
                <a:latin typeface="Cascadia Mono" panose="020B0609020000020004" pitchFamily="49" charset="0"/>
              </a:rPr>
              <a:t>"Logging"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GB" smtClean="0">
                <a:solidFill>
                  <a:srgbClr val="2E75B6"/>
                </a:solidFill>
                <a:latin typeface="Cascadia Mono" panose="020B0609020000020004" pitchFamily="49" charset="0"/>
              </a:rPr>
              <a:t>"LogLevel"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: {</a:t>
            </a:r>
            <a:r>
              <a:rPr lang="en-GB" smtClean="0">
                <a:solidFill>
                  <a:srgbClr val="2E75B6"/>
                </a:solidFill>
                <a:latin typeface="Cascadia Mono" panose="020B0609020000020004" pitchFamily="49" charset="0"/>
              </a:rPr>
              <a:t>"Default"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en-GB" smtClean="0">
                <a:solidFill>
                  <a:srgbClr val="A31515"/>
                </a:solidFill>
                <a:latin typeface="Cascadia Mono" panose="020B0609020000020004" pitchFamily="49" charset="0"/>
              </a:rPr>
              <a:t>"Information"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GB" smtClean="0">
                <a:solidFill>
                  <a:srgbClr val="2E75B6"/>
                </a:solidFill>
                <a:latin typeface="Cascadia Mono" panose="020B0609020000020004" pitchFamily="49" charset="0"/>
              </a:rPr>
              <a:t>"Microsoft.AspNetCore"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en-GB" smtClean="0">
                <a:solidFill>
                  <a:srgbClr val="A31515"/>
                </a:solidFill>
                <a:latin typeface="Cascadia Mono" panose="020B0609020000020004" pitchFamily="49" charset="0"/>
              </a:rPr>
              <a:t>"Warning"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},</a:t>
            </a: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GB">
                <a:solidFill>
                  <a:srgbClr val="2E75B6"/>
                </a:solidFill>
                <a:latin typeface="Cascadia Mono" panose="020B0609020000020004" pitchFamily="49" charset="0"/>
              </a:rPr>
              <a:t>"AllowedHosts"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en-GB">
                <a:solidFill>
                  <a:srgbClr val="A31515"/>
                </a:solidFill>
                <a:latin typeface="Cascadia Mono" panose="020B0609020000020004" pitchFamily="49" charset="0"/>
              </a:rPr>
              <a:t>"*"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GB">
                <a:solidFill>
                  <a:srgbClr val="2E75B6"/>
                </a:solidFill>
                <a:latin typeface="Cascadia Mono" panose="020B0609020000020004" pitchFamily="49" charset="0"/>
              </a:rPr>
              <a:t>"ConnectionStrings"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: {</a:t>
            </a: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GB">
                <a:solidFill>
                  <a:srgbClr val="2E75B6"/>
                </a:solidFill>
                <a:latin typeface="Cascadia Mono" panose="020B0609020000020004" pitchFamily="49" charset="0"/>
              </a:rPr>
              <a:t>"myConnect"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en-GB">
                <a:solidFill>
                  <a:srgbClr val="A31515"/>
                </a:solidFill>
                <a:latin typeface="Cascadia Mono" panose="020B0609020000020004" pitchFamily="49" charset="0"/>
              </a:rPr>
              <a:t>"nZC6cm+QZj2CGVOkwBsCI81PrZK1eINozvOAGyuVpMXF1SCUp0Q"</a:t>
            </a:r>
            <a:endParaRPr lang="en-GB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},</a:t>
            </a: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GB">
                <a:solidFill>
                  <a:srgbClr val="2E75B6"/>
                </a:solidFill>
                <a:latin typeface="Cascadia Mono" panose="020B0609020000020004" pitchFamily="49" charset="0"/>
              </a:rPr>
              <a:t>"GoogleSettings"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: {</a:t>
            </a: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GB">
                <a:solidFill>
                  <a:srgbClr val="2E75B6"/>
                </a:solidFill>
                <a:latin typeface="Cascadia Mono" panose="020B0609020000020004" pitchFamily="49" charset="0"/>
              </a:rPr>
              <a:t>"ClientId"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en-GB">
                <a:solidFill>
                  <a:srgbClr val="A31515"/>
                </a:solidFill>
                <a:latin typeface="Cascadia Mono" panose="020B0609020000020004" pitchFamily="49" charset="0"/>
              </a:rPr>
              <a:t>"657718689565-v3hhi6.apps.googleusercontent.com"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GB">
                <a:solidFill>
                  <a:srgbClr val="2E75B6"/>
                </a:solidFill>
                <a:latin typeface="Cascadia Mono" panose="020B0609020000020004" pitchFamily="49" charset="0"/>
              </a:rPr>
              <a:t>"ClientSecret"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en-GB">
                <a:solidFill>
                  <a:srgbClr val="A31515"/>
                </a:solidFill>
                <a:latin typeface="Cascadia Mono" panose="020B0609020000020004" pitchFamily="49" charset="0"/>
              </a:rPr>
              <a:t>"GOCGDFGGFSPX-9SoUx4TlaXFDFKJLKDSFuq62jZd__JMO8fNu_H"</a:t>
            </a:r>
            <a:endParaRPr lang="en-GB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},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GB">
                <a:solidFill>
                  <a:srgbClr val="2E75B6"/>
                </a:solidFill>
                <a:latin typeface="Cascadia Mono" panose="020B0609020000020004" pitchFamily="49" charset="0"/>
              </a:rPr>
              <a:t>"JwtSettings"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: {</a:t>
            </a:r>
          </a:p>
          <a:p>
            <a:pPr>
              <a:lnSpc>
                <a:spcPct val="130000"/>
              </a:lnSpc>
            </a:pP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GB">
                <a:solidFill>
                  <a:srgbClr val="2E75B6"/>
                </a:solidFill>
                <a:latin typeface="Cascadia Mono" panose="020B0609020000020004" pitchFamily="49" charset="0"/>
              </a:rPr>
              <a:t>"Secretkey"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en-GB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GB" smtClean="0">
                <a:solidFill>
                  <a:srgbClr val="A31515"/>
                </a:solidFill>
                <a:latin typeface="Cascadia Mono" panose="020B0609020000020004" pitchFamily="49" charset="0"/>
              </a:rPr>
              <a:t>70b254816bf0fa3e4a81f5d400ccbb3c0de63f73gghfsdg1sdfsdjfa4</a:t>
            </a:r>
            <a:r>
              <a:rPr lang="en-GB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pPr>
              <a:lnSpc>
                <a:spcPct val="130000"/>
              </a:lnSpc>
            </a:pP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GB">
                <a:solidFill>
                  <a:srgbClr val="2E75B6"/>
                </a:solidFill>
                <a:latin typeface="Cascadia Mono" panose="020B0609020000020004" pitchFamily="49" charset="0"/>
              </a:rPr>
              <a:t>"Issuer"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en-GB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GB" smtClean="0">
                <a:solidFill>
                  <a:srgbClr val="A31515"/>
                </a:solidFill>
                <a:latin typeface="Cascadia Mono" panose="020B0609020000020004" pitchFamily="49" charset="0"/>
              </a:rPr>
              <a:t>JwtIssuer</a:t>
            </a:r>
            <a:r>
              <a:rPr lang="en-GB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endParaRPr lang="en-GB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>
              <a:lnSpc>
                <a:spcPct val="130000"/>
              </a:lnSpc>
            </a:pP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GB">
                <a:solidFill>
                  <a:srgbClr val="2E75B6"/>
                </a:solidFill>
                <a:latin typeface="Cascadia Mono" panose="020B0609020000020004" pitchFamily="49" charset="0"/>
              </a:rPr>
              <a:t>"Audience"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en-GB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GB" smtClean="0">
                <a:solidFill>
                  <a:srgbClr val="A31515"/>
                </a:solidFill>
                <a:latin typeface="Cascadia Mono" panose="020B0609020000020004" pitchFamily="49" charset="0"/>
              </a:rPr>
              <a:t>JwtAudience</a:t>
            </a:r>
            <a:r>
              <a:rPr lang="en-GB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endParaRPr lang="en-GB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}</a:t>
            </a:r>
          </a:p>
          <a:p>
            <a:pPr>
              <a:spcBef>
                <a:spcPts val="1200"/>
              </a:spcBef>
            </a:pP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497840" y="4257040"/>
            <a:ext cx="10525760" cy="17373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9244853" y="115054"/>
            <a:ext cx="25907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>
                <a:sym typeface="Wingdings" panose="05000000000000000000" pitchFamily="2" charset="2"/>
              </a:rPr>
              <a:t>appsettings.json</a:t>
            </a: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2030373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4511040"/>
            <a:ext cx="12192000" cy="5791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0" y="3657600"/>
            <a:ext cx="12192000" cy="5791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0" y="1148080"/>
            <a:ext cx="12192000" cy="3149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Step </a:t>
            </a:r>
            <a:r>
              <a:rPr lang="en-US" smtClean="0"/>
              <a:t>2. Configure </a:t>
            </a:r>
            <a:r>
              <a:rPr lang="en-US"/>
              <a:t>JWT for your </a:t>
            </a:r>
            <a:r>
              <a:rPr lang="en-US" smtClean="0"/>
              <a:t>API</a:t>
            </a:r>
            <a:endParaRPr lang="en-GB" sz="2800" dirty="0">
              <a:solidFill>
                <a:srgbClr val="FFFF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783333" y="135374"/>
            <a:ext cx="18233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>
                <a:sym typeface="Wingdings" panose="05000000000000000000" pitchFamily="2" charset="2"/>
              </a:rPr>
              <a:t>Program.cs</a:t>
            </a:r>
            <a:endParaRPr lang="en-GB" sz="2400"/>
          </a:p>
        </p:txBody>
      </p:sp>
      <p:sp>
        <p:nvSpPr>
          <p:cNvPr id="2" name="Rectangle 1"/>
          <p:cNvSpPr/>
          <p:nvPr/>
        </p:nvSpPr>
        <p:spPr>
          <a:xfrm>
            <a:off x="487680" y="813931"/>
            <a:ext cx="11135360" cy="5709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mtClean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>
                <a:solidFill>
                  <a:srgbClr val="FF0000"/>
                </a:solidFill>
                <a:latin typeface="Cascadia Mono" panose="020B0609020000020004" pitchFamily="49" charset="0"/>
              </a:rPr>
              <a:t>secretkey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= builder.Configuration[</a:t>
            </a:r>
            <a:r>
              <a:rPr lang="en-GB">
                <a:solidFill>
                  <a:srgbClr val="A31515"/>
                </a:solidFill>
                <a:latin typeface="Cascadia Mono" panose="020B0609020000020004" pitchFamily="49" charset="0"/>
              </a:rPr>
              <a:t>"JwtSettings:Secretkey"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];           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smtClean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>
                <a:solidFill>
                  <a:srgbClr val="FF0000"/>
                </a:solidFill>
                <a:latin typeface="Cascadia Mono" panose="020B0609020000020004" pitchFamily="49" charset="0"/>
              </a:rPr>
              <a:t>secretKeyBytes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GB">
                <a:solidFill>
                  <a:srgbClr val="0066CC"/>
                </a:solidFill>
                <a:latin typeface="Cascadia Mono" panose="020B0609020000020004" pitchFamily="49" charset="0"/>
              </a:rPr>
              <a:t>Encoding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.UTF8.GetBytes(</a:t>
            </a:r>
            <a:r>
              <a:rPr lang="en-GB">
                <a:solidFill>
                  <a:srgbClr val="FF0000"/>
                </a:solidFill>
                <a:latin typeface="Cascadia Mono" panose="020B0609020000020004" pitchFamily="49" charset="0"/>
              </a:rPr>
              <a:t>secretkey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);            </a:t>
            </a:r>
          </a:p>
          <a:p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builder.Services.</a:t>
            </a:r>
            <a:r>
              <a:rPr lang="en-GB" smtClean="0">
                <a:solidFill>
                  <a:srgbClr val="C00000"/>
                </a:solidFill>
                <a:latin typeface="Cascadia Mono" panose="020B0609020000020004" pitchFamily="49" charset="0"/>
              </a:rPr>
              <a:t>AddAuthentication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(options 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=&gt;</a:t>
            </a:r>
          </a:p>
          <a:p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en-GB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options.DefaultAuthenticateScheme 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= </a:t>
            </a:r>
            <a:r>
              <a:rPr lang="en-GB">
                <a:solidFill>
                  <a:srgbClr val="0066CC"/>
                </a:solidFill>
                <a:latin typeface="Cascadia Mono" panose="020B0609020000020004" pitchFamily="49" charset="0"/>
              </a:rPr>
              <a:t>JwtBearerDefaults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.AuthenticationScheme;</a:t>
            </a: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options.DefaultChallengeScheme = </a:t>
            </a:r>
            <a:r>
              <a:rPr lang="en-GB" smtClean="0">
                <a:solidFill>
                  <a:srgbClr val="0066CC"/>
                </a:solidFill>
                <a:latin typeface="Cascadia Mono" panose="020B0609020000020004" pitchFamily="49" charset="0"/>
              </a:rPr>
              <a:t>JwtBearerDefaults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.AuthenticationScheme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options.DefaultScheme 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= </a:t>
            </a:r>
            <a:r>
              <a:rPr lang="en-GB">
                <a:solidFill>
                  <a:srgbClr val="0066CC"/>
                </a:solidFill>
                <a:latin typeface="Cascadia Mono" panose="020B0609020000020004" pitchFamily="49" charset="0"/>
              </a:rPr>
              <a:t>JwtBearerDefaults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.AuthenticationScheme;</a:t>
            </a:r>
          </a:p>
          <a:p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}).</a:t>
            </a:r>
            <a:r>
              <a:rPr lang="en-GB">
                <a:solidFill>
                  <a:srgbClr val="C00000"/>
                </a:solidFill>
                <a:latin typeface="Cascadia Mono" panose="020B0609020000020004" pitchFamily="49" charset="0"/>
              </a:rPr>
              <a:t>AddJwtBearer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(option =&gt;</a:t>
            </a:r>
          </a:p>
          <a:p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{   option.TokenValidationParameters 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= </a:t>
            </a:r>
            <a:r>
              <a:rPr lang="en-GB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>
                <a:solidFill>
                  <a:srgbClr val="0066CC"/>
                </a:solidFill>
                <a:latin typeface="Cascadia Mono" panose="020B0609020000020004" pitchFamily="49" charset="0"/>
              </a:rPr>
              <a:t>TokenValidationParameters</a:t>
            </a: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en-GB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      ValidateIssuer = </a:t>
            </a:r>
            <a:r>
              <a:rPr lang="en-GB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	   ValidIssuer 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= builder.Configuration[</a:t>
            </a:r>
            <a:r>
              <a:rPr lang="en-GB">
                <a:solidFill>
                  <a:srgbClr val="A31515"/>
                </a:solidFill>
                <a:latin typeface="Cascadia Mono" panose="020B0609020000020004" pitchFamily="49" charset="0"/>
              </a:rPr>
              <a:t>"JwtSettings:Issuer"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],          </a:t>
            </a:r>
            <a:endParaRPr lang="en-GB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	   ValidateLifetime 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= </a:t>
            </a:r>
            <a:r>
              <a:rPr lang="en-GB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,                    </a:t>
            </a:r>
          </a:p>
          <a:p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	   ValidateAudience 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= </a:t>
            </a:r>
            <a:r>
              <a:rPr lang="en-GB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,                    </a:t>
            </a:r>
            <a:endParaRPr lang="en-GB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	   ValidAudience 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= builder.Configuration[</a:t>
            </a:r>
            <a:r>
              <a:rPr lang="en-GB">
                <a:solidFill>
                  <a:srgbClr val="A31515"/>
                </a:solidFill>
                <a:latin typeface="Cascadia Mono" panose="020B0609020000020004" pitchFamily="49" charset="0"/>
              </a:rPr>
              <a:t>"JwtSettings:Audience"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],</a:t>
            </a:r>
          </a:p>
          <a:p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ValidateIssuerSigningKey = </a:t>
            </a:r>
            <a:r>
              <a:rPr lang="en-GB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	   IssuerSigningKey = </a:t>
            </a:r>
            <a:r>
              <a:rPr lang="en-GB" smtClean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mtClean="0">
                <a:solidFill>
                  <a:srgbClr val="0066CC"/>
                </a:solidFill>
                <a:latin typeface="Cascadia Mono" panose="020B0609020000020004" pitchFamily="49" charset="0"/>
              </a:rPr>
              <a:t>SymmetricSecurityKey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GB" smtClean="0">
                <a:solidFill>
                  <a:srgbClr val="FF0000"/>
                </a:solidFill>
                <a:latin typeface="Cascadia Mono" panose="020B0609020000020004" pitchFamily="49" charset="0"/>
              </a:rPr>
              <a:t>secretKeyBytes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),</a:t>
            </a:r>
          </a:p>
          <a:p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ClockSkew = </a:t>
            </a:r>
            <a:r>
              <a:rPr lang="en-GB">
                <a:solidFill>
                  <a:srgbClr val="0066CC"/>
                </a:solidFill>
                <a:latin typeface="Cascadia Mono" panose="020B0609020000020004" pitchFamily="49" charset="0"/>
              </a:rPr>
              <a:t>TimeSpan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.Zero,</a:t>
            </a: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};               </a:t>
            </a:r>
            <a:endParaRPr lang="en-GB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 });</a:t>
            </a:r>
            <a:endParaRPr lang="en-GB"/>
          </a:p>
        </p:txBody>
      </p:sp>
      <p:sp>
        <p:nvSpPr>
          <p:cNvPr id="3" name="Rectangle 2"/>
          <p:cNvSpPr/>
          <p:nvPr/>
        </p:nvSpPr>
        <p:spPr>
          <a:xfrm>
            <a:off x="8239760" y="5736507"/>
            <a:ext cx="3952240" cy="75097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GB" sz="200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app.UseAuthentication</a:t>
            </a:r>
            <a:r>
              <a:rPr lang="en-GB" sz="2000" smtClean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GB" sz="2000" smtClean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app.UseAuthorization();</a:t>
            </a:r>
            <a:endParaRPr lang="en-GB" sz="20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911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37160" y="122011"/>
            <a:ext cx="6070600" cy="594995"/>
          </a:xfrm>
        </p:spPr>
        <p:txBody>
          <a:bodyPr>
            <a:normAutofit/>
          </a:bodyPr>
          <a:lstStyle/>
          <a:p>
            <a:r>
              <a:rPr lang="en-US" smtClean="0"/>
              <a:t>Step 3. </a:t>
            </a:r>
            <a:r>
              <a:rPr lang="en-GB" smtClean="0"/>
              <a:t>Generate Access Token</a:t>
            </a:r>
            <a:endParaRPr lang="en-GB" sz="2800" dirty="0">
              <a:solidFill>
                <a:srgbClr val="FFFF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984546" y="145884"/>
            <a:ext cx="30150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smtClean="0">
                <a:sym typeface="Wingdings" panose="05000000000000000000" pitchFamily="2" charset="2"/>
              </a:rPr>
              <a:t>In Controller or Service</a:t>
            </a:r>
            <a:endParaRPr lang="en-GB" sz="2000"/>
          </a:p>
        </p:txBody>
      </p:sp>
      <p:sp>
        <p:nvSpPr>
          <p:cNvPr id="3" name="Rectangle 2"/>
          <p:cNvSpPr/>
          <p:nvPr/>
        </p:nvSpPr>
        <p:spPr>
          <a:xfrm>
            <a:off x="177861" y="838840"/>
            <a:ext cx="11765280" cy="5576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200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en-GB" sz="22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220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GB" sz="2200">
                <a:solidFill>
                  <a:srgbClr val="000000"/>
                </a:solidFill>
                <a:latin typeface="Cascadia Mono" panose="020B0609020000020004" pitchFamily="49" charset="0"/>
              </a:rPr>
              <a:t> GenerateAccessToken(</a:t>
            </a:r>
            <a:r>
              <a:rPr lang="en-GB" sz="2200">
                <a:solidFill>
                  <a:srgbClr val="0066CC"/>
                </a:solidFill>
                <a:latin typeface="Cascadia Mono" panose="020B0609020000020004" pitchFamily="49" charset="0"/>
              </a:rPr>
              <a:t>Account</a:t>
            </a:r>
            <a:r>
              <a:rPr lang="en-GB" sz="22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2200">
                <a:solidFill>
                  <a:srgbClr val="C00000"/>
                </a:solidFill>
                <a:latin typeface="Cascadia Mono" panose="020B0609020000020004" pitchFamily="49" charset="0"/>
              </a:rPr>
              <a:t>user</a:t>
            </a:r>
            <a:r>
              <a:rPr lang="en-GB" sz="220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{     </a:t>
            </a:r>
          </a:p>
          <a:p>
            <a:pPr>
              <a:lnSpc>
                <a:spcPct val="150000"/>
              </a:lnSpc>
            </a:pPr>
            <a:r>
              <a:rPr lang="en-US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	var </a:t>
            </a:r>
            <a:r>
              <a:rPr lang="en-US" sz="2200" smtClean="0">
                <a:solidFill>
                  <a:srgbClr val="C00000"/>
                </a:solidFill>
                <a:latin typeface="Cascadia Mono" panose="020B0609020000020004" pitchFamily="49" charset="0"/>
              </a:rPr>
              <a:t>guid</a:t>
            </a:r>
            <a:r>
              <a:rPr lang="en-US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 =  </a:t>
            </a:r>
            <a:r>
              <a:rPr lang="en-GB" sz="2200">
                <a:solidFill>
                  <a:srgbClr val="0066CC"/>
                </a:solidFill>
                <a:latin typeface="Cascadia Mono" panose="020B0609020000020004" pitchFamily="49" charset="0"/>
              </a:rPr>
              <a:t>Guid</a:t>
            </a:r>
            <a:r>
              <a:rPr lang="en-GB" sz="2200">
                <a:solidFill>
                  <a:srgbClr val="000000"/>
                </a:solidFill>
                <a:latin typeface="Cascadia Mono" panose="020B0609020000020004" pitchFamily="49" charset="0"/>
              </a:rPr>
              <a:t>.NewGuid().ToString</a:t>
            </a:r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en-GB" sz="220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220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GB" sz="2200" smtClean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2200">
                <a:solidFill>
                  <a:srgbClr val="000000"/>
                </a:solidFill>
                <a:latin typeface="Cascadia Mono" panose="020B0609020000020004" pitchFamily="49" charset="0"/>
              </a:rPr>
              <a:t>authoClaims = </a:t>
            </a:r>
            <a:r>
              <a:rPr lang="en-GB" sz="220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GB" sz="2200">
                <a:solidFill>
                  <a:srgbClr val="000000"/>
                </a:solidFill>
                <a:latin typeface="Cascadia Mono" panose="020B0609020000020004" pitchFamily="49" charset="0"/>
              </a:rPr>
              <a:t> List&lt;</a:t>
            </a:r>
            <a:r>
              <a:rPr lang="en-GB" sz="2200">
                <a:solidFill>
                  <a:srgbClr val="0066CC"/>
                </a:solidFill>
                <a:latin typeface="Cascadia Mono" panose="020B0609020000020004" pitchFamily="49" charset="0"/>
              </a:rPr>
              <a:t>Claim</a:t>
            </a:r>
            <a:r>
              <a:rPr lang="en-GB" sz="2200">
                <a:solidFill>
                  <a:srgbClr val="000000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GB" sz="220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	{</a:t>
            </a:r>
            <a:endParaRPr lang="en-GB" sz="220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1376363">
              <a:lnSpc>
                <a:spcPct val="120000"/>
              </a:lnSpc>
            </a:pPr>
            <a:r>
              <a:rPr lang="en-GB" sz="2200" smtClean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2200">
                <a:solidFill>
                  <a:srgbClr val="0066CC"/>
                </a:solidFill>
                <a:latin typeface="Cascadia Mono" panose="020B0609020000020004" pitchFamily="49" charset="0"/>
              </a:rPr>
              <a:t>Claim</a:t>
            </a:r>
            <a:r>
              <a:rPr lang="en-GB" sz="220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GB" sz="2200">
                <a:solidFill>
                  <a:srgbClr val="A31515"/>
                </a:solidFill>
                <a:latin typeface="Cascadia Mono" panose="020B0609020000020004" pitchFamily="49" charset="0"/>
              </a:rPr>
              <a:t>"Id"</a:t>
            </a:r>
            <a:r>
              <a:rPr lang="en-GB" sz="220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GB" sz="2200">
                <a:solidFill>
                  <a:srgbClr val="C00000"/>
                </a:solidFill>
                <a:latin typeface="Cascadia Mono" panose="020B0609020000020004" pitchFamily="49" charset="0"/>
              </a:rPr>
              <a:t>user</a:t>
            </a:r>
            <a:r>
              <a:rPr lang="en-GB" sz="2200">
                <a:solidFill>
                  <a:srgbClr val="000000"/>
                </a:solidFill>
                <a:latin typeface="Cascadia Mono" panose="020B0609020000020004" pitchFamily="49" charset="0"/>
              </a:rPr>
              <a:t>.Id.ToString()),</a:t>
            </a:r>
          </a:p>
          <a:p>
            <a:pPr marL="1376363">
              <a:lnSpc>
                <a:spcPct val="120000"/>
              </a:lnSpc>
            </a:pPr>
            <a:r>
              <a:rPr lang="en-GB" sz="2200" smtClean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2200">
                <a:solidFill>
                  <a:srgbClr val="0066CC"/>
                </a:solidFill>
                <a:latin typeface="Cascadia Mono" panose="020B0609020000020004" pitchFamily="49" charset="0"/>
              </a:rPr>
              <a:t>Claim</a:t>
            </a:r>
            <a:r>
              <a:rPr lang="en-GB" sz="220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GB" sz="2200">
                <a:solidFill>
                  <a:srgbClr val="A31515"/>
                </a:solidFill>
                <a:latin typeface="Cascadia Mono" panose="020B0609020000020004" pitchFamily="49" charset="0"/>
              </a:rPr>
              <a:t>"UserName"</a:t>
            </a:r>
            <a:r>
              <a:rPr lang="en-GB" sz="220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GB" sz="2200">
                <a:solidFill>
                  <a:srgbClr val="C00000"/>
                </a:solidFill>
                <a:latin typeface="Cascadia Mono" panose="020B0609020000020004" pitchFamily="49" charset="0"/>
              </a:rPr>
              <a:t>user</a:t>
            </a:r>
            <a:r>
              <a:rPr lang="en-GB" sz="2200">
                <a:solidFill>
                  <a:srgbClr val="000000"/>
                </a:solidFill>
                <a:latin typeface="Cascadia Mono" panose="020B0609020000020004" pitchFamily="49" charset="0"/>
              </a:rPr>
              <a:t>.UserName),</a:t>
            </a:r>
          </a:p>
          <a:p>
            <a:pPr marL="1376363">
              <a:lnSpc>
                <a:spcPct val="120000"/>
              </a:lnSpc>
            </a:pPr>
            <a:r>
              <a:rPr lang="en-GB" sz="2200" smtClean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2200">
                <a:solidFill>
                  <a:srgbClr val="0066CC"/>
                </a:solidFill>
                <a:latin typeface="Cascadia Mono" panose="020B0609020000020004" pitchFamily="49" charset="0"/>
              </a:rPr>
              <a:t>Claim</a:t>
            </a:r>
            <a:r>
              <a:rPr lang="en-GB" sz="220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GB" sz="2200">
                <a:solidFill>
                  <a:srgbClr val="0066CC"/>
                </a:solidFill>
                <a:latin typeface="Cascadia Mono" panose="020B0609020000020004" pitchFamily="49" charset="0"/>
              </a:rPr>
              <a:t>ClaimTypes</a:t>
            </a:r>
            <a:r>
              <a:rPr lang="en-GB" sz="2200">
                <a:solidFill>
                  <a:srgbClr val="000000"/>
                </a:solidFill>
                <a:latin typeface="Cascadia Mono" panose="020B0609020000020004" pitchFamily="49" charset="0"/>
              </a:rPr>
              <a:t>.Name, </a:t>
            </a:r>
            <a:r>
              <a:rPr lang="en-GB" sz="2200">
                <a:solidFill>
                  <a:srgbClr val="C00000"/>
                </a:solidFill>
                <a:latin typeface="Cascadia Mono" panose="020B0609020000020004" pitchFamily="49" charset="0"/>
              </a:rPr>
              <a:t>user</a:t>
            </a:r>
            <a:r>
              <a:rPr lang="en-GB" sz="2200">
                <a:solidFill>
                  <a:srgbClr val="000000"/>
                </a:solidFill>
                <a:latin typeface="Cascadia Mono" panose="020B0609020000020004" pitchFamily="49" charset="0"/>
              </a:rPr>
              <a:t>.FullName</a:t>
            </a:r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),</a:t>
            </a:r>
          </a:p>
          <a:p>
            <a:pPr marL="1376363">
              <a:lnSpc>
                <a:spcPct val="120000"/>
              </a:lnSpc>
            </a:pPr>
            <a:r>
              <a:rPr lang="en-GB" sz="2200" smtClean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2200" smtClean="0">
                <a:solidFill>
                  <a:srgbClr val="0066CC"/>
                </a:solidFill>
                <a:latin typeface="Cascadia Mono" panose="020B0609020000020004" pitchFamily="49" charset="0"/>
              </a:rPr>
              <a:t>Claim</a:t>
            </a:r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GB" sz="2200" smtClean="0">
                <a:solidFill>
                  <a:srgbClr val="0066CC"/>
                </a:solidFill>
                <a:latin typeface="Cascadia Mono" panose="020B0609020000020004" pitchFamily="49" charset="0"/>
              </a:rPr>
              <a:t>ClaimTypes</a:t>
            </a:r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.Role,"</a:t>
            </a:r>
            <a:r>
              <a:rPr lang="en-GB" sz="2200" smtClean="0">
                <a:solidFill>
                  <a:srgbClr val="C00000"/>
                </a:solidFill>
                <a:latin typeface="Cascadia Mono" panose="020B0609020000020004" pitchFamily="49" charset="0"/>
              </a:rPr>
              <a:t>RoleName</a:t>
            </a:r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"), </a:t>
            </a:r>
            <a:r>
              <a:rPr lang="en-GB" sz="2200">
                <a:solidFill>
                  <a:srgbClr val="006600"/>
                </a:solidFill>
                <a:latin typeface="Cascadia Mono" panose="020B0609020000020004" pitchFamily="49" charset="0"/>
              </a:rPr>
              <a:t>// </a:t>
            </a:r>
            <a:r>
              <a:rPr lang="en-GB" sz="2200" smtClean="0">
                <a:solidFill>
                  <a:srgbClr val="006600"/>
                </a:solidFill>
                <a:latin typeface="Cascadia Mono" panose="020B0609020000020004" pitchFamily="49" charset="0"/>
              </a:rPr>
              <a:t>option role name</a:t>
            </a:r>
            <a:endParaRPr lang="en-GB" sz="220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1376363">
              <a:lnSpc>
                <a:spcPct val="120000"/>
              </a:lnSpc>
            </a:pPr>
            <a:r>
              <a:rPr lang="en-GB" sz="2200" smtClean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2200" smtClean="0">
                <a:solidFill>
                  <a:srgbClr val="0066CC"/>
                </a:solidFill>
                <a:latin typeface="Cascadia Mono" panose="020B0609020000020004" pitchFamily="49" charset="0"/>
              </a:rPr>
              <a:t>Claim</a:t>
            </a:r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GB" sz="2200" smtClean="0">
                <a:solidFill>
                  <a:srgbClr val="0066CC"/>
                </a:solidFill>
                <a:latin typeface="Cascadia Mono" panose="020B0609020000020004" pitchFamily="49" charset="0"/>
              </a:rPr>
              <a:t>JwtRegisteredClaimNames</a:t>
            </a:r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.</a:t>
            </a:r>
            <a:r>
              <a:rPr lang="en-GB" sz="2200" smtClean="0">
                <a:solidFill>
                  <a:srgbClr val="C00000"/>
                </a:solidFill>
                <a:latin typeface="Cascadia Mono" panose="020B0609020000020004" pitchFamily="49" charset="0"/>
              </a:rPr>
              <a:t>Jti</a:t>
            </a:r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en-US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200" smtClean="0">
                <a:solidFill>
                  <a:srgbClr val="C00000"/>
                </a:solidFill>
                <a:latin typeface="Cascadia Mono" panose="020B0609020000020004" pitchFamily="49" charset="0"/>
              </a:rPr>
              <a:t>guid</a:t>
            </a:r>
            <a:r>
              <a:rPr lang="en-US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),</a:t>
            </a:r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pPr marL="1376363">
              <a:lnSpc>
                <a:spcPct val="120000"/>
              </a:lnSpc>
            </a:pPr>
            <a:r>
              <a:rPr lang="en-GB" sz="2200" smtClean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2200">
                <a:solidFill>
                  <a:srgbClr val="0066CC"/>
                </a:solidFill>
                <a:latin typeface="Cascadia Mono" panose="020B0609020000020004" pitchFamily="49" charset="0"/>
              </a:rPr>
              <a:t>Claim</a:t>
            </a:r>
            <a:r>
              <a:rPr lang="en-GB" sz="220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GB" sz="2200">
                <a:solidFill>
                  <a:srgbClr val="0066CC"/>
                </a:solidFill>
                <a:latin typeface="Cascadia Mono" panose="020B0609020000020004" pitchFamily="49" charset="0"/>
              </a:rPr>
              <a:t>JwtRegisteredClaimNames</a:t>
            </a:r>
            <a:r>
              <a:rPr lang="en-GB" sz="2200">
                <a:solidFill>
                  <a:srgbClr val="000000"/>
                </a:solidFill>
                <a:latin typeface="Cascadia Mono" panose="020B0609020000020004" pitchFamily="49" charset="0"/>
              </a:rPr>
              <a:t>.Email, </a:t>
            </a:r>
            <a:r>
              <a:rPr lang="en-GB" sz="2200">
                <a:solidFill>
                  <a:srgbClr val="C00000"/>
                </a:solidFill>
                <a:latin typeface="Cascadia Mono" panose="020B0609020000020004" pitchFamily="49" charset="0"/>
              </a:rPr>
              <a:t>user</a:t>
            </a:r>
            <a:r>
              <a:rPr lang="en-GB" sz="2200">
                <a:solidFill>
                  <a:srgbClr val="000000"/>
                </a:solidFill>
                <a:latin typeface="Cascadia Mono" panose="020B0609020000020004" pitchFamily="49" charset="0"/>
              </a:rPr>
              <a:t>.Email</a:t>
            </a:r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  <a:endParaRPr lang="en-GB" sz="220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GB" sz="220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	};   </a:t>
            </a:r>
          </a:p>
          <a:p>
            <a:r>
              <a:rPr lang="en-GB" sz="2200" smtClean="0">
                <a:solidFill>
                  <a:srgbClr val="006600"/>
                </a:solidFill>
                <a:latin typeface="Cascadia Mono" panose="020B0609020000020004" pitchFamily="49" charset="0"/>
              </a:rPr>
              <a:t>   	// Continue at next slide</a:t>
            </a:r>
            <a:endParaRPr lang="en-GB" sz="220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GB" sz="220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7831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412240"/>
            <a:ext cx="12192000" cy="406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0" y="3159760"/>
            <a:ext cx="12192000" cy="8229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37160" y="122011"/>
            <a:ext cx="6070600" cy="594995"/>
          </a:xfrm>
        </p:spPr>
        <p:txBody>
          <a:bodyPr>
            <a:normAutofit/>
          </a:bodyPr>
          <a:lstStyle/>
          <a:p>
            <a:r>
              <a:rPr lang="en-US"/>
              <a:t>Step 3</a:t>
            </a:r>
            <a:r>
              <a:rPr lang="en-US" smtClean="0"/>
              <a:t>. </a:t>
            </a:r>
            <a:r>
              <a:rPr lang="en-GB" smtClean="0"/>
              <a:t>Generate Access Token</a:t>
            </a:r>
            <a:endParaRPr lang="en-GB" sz="2800" dirty="0">
              <a:solidFill>
                <a:srgbClr val="FFFF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293415" y="176364"/>
            <a:ext cx="489858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smtClean="0">
                <a:sym typeface="Wingdings" panose="05000000000000000000" pitchFamily="2" charset="2"/>
              </a:rPr>
              <a:t>In Controller or Service </a:t>
            </a:r>
            <a:r>
              <a:rPr lang="en-GB" sz="2000">
                <a:solidFill>
                  <a:srgbClr val="006600"/>
                </a:solidFill>
                <a:latin typeface="Cascadia Mono" panose="020B0609020000020004" pitchFamily="49" charset="0"/>
              </a:rPr>
              <a:t>// Continue </a:t>
            </a:r>
            <a:endParaRPr lang="en-GB" sz="2000"/>
          </a:p>
        </p:txBody>
      </p:sp>
      <p:sp>
        <p:nvSpPr>
          <p:cNvPr id="3" name="Rectangle 2"/>
          <p:cNvSpPr/>
          <p:nvPr/>
        </p:nvSpPr>
        <p:spPr>
          <a:xfrm>
            <a:off x="206703" y="1031952"/>
            <a:ext cx="11765280" cy="5093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smtClean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jwtSettings = _configuration.GetSection(</a:t>
            </a:r>
            <a:r>
              <a:rPr lang="en-GB" sz="2000">
                <a:solidFill>
                  <a:srgbClr val="A31515"/>
                </a:solidFill>
                <a:latin typeface="Cascadia Mono" panose="020B0609020000020004" pitchFamily="49" charset="0"/>
              </a:rPr>
              <a:t>"JwtSettings"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>
              <a:spcBef>
                <a:spcPts val="600"/>
              </a:spcBef>
            </a:pP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GB" sz="200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secretKeyBytes = </a:t>
            </a:r>
            <a:r>
              <a:rPr lang="en-GB" sz="2000">
                <a:solidFill>
                  <a:srgbClr val="0066CC"/>
                </a:solidFill>
                <a:latin typeface="Cascadia Mono" panose="020B0609020000020004" pitchFamily="49" charset="0"/>
              </a:rPr>
              <a:t>Encoding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.UTF8.GetBytes(jwtSettings[</a:t>
            </a:r>
            <a:r>
              <a:rPr lang="en-GB" sz="2000">
                <a:solidFill>
                  <a:srgbClr val="A31515"/>
                </a:solidFill>
                <a:latin typeface="Cascadia Mono" panose="020B0609020000020004" pitchFamily="49" charset="0"/>
              </a:rPr>
              <a:t>"SecretKey"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]);</a:t>
            </a:r>
          </a:p>
          <a:p>
            <a:pPr marL="568325">
              <a:spcBef>
                <a:spcPts val="600"/>
              </a:spcBef>
            </a:pPr>
            <a:r>
              <a:rPr lang="en-GB" sz="2000" smtClean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securityKey = </a:t>
            </a:r>
            <a:r>
              <a:rPr lang="en-GB" sz="200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2000">
                <a:solidFill>
                  <a:srgbClr val="0066CC"/>
                </a:solidFill>
                <a:latin typeface="Cascadia Mono" panose="020B0609020000020004" pitchFamily="49" charset="0"/>
              </a:rPr>
              <a:t>SymmetricSecurityKey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(secretKeyBytes);            </a:t>
            </a: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smtClean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>
                <a:solidFill>
                  <a:srgbClr val="000000"/>
                </a:solidFill>
                <a:latin typeface="Cascadia Mono" panose="020B0609020000020004" pitchFamily="49" charset="0"/>
              </a:rPr>
              <a:t>credentials = </a:t>
            </a:r>
            <a:r>
              <a:rPr lang="en-US" sz="200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0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sz="2000" smtClean="0">
                <a:solidFill>
                  <a:srgbClr val="0066CC"/>
                </a:solidFill>
                <a:latin typeface="Cascadia Mono" panose="020B0609020000020004" pitchFamily="49" charset="0"/>
              </a:rPr>
              <a:t>SigningCredentials</a:t>
            </a:r>
            <a:r>
              <a:rPr lang="en-US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(securityKey,</a:t>
            </a:r>
            <a:r>
              <a:rPr lang="en-US" sz="2000" smtClean="0">
                <a:solidFill>
                  <a:srgbClr val="0066CC"/>
                </a:solidFill>
                <a:latin typeface="Cascadia Mono" panose="020B0609020000020004" pitchFamily="49" charset="0"/>
              </a:rPr>
              <a:t>SecurityAlgorithms</a:t>
            </a:r>
            <a:r>
              <a:rPr lang="en-US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.HmacSha512Signature);</a:t>
            </a:r>
            <a:endParaRPr lang="en-US" sz="200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>
              <a:spcBef>
                <a:spcPts val="600"/>
              </a:spcBef>
            </a:pP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GB" sz="200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token = </a:t>
            </a:r>
            <a:r>
              <a:rPr lang="en-GB" sz="200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2000">
                <a:solidFill>
                  <a:srgbClr val="0066CC"/>
                </a:solidFill>
                <a:latin typeface="Cascadia Mono" panose="020B0609020000020004" pitchFamily="49" charset="0"/>
              </a:rPr>
              <a:t>JwtSecurityToken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</a:p>
          <a:p>
            <a:pPr>
              <a:spcBef>
                <a:spcPts val="600"/>
              </a:spcBef>
            </a:pP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       issuer: jwtSettings[</a:t>
            </a:r>
            <a:r>
              <a:rPr lang="en-GB" sz="2000">
                <a:solidFill>
                  <a:srgbClr val="A31515"/>
                </a:solidFill>
                <a:latin typeface="Cascadia Mono" panose="020B0609020000020004" pitchFamily="49" charset="0"/>
              </a:rPr>
              <a:t>"Issuer"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],  </a:t>
            </a:r>
          </a:p>
          <a:p>
            <a:pPr>
              <a:spcBef>
                <a:spcPts val="600"/>
              </a:spcBef>
            </a:pP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       audience: jwtSettings[</a:t>
            </a:r>
            <a:r>
              <a:rPr lang="en-GB" sz="2000">
                <a:solidFill>
                  <a:srgbClr val="A31515"/>
                </a:solidFill>
                <a:latin typeface="Cascadia Mono" panose="020B0609020000020004" pitchFamily="49" charset="0"/>
              </a:rPr>
              <a:t>"Audience"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], </a:t>
            </a:r>
          </a:p>
          <a:p>
            <a:pPr>
              <a:spcBef>
                <a:spcPts val="600"/>
              </a:spcBef>
            </a:pP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       claims: authoClaims,</a:t>
            </a:r>
          </a:p>
          <a:p>
            <a:pPr>
              <a:spcBef>
                <a:spcPts val="600"/>
              </a:spcBef>
            </a:pP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       expires: </a:t>
            </a:r>
            <a:r>
              <a:rPr lang="en-GB" sz="2000">
                <a:solidFill>
                  <a:srgbClr val="0066CC"/>
                </a:solidFill>
                <a:latin typeface="Cascadia Mono" panose="020B0609020000020004" pitchFamily="49" charset="0"/>
              </a:rPr>
              <a:t>DateTime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.UtcNow.AddMinutes(60),</a:t>
            </a:r>
          </a:p>
          <a:p>
            <a:pPr>
              <a:spcBef>
                <a:spcPts val="600"/>
              </a:spcBef>
            </a:pP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       signingCredentials: credentials</a:t>
            </a:r>
          </a:p>
          <a:p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   );</a:t>
            </a:r>
          </a:p>
          <a:p>
            <a:r>
              <a:rPr lang="en-GB" sz="2000" smtClean="0">
                <a:solidFill>
                  <a:srgbClr val="0000FF"/>
                </a:solidFill>
                <a:latin typeface="Cascadia Mono" panose="020B0609020000020004" pitchFamily="49" charset="0"/>
              </a:rPr>
              <a:t>    return</a:t>
            </a: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2000" smtClean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2000">
                <a:solidFill>
                  <a:srgbClr val="0066CC"/>
                </a:solidFill>
                <a:latin typeface="Cascadia Mono" panose="020B0609020000020004" pitchFamily="49" charset="0"/>
              </a:rPr>
              <a:t>JwtSecurityTokenHandler().</a:t>
            </a:r>
            <a:r>
              <a:rPr lang="en-GB" sz="2000">
                <a:solidFill>
                  <a:srgbClr val="C00000"/>
                </a:solidFill>
                <a:latin typeface="Cascadia Mono" panose="020B0609020000020004" pitchFamily="49" charset="0"/>
              </a:rPr>
              <a:t>WriteToken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(token</a:t>
            </a: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);  </a:t>
            </a:r>
            <a:r>
              <a:rPr lang="en-GB" sz="2000" smtClean="0">
                <a:solidFill>
                  <a:srgbClr val="006600"/>
                </a:solidFill>
                <a:latin typeface="Cascadia Mono" panose="020B0609020000020004" pitchFamily="49" charset="0"/>
              </a:rPr>
              <a:t>//accessToken</a:t>
            </a:r>
            <a:endParaRPr lang="en-GB" sz="2000">
              <a:solidFill>
                <a:srgbClr val="006600"/>
              </a:solidFill>
              <a:latin typeface="Cascadia Mono" panose="020B0609020000020004" pitchFamily="49" charset="0"/>
            </a:endParaRPr>
          </a:p>
          <a:p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45116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37160" y="122011"/>
            <a:ext cx="6070600" cy="594995"/>
          </a:xfrm>
        </p:spPr>
        <p:txBody>
          <a:bodyPr>
            <a:normAutofit/>
          </a:bodyPr>
          <a:lstStyle/>
          <a:p>
            <a:r>
              <a:rPr lang="en-US"/>
              <a:t>Step 3</a:t>
            </a:r>
            <a:r>
              <a:rPr lang="en-US" smtClean="0"/>
              <a:t>. </a:t>
            </a:r>
            <a:r>
              <a:rPr lang="en-GB" smtClean="0"/>
              <a:t>Generate Access Token</a:t>
            </a:r>
            <a:endParaRPr lang="en-GB" sz="2800" dirty="0">
              <a:solidFill>
                <a:srgbClr val="FFFF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984546" y="145884"/>
            <a:ext cx="30150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smtClean="0">
                <a:sym typeface="Wingdings" panose="05000000000000000000" pitchFamily="2" charset="2"/>
              </a:rPr>
              <a:t>In Controller or Service</a:t>
            </a:r>
            <a:endParaRPr lang="en-GB" sz="2000"/>
          </a:p>
        </p:txBody>
      </p:sp>
      <p:sp>
        <p:nvSpPr>
          <p:cNvPr id="3" name="Rectangle 2"/>
          <p:cNvSpPr/>
          <p:nvPr/>
        </p:nvSpPr>
        <p:spPr>
          <a:xfrm>
            <a:off x="227023" y="737312"/>
            <a:ext cx="11765280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GenerateAccessToken(</a:t>
            </a:r>
            <a:r>
              <a:rPr lang="en-GB">
                <a:solidFill>
                  <a:srgbClr val="0066CC"/>
                </a:solidFill>
                <a:latin typeface="Cascadia Mono" panose="020B0609020000020004" pitchFamily="49" charset="0"/>
              </a:rPr>
              <a:t>Account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>
                <a:solidFill>
                  <a:srgbClr val="C00000"/>
                </a:solidFill>
                <a:latin typeface="Cascadia Mono" panose="020B0609020000020004" pitchFamily="49" charset="0"/>
              </a:rPr>
              <a:t>user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GB" sz="1600" smtClean="0">
                <a:solidFill>
                  <a:srgbClr val="000000"/>
                </a:solidFill>
                <a:latin typeface="Cascadia Mono" panose="020B0609020000020004" pitchFamily="49" charset="0"/>
              </a:rPr>
              <a:t>{     </a:t>
            </a:r>
            <a:endParaRPr lang="en-GB" sz="160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GB" sz="160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authoClaims = </a:t>
            </a:r>
            <a:r>
              <a:rPr lang="en-GB" sz="160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List&lt;</a:t>
            </a:r>
            <a:r>
              <a:rPr lang="en-GB" sz="1600">
                <a:solidFill>
                  <a:srgbClr val="0066CC"/>
                </a:solidFill>
                <a:latin typeface="Cascadia Mono" panose="020B0609020000020004" pitchFamily="49" charset="0"/>
              </a:rPr>
              <a:t>Claim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en-GB" sz="160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1600">
                <a:solidFill>
                  <a:srgbClr val="0066CC"/>
                </a:solidFill>
                <a:latin typeface="Cascadia Mono" panose="020B0609020000020004" pitchFamily="49" charset="0"/>
              </a:rPr>
              <a:t>Claim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GB" sz="1600">
                <a:solidFill>
                  <a:srgbClr val="A31515"/>
                </a:solidFill>
                <a:latin typeface="Cascadia Mono" panose="020B0609020000020004" pitchFamily="49" charset="0"/>
              </a:rPr>
              <a:t>"Id"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GB" sz="1600">
                <a:solidFill>
                  <a:srgbClr val="C00000"/>
                </a:solidFill>
                <a:latin typeface="Cascadia Mono" panose="020B0609020000020004" pitchFamily="49" charset="0"/>
              </a:rPr>
              <a:t>user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.Id.ToString()),</a:t>
            </a:r>
          </a:p>
          <a:p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en-GB" sz="160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1600">
                <a:solidFill>
                  <a:srgbClr val="0066CC"/>
                </a:solidFill>
                <a:latin typeface="Cascadia Mono" panose="020B0609020000020004" pitchFamily="49" charset="0"/>
              </a:rPr>
              <a:t>Claim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GB" sz="1600">
                <a:solidFill>
                  <a:srgbClr val="A31515"/>
                </a:solidFill>
                <a:latin typeface="Cascadia Mono" panose="020B0609020000020004" pitchFamily="49" charset="0"/>
              </a:rPr>
              <a:t>"UserName"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GB" sz="1600">
                <a:solidFill>
                  <a:srgbClr val="C00000"/>
                </a:solidFill>
                <a:latin typeface="Cascadia Mono" panose="020B0609020000020004" pitchFamily="49" charset="0"/>
              </a:rPr>
              <a:t>user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.UserName),</a:t>
            </a:r>
          </a:p>
          <a:p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en-GB" sz="160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1600">
                <a:solidFill>
                  <a:srgbClr val="0066CC"/>
                </a:solidFill>
                <a:latin typeface="Cascadia Mono" panose="020B0609020000020004" pitchFamily="49" charset="0"/>
              </a:rPr>
              <a:t>Claim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GB" sz="1600">
                <a:solidFill>
                  <a:srgbClr val="0066CC"/>
                </a:solidFill>
                <a:latin typeface="Cascadia Mono" panose="020B0609020000020004" pitchFamily="49" charset="0"/>
              </a:rPr>
              <a:t>ClaimTypes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.Name, user.FullName),</a:t>
            </a:r>
          </a:p>
          <a:p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en-GB" sz="160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1600">
                <a:solidFill>
                  <a:srgbClr val="0066CC"/>
                </a:solidFill>
                <a:latin typeface="Cascadia Mono" panose="020B0609020000020004" pitchFamily="49" charset="0"/>
              </a:rPr>
              <a:t>Claim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GB" sz="1600">
                <a:solidFill>
                  <a:srgbClr val="0066CC"/>
                </a:solidFill>
                <a:latin typeface="Cascadia Mono" panose="020B0609020000020004" pitchFamily="49" charset="0"/>
              </a:rPr>
              <a:t>JwtRegisteredClaimNames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.Jti, </a:t>
            </a:r>
            <a:r>
              <a:rPr lang="en-GB" sz="1600">
                <a:solidFill>
                  <a:srgbClr val="C00000"/>
                </a:solidFill>
                <a:latin typeface="Cascadia Mono" panose="020B0609020000020004" pitchFamily="49" charset="0"/>
              </a:rPr>
              <a:t>Guid.NewGuid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().ToString()),</a:t>
            </a:r>
          </a:p>
          <a:p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en-GB" sz="160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1600">
                <a:solidFill>
                  <a:srgbClr val="0066CC"/>
                </a:solidFill>
                <a:latin typeface="Cascadia Mono" panose="020B0609020000020004" pitchFamily="49" charset="0"/>
              </a:rPr>
              <a:t>Claim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GB" sz="1600">
                <a:solidFill>
                  <a:srgbClr val="0066CC"/>
                </a:solidFill>
                <a:latin typeface="Cascadia Mono" panose="020B0609020000020004" pitchFamily="49" charset="0"/>
              </a:rPr>
              <a:t>JwtRegisteredClaimNames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.Email, user.Email),              </a:t>
            </a:r>
          </a:p>
          <a:p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   };            </a:t>
            </a:r>
            <a:endParaRPr lang="en-GB" sz="160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GB" sz="1600" smtClean="0">
                <a:solidFill>
                  <a:srgbClr val="0000FF"/>
                </a:solidFill>
                <a:latin typeface="Cascadia Mono" panose="020B0609020000020004" pitchFamily="49" charset="0"/>
              </a:rPr>
              <a:t>    var</a:t>
            </a:r>
            <a:r>
              <a:rPr lang="en-GB" sz="160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jwtSettings = _configuration.GetSection(</a:t>
            </a:r>
            <a:r>
              <a:rPr lang="en-GB" sz="1600">
                <a:solidFill>
                  <a:srgbClr val="A31515"/>
                </a:solidFill>
                <a:latin typeface="Cascadia Mono" panose="020B0609020000020004" pitchFamily="49" charset="0"/>
              </a:rPr>
              <a:t>"JwtSettings"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GB" sz="160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secretKeyBytes = </a:t>
            </a:r>
            <a:r>
              <a:rPr lang="en-GB" sz="1600">
                <a:solidFill>
                  <a:srgbClr val="0066CC"/>
                </a:solidFill>
                <a:latin typeface="Cascadia Mono" panose="020B0609020000020004" pitchFamily="49" charset="0"/>
              </a:rPr>
              <a:t>Encoding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.UTF8.GetBytes(jwtSettings[</a:t>
            </a:r>
            <a:r>
              <a:rPr lang="en-GB" sz="1600">
                <a:solidFill>
                  <a:srgbClr val="A31515"/>
                </a:solidFill>
                <a:latin typeface="Cascadia Mono" panose="020B0609020000020004" pitchFamily="49" charset="0"/>
              </a:rPr>
              <a:t>"SecretKey"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]);</a:t>
            </a:r>
          </a:p>
          <a:p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GB" sz="160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securityKey = </a:t>
            </a:r>
            <a:r>
              <a:rPr lang="en-GB" sz="160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1600">
                <a:solidFill>
                  <a:srgbClr val="0066CC"/>
                </a:solidFill>
                <a:latin typeface="Cascadia Mono" panose="020B0609020000020004" pitchFamily="49" charset="0"/>
              </a:rPr>
              <a:t>SymmetricSecurityKey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(secretKeyBytes);            </a:t>
            </a:r>
          </a:p>
          <a:p>
            <a:r>
              <a:rPr lang="en-US" sz="160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600">
                <a:solidFill>
                  <a:srgbClr val="000000"/>
                </a:solidFill>
                <a:latin typeface="Cascadia Mono" panose="020B0609020000020004" pitchFamily="49" charset="0"/>
              </a:rPr>
              <a:t> credentials = </a:t>
            </a:r>
            <a:r>
              <a:rPr lang="en-US" sz="160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6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smtClean="0">
                <a:solidFill>
                  <a:srgbClr val="0066CC"/>
                </a:solidFill>
                <a:latin typeface="Cascadia Mono" panose="020B0609020000020004" pitchFamily="49" charset="0"/>
              </a:rPr>
              <a:t>SigningCredentials</a:t>
            </a:r>
            <a:r>
              <a:rPr lang="en-US" sz="1600" smtClean="0">
                <a:solidFill>
                  <a:srgbClr val="000000"/>
                </a:solidFill>
                <a:latin typeface="Cascadia Mono" panose="020B0609020000020004" pitchFamily="49" charset="0"/>
              </a:rPr>
              <a:t>(securityKey,</a:t>
            </a:r>
            <a:r>
              <a:rPr lang="en-US" sz="1600" smtClean="0">
                <a:solidFill>
                  <a:srgbClr val="0066CC"/>
                </a:solidFill>
                <a:latin typeface="Cascadia Mono" panose="020B0609020000020004" pitchFamily="49" charset="0"/>
              </a:rPr>
              <a:t>SecurityAlgorithms</a:t>
            </a:r>
            <a:r>
              <a:rPr lang="en-US" sz="1600" smtClean="0">
                <a:solidFill>
                  <a:srgbClr val="000000"/>
                </a:solidFill>
                <a:latin typeface="Cascadia Mono" panose="020B0609020000020004" pitchFamily="49" charset="0"/>
              </a:rPr>
              <a:t>.HmacSha512Signature</a:t>
            </a:r>
            <a:r>
              <a:rPr lang="en-US" sz="1600">
                <a:solidFill>
                  <a:srgbClr val="000000"/>
                </a:solidFill>
                <a:latin typeface="Cascadia Mono" panose="020B0609020000020004" pitchFamily="49" charset="0"/>
              </a:rPr>
              <a:t>);            </a:t>
            </a:r>
          </a:p>
          <a:p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GB" sz="160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token = </a:t>
            </a:r>
            <a:r>
              <a:rPr lang="en-GB" sz="160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1600">
                <a:solidFill>
                  <a:srgbClr val="0066CC"/>
                </a:solidFill>
                <a:latin typeface="Cascadia Mono" panose="020B0609020000020004" pitchFamily="49" charset="0"/>
              </a:rPr>
              <a:t>JwtSecurityToken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</a:p>
          <a:p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       issuer: jwtSettings[</a:t>
            </a:r>
            <a:r>
              <a:rPr lang="en-GB" sz="1600">
                <a:solidFill>
                  <a:srgbClr val="A31515"/>
                </a:solidFill>
                <a:latin typeface="Cascadia Mono" panose="020B0609020000020004" pitchFamily="49" charset="0"/>
              </a:rPr>
              <a:t>"Issuer"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],  </a:t>
            </a:r>
          </a:p>
          <a:p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       audience: jwtSettings[</a:t>
            </a:r>
            <a:r>
              <a:rPr lang="en-GB" sz="1600">
                <a:solidFill>
                  <a:srgbClr val="A31515"/>
                </a:solidFill>
                <a:latin typeface="Cascadia Mono" panose="020B0609020000020004" pitchFamily="49" charset="0"/>
              </a:rPr>
              <a:t>"Audience"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], </a:t>
            </a:r>
          </a:p>
          <a:p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       claims: authoClaims,</a:t>
            </a:r>
          </a:p>
          <a:p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       expires: </a:t>
            </a:r>
            <a:r>
              <a:rPr lang="en-GB" sz="1600">
                <a:solidFill>
                  <a:srgbClr val="0066CC"/>
                </a:solidFill>
                <a:latin typeface="Cascadia Mono" panose="020B0609020000020004" pitchFamily="49" charset="0"/>
              </a:rPr>
              <a:t>DateTime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.UtcNow.AddMinutes(60),</a:t>
            </a:r>
          </a:p>
          <a:p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       signingCredentials: credentials</a:t>
            </a:r>
          </a:p>
          <a:p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   );</a:t>
            </a:r>
          </a:p>
          <a:p>
            <a:r>
              <a:rPr lang="en-GB" sz="1600" smtClean="0">
                <a:solidFill>
                  <a:srgbClr val="0000FF"/>
                </a:solidFill>
                <a:latin typeface="Cascadia Mono" panose="020B0609020000020004" pitchFamily="49" charset="0"/>
              </a:rPr>
              <a:t>    return</a:t>
            </a:r>
            <a:r>
              <a:rPr lang="en-GB" sz="160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1600" smtClean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GB" sz="160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1600">
                <a:solidFill>
                  <a:srgbClr val="0066CC"/>
                </a:solidFill>
                <a:latin typeface="Cascadia Mono" panose="020B0609020000020004" pitchFamily="49" charset="0"/>
              </a:rPr>
              <a:t>JwtSecurityTokenHandler().</a:t>
            </a:r>
            <a:r>
              <a:rPr lang="en-GB" sz="1600">
                <a:solidFill>
                  <a:srgbClr val="C00000"/>
                </a:solidFill>
                <a:latin typeface="Cascadia Mono" panose="020B0609020000020004" pitchFamily="49" charset="0"/>
              </a:rPr>
              <a:t>WriteToken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(token</a:t>
            </a:r>
            <a:r>
              <a:rPr lang="en-GB" sz="1600" smtClean="0">
                <a:solidFill>
                  <a:srgbClr val="000000"/>
                </a:solidFill>
                <a:latin typeface="Cascadia Mono" panose="020B0609020000020004" pitchFamily="49" charset="0"/>
              </a:rPr>
              <a:t>);  </a:t>
            </a:r>
            <a:r>
              <a:rPr lang="en-GB" sz="1600" smtClean="0">
                <a:solidFill>
                  <a:srgbClr val="006600"/>
                </a:solidFill>
                <a:latin typeface="Cascadia Mono" panose="020B0609020000020004" pitchFamily="49" charset="0"/>
              </a:rPr>
              <a:t>//accessToken            </a:t>
            </a:r>
            <a:endParaRPr lang="en-GB" sz="1600">
              <a:solidFill>
                <a:srgbClr val="006600"/>
              </a:solidFill>
              <a:latin typeface="Cascadia Mono" panose="020B0609020000020004" pitchFamily="49" charset="0"/>
            </a:endParaRPr>
          </a:p>
          <a:p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27262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37160" y="122011"/>
            <a:ext cx="6070600" cy="594995"/>
          </a:xfrm>
        </p:spPr>
        <p:txBody>
          <a:bodyPr>
            <a:normAutofit/>
          </a:bodyPr>
          <a:lstStyle/>
          <a:p>
            <a:r>
              <a:rPr lang="en-US"/>
              <a:t>Step </a:t>
            </a:r>
            <a:r>
              <a:rPr lang="en-US" smtClean="0"/>
              <a:t>4. </a:t>
            </a:r>
            <a:r>
              <a:rPr lang="en-GB" smtClean="0"/>
              <a:t>Login method</a:t>
            </a:r>
            <a:endParaRPr lang="en-GB" sz="2800" dirty="0">
              <a:solidFill>
                <a:srgbClr val="FFFF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984546" y="145884"/>
            <a:ext cx="30150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smtClean="0">
                <a:sym typeface="Wingdings" panose="05000000000000000000" pitchFamily="2" charset="2"/>
              </a:rPr>
              <a:t>In Controller or Service</a:t>
            </a:r>
            <a:endParaRPr lang="en-GB" sz="2000"/>
          </a:p>
        </p:txBody>
      </p:sp>
      <p:sp>
        <p:nvSpPr>
          <p:cNvPr id="3" name="Rectangle 2"/>
          <p:cNvSpPr/>
          <p:nvPr/>
        </p:nvSpPr>
        <p:spPr>
          <a:xfrm>
            <a:off x="227023" y="737312"/>
            <a:ext cx="11765280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GenerateAccessToken(</a:t>
            </a:r>
            <a:r>
              <a:rPr lang="en-GB">
                <a:solidFill>
                  <a:srgbClr val="0066CC"/>
                </a:solidFill>
                <a:latin typeface="Cascadia Mono" panose="020B0609020000020004" pitchFamily="49" charset="0"/>
              </a:rPr>
              <a:t>Account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>
                <a:solidFill>
                  <a:srgbClr val="C00000"/>
                </a:solidFill>
                <a:latin typeface="Cascadia Mono" panose="020B0609020000020004" pitchFamily="49" charset="0"/>
              </a:rPr>
              <a:t>user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GB" sz="1600" smtClean="0">
                <a:solidFill>
                  <a:srgbClr val="000000"/>
                </a:solidFill>
                <a:latin typeface="Cascadia Mono" panose="020B0609020000020004" pitchFamily="49" charset="0"/>
              </a:rPr>
              <a:t>{     </a:t>
            </a:r>
            <a:endParaRPr lang="en-GB" sz="160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GB" sz="160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authoClaims = </a:t>
            </a:r>
            <a:r>
              <a:rPr lang="en-GB" sz="160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List&lt;</a:t>
            </a:r>
            <a:r>
              <a:rPr lang="en-GB" sz="1600">
                <a:solidFill>
                  <a:srgbClr val="0066CC"/>
                </a:solidFill>
                <a:latin typeface="Cascadia Mono" panose="020B0609020000020004" pitchFamily="49" charset="0"/>
              </a:rPr>
              <a:t>Claim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en-GB" sz="160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1600">
                <a:solidFill>
                  <a:srgbClr val="0066CC"/>
                </a:solidFill>
                <a:latin typeface="Cascadia Mono" panose="020B0609020000020004" pitchFamily="49" charset="0"/>
              </a:rPr>
              <a:t>Claim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GB" sz="1600">
                <a:solidFill>
                  <a:srgbClr val="A31515"/>
                </a:solidFill>
                <a:latin typeface="Cascadia Mono" panose="020B0609020000020004" pitchFamily="49" charset="0"/>
              </a:rPr>
              <a:t>"Id"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GB" sz="1600">
                <a:solidFill>
                  <a:srgbClr val="C00000"/>
                </a:solidFill>
                <a:latin typeface="Cascadia Mono" panose="020B0609020000020004" pitchFamily="49" charset="0"/>
              </a:rPr>
              <a:t>user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.Id.ToString()),</a:t>
            </a:r>
          </a:p>
          <a:p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en-GB" sz="160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1600">
                <a:solidFill>
                  <a:srgbClr val="0066CC"/>
                </a:solidFill>
                <a:latin typeface="Cascadia Mono" panose="020B0609020000020004" pitchFamily="49" charset="0"/>
              </a:rPr>
              <a:t>Claim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GB" sz="1600">
                <a:solidFill>
                  <a:srgbClr val="A31515"/>
                </a:solidFill>
                <a:latin typeface="Cascadia Mono" panose="020B0609020000020004" pitchFamily="49" charset="0"/>
              </a:rPr>
              <a:t>"UserName"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GB" sz="1600">
                <a:solidFill>
                  <a:srgbClr val="C00000"/>
                </a:solidFill>
                <a:latin typeface="Cascadia Mono" panose="020B0609020000020004" pitchFamily="49" charset="0"/>
              </a:rPr>
              <a:t>user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.UserName),</a:t>
            </a:r>
          </a:p>
          <a:p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en-GB" sz="160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1600">
                <a:solidFill>
                  <a:srgbClr val="0066CC"/>
                </a:solidFill>
                <a:latin typeface="Cascadia Mono" panose="020B0609020000020004" pitchFamily="49" charset="0"/>
              </a:rPr>
              <a:t>Claim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GB" sz="1600">
                <a:solidFill>
                  <a:srgbClr val="0066CC"/>
                </a:solidFill>
                <a:latin typeface="Cascadia Mono" panose="020B0609020000020004" pitchFamily="49" charset="0"/>
              </a:rPr>
              <a:t>ClaimTypes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.Name, user.FullName),</a:t>
            </a:r>
          </a:p>
          <a:p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en-GB" sz="160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1600">
                <a:solidFill>
                  <a:srgbClr val="0066CC"/>
                </a:solidFill>
                <a:latin typeface="Cascadia Mono" panose="020B0609020000020004" pitchFamily="49" charset="0"/>
              </a:rPr>
              <a:t>Claim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GB" sz="1600">
                <a:solidFill>
                  <a:srgbClr val="0066CC"/>
                </a:solidFill>
                <a:latin typeface="Cascadia Mono" panose="020B0609020000020004" pitchFamily="49" charset="0"/>
              </a:rPr>
              <a:t>JwtRegisteredClaimNames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.Jti, </a:t>
            </a:r>
            <a:r>
              <a:rPr lang="en-GB" sz="1600">
                <a:solidFill>
                  <a:srgbClr val="C00000"/>
                </a:solidFill>
                <a:latin typeface="Cascadia Mono" panose="020B0609020000020004" pitchFamily="49" charset="0"/>
              </a:rPr>
              <a:t>Guid.NewGuid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().ToString()),</a:t>
            </a:r>
          </a:p>
          <a:p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en-GB" sz="160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1600">
                <a:solidFill>
                  <a:srgbClr val="0066CC"/>
                </a:solidFill>
                <a:latin typeface="Cascadia Mono" panose="020B0609020000020004" pitchFamily="49" charset="0"/>
              </a:rPr>
              <a:t>Claim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GB" sz="1600">
                <a:solidFill>
                  <a:srgbClr val="0066CC"/>
                </a:solidFill>
                <a:latin typeface="Cascadia Mono" panose="020B0609020000020004" pitchFamily="49" charset="0"/>
              </a:rPr>
              <a:t>JwtRegisteredClaimNames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.Email, user.Email),              </a:t>
            </a:r>
          </a:p>
          <a:p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   };            </a:t>
            </a:r>
            <a:endParaRPr lang="en-GB" sz="160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GB" sz="1600" smtClean="0">
                <a:solidFill>
                  <a:srgbClr val="0000FF"/>
                </a:solidFill>
                <a:latin typeface="Cascadia Mono" panose="020B0609020000020004" pitchFamily="49" charset="0"/>
              </a:rPr>
              <a:t>    var</a:t>
            </a:r>
            <a:r>
              <a:rPr lang="en-GB" sz="160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jwtSettings = _configuration.GetSection(</a:t>
            </a:r>
            <a:r>
              <a:rPr lang="en-GB" sz="1600">
                <a:solidFill>
                  <a:srgbClr val="A31515"/>
                </a:solidFill>
                <a:latin typeface="Cascadia Mono" panose="020B0609020000020004" pitchFamily="49" charset="0"/>
              </a:rPr>
              <a:t>"JwtSettings"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GB" sz="160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secretKeyBytes = </a:t>
            </a:r>
            <a:r>
              <a:rPr lang="en-GB" sz="1600">
                <a:solidFill>
                  <a:srgbClr val="0066CC"/>
                </a:solidFill>
                <a:latin typeface="Cascadia Mono" panose="020B0609020000020004" pitchFamily="49" charset="0"/>
              </a:rPr>
              <a:t>Encoding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.UTF8.GetBytes(jwtSettings[</a:t>
            </a:r>
            <a:r>
              <a:rPr lang="en-GB" sz="1600">
                <a:solidFill>
                  <a:srgbClr val="A31515"/>
                </a:solidFill>
                <a:latin typeface="Cascadia Mono" panose="020B0609020000020004" pitchFamily="49" charset="0"/>
              </a:rPr>
              <a:t>"SecretKey"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]);</a:t>
            </a:r>
          </a:p>
          <a:p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GB" sz="160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securityKey = </a:t>
            </a:r>
            <a:r>
              <a:rPr lang="en-GB" sz="160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1600">
                <a:solidFill>
                  <a:srgbClr val="0066CC"/>
                </a:solidFill>
                <a:latin typeface="Cascadia Mono" panose="020B0609020000020004" pitchFamily="49" charset="0"/>
              </a:rPr>
              <a:t>SymmetricSecurityKey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(secretKeyBytes);            </a:t>
            </a:r>
          </a:p>
          <a:p>
            <a:r>
              <a:rPr lang="en-US" sz="160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600">
                <a:solidFill>
                  <a:srgbClr val="000000"/>
                </a:solidFill>
                <a:latin typeface="Cascadia Mono" panose="020B0609020000020004" pitchFamily="49" charset="0"/>
              </a:rPr>
              <a:t> credentials = </a:t>
            </a:r>
            <a:r>
              <a:rPr lang="en-US" sz="160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6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smtClean="0">
                <a:solidFill>
                  <a:srgbClr val="0066CC"/>
                </a:solidFill>
                <a:latin typeface="Cascadia Mono" panose="020B0609020000020004" pitchFamily="49" charset="0"/>
              </a:rPr>
              <a:t>SigningCredentials</a:t>
            </a:r>
            <a:r>
              <a:rPr lang="en-US" sz="1600" smtClean="0">
                <a:solidFill>
                  <a:srgbClr val="000000"/>
                </a:solidFill>
                <a:latin typeface="Cascadia Mono" panose="020B0609020000020004" pitchFamily="49" charset="0"/>
              </a:rPr>
              <a:t>(securityKey,</a:t>
            </a:r>
            <a:r>
              <a:rPr lang="en-US" sz="1600" smtClean="0">
                <a:solidFill>
                  <a:srgbClr val="0066CC"/>
                </a:solidFill>
                <a:latin typeface="Cascadia Mono" panose="020B0609020000020004" pitchFamily="49" charset="0"/>
              </a:rPr>
              <a:t>SecurityAlgorithms</a:t>
            </a:r>
            <a:r>
              <a:rPr lang="en-US" sz="1600" smtClean="0">
                <a:solidFill>
                  <a:srgbClr val="000000"/>
                </a:solidFill>
                <a:latin typeface="Cascadia Mono" panose="020B0609020000020004" pitchFamily="49" charset="0"/>
              </a:rPr>
              <a:t>.HmacSha512Signature</a:t>
            </a:r>
            <a:r>
              <a:rPr lang="en-US" sz="1600">
                <a:solidFill>
                  <a:srgbClr val="000000"/>
                </a:solidFill>
                <a:latin typeface="Cascadia Mono" panose="020B0609020000020004" pitchFamily="49" charset="0"/>
              </a:rPr>
              <a:t>);            </a:t>
            </a:r>
          </a:p>
          <a:p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GB" sz="160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token = </a:t>
            </a:r>
            <a:r>
              <a:rPr lang="en-GB" sz="160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1600">
                <a:solidFill>
                  <a:srgbClr val="0066CC"/>
                </a:solidFill>
                <a:latin typeface="Cascadia Mono" panose="020B0609020000020004" pitchFamily="49" charset="0"/>
              </a:rPr>
              <a:t>JwtSecurityToken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</a:p>
          <a:p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       issuer: jwtSettings[</a:t>
            </a:r>
            <a:r>
              <a:rPr lang="en-GB" sz="1600">
                <a:solidFill>
                  <a:srgbClr val="A31515"/>
                </a:solidFill>
                <a:latin typeface="Cascadia Mono" panose="020B0609020000020004" pitchFamily="49" charset="0"/>
              </a:rPr>
              <a:t>"Issuer"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],  </a:t>
            </a:r>
          </a:p>
          <a:p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       audience: jwtSettings[</a:t>
            </a:r>
            <a:r>
              <a:rPr lang="en-GB" sz="1600">
                <a:solidFill>
                  <a:srgbClr val="A31515"/>
                </a:solidFill>
                <a:latin typeface="Cascadia Mono" panose="020B0609020000020004" pitchFamily="49" charset="0"/>
              </a:rPr>
              <a:t>"Audience"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], </a:t>
            </a:r>
          </a:p>
          <a:p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       claims: authoClaims,</a:t>
            </a:r>
          </a:p>
          <a:p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       expires: </a:t>
            </a:r>
            <a:r>
              <a:rPr lang="en-GB" sz="1600">
                <a:solidFill>
                  <a:srgbClr val="0066CC"/>
                </a:solidFill>
                <a:latin typeface="Cascadia Mono" panose="020B0609020000020004" pitchFamily="49" charset="0"/>
              </a:rPr>
              <a:t>DateTime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.UtcNow.AddMinutes(60),</a:t>
            </a:r>
          </a:p>
          <a:p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       signingCredentials: credentials</a:t>
            </a:r>
          </a:p>
          <a:p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    );</a:t>
            </a:r>
          </a:p>
          <a:p>
            <a:r>
              <a:rPr lang="en-GB" sz="1600" smtClean="0">
                <a:solidFill>
                  <a:srgbClr val="0000FF"/>
                </a:solidFill>
                <a:latin typeface="Cascadia Mono" panose="020B0609020000020004" pitchFamily="49" charset="0"/>
              </a:rPr>
              <a:t>    return</a:t>
            </a:r>
            <a:r>
              <a:rPr lang="en-GB" sz="160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1600" smtClean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GB" sz="160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1600">
                <a:solidFill>
                  <a:srgbClr val="0066CC"/>
                </a:solidFill>
                <a:latin typeface="Cascadia Mono" panose="020B0609020000020004" pitchFamily="49" charset="0"/>
              </a:rPr>
              <a:t>JwtSecurityTokenHandler().</a:t>
            </a:r>
            <a:r>
              <a:rPr lang="en-GB" sz="1600">
                <a:solidFill>
                  <a:srgbClr val="C00000"/>
                </a:solidFill>
                <a:latin typeface="Cascadia Mono" panose="020B0609020000020004" pitchFamily="49" charset="0"/>
              </a:rPr>
              <a:t>WriteToken</a:t>
            </a:r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(token</a:t>
            </a:r>
            <a:r>
              <a:rPr lang="en-GB" sz="1600" smtClean="0">
                <a:solidFill>
                  <a:srgbClr val="000000"/>
                </a:solidFill>
                <a:latin typeface="Cascadia Mono" panose="020B0609020000020004" pitchFamily="49" charset="0"/>
              </a:rPr>
              <a:t>);  </a:t>
            </a:r>
            <a:r>
              <a:rPr lang="en-GB" sz="1600" smtClean="0">
                <a:solidFill>
                  <a:srgbClr val="006600"/>
                </a:solidFill>
                <a:latin typeface="Cascadia Mono" panose="020B0609020000020004" pitchFamily="49" charset="0"/>
              </a:rPr>
              <a:t>//accessToken            </a:t>
            </a:r>
            <a:endParaRPr lang="en-GB" sz="1600">
              <a:solidFill>
                <a:srgbClr val="006600"/>
              </a:solidFill>
              <a:latin typeface="Cascadia Mono" panose="020B0609020000020004" pitchFamily="49" charset="0"/>
            </a:endParaRPr>
          </a:p>
          <a:p>
            <a:r>
              <a:rPr lang="en-GB" sz="160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1615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37160" y="122011"/>
            <a:ext cx="6070600" cy="594995"/>
          </a:xfrm>
        </p:spPr>
        <p:txBody>
          <a:bodyPr>
            <a:normAutofit/>
          </a:bodyPr>
          <a:lstStyle/>
          <a:p>
            <a:r>
              <a:rPr lang="en-US" smtClean="0"/>
              <a:t>Step 5</a:t>
            </a:r>
            <a:r>
              <a:rPr lang="en-US"/>
              <a:t>. </a:t>
            </a:r>
            <a:r>
              <a:rPr lang="en-US" smtClean="0"/>
              <a:t>Grant </a:t>
            </a:r>
            <a:r>
              <a:rPr lang="en-US"/>
              <a:t>endpoint access </a:t>
            </a:r>
            <a:endParaRPr lang="en-GB" sz="2800" dirty="0">
              <a:solidFill>
                <a:srgbClr val="FFFF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67748" y="808035"/>
            <a:ext cx="113604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smtClean="0">
                <a:sym typeface="Wingdings" panose="05000000000000000000" pitchFamily="2" charset="2"/>
              </a:rPr>
              <a:t>Place the </a:t>
            </a:r>
            <a:r>
              <a:rPr lang="en-US" sz="2400">
                <a:solidFill>
                  <a:srgbClr val="0099CC"/>
                </a:solidFill>
                <a:sym typeface="Wingdings" panose="05000000000000000000" pitchFamily="2" charset="2"/>
              </a:rPr>
              <a:t>[Authorize] </a:t>
            </a:r>
            <a:r>
              <a:rPr lang="en-US" sz="2400">
                <a:sym typeface="Wingdings" panose="05000000000000000000" pitchFamily="2" charset="2"/>
              </a:rPr>
              <a:t>keyword above the </a:t>
            </a:r>
            <a:r>
              <a:rPr lang="en-US" sz="2400" smtClean="0">
                <a:sym typeface="Wingdings" panose="05000000000000000000" pitchFamily="2" charset="2"/>
              </a:rPr>
              <a:t>action you want to protect</a:t>
            </a:r>
            <a:endParaRPr lang="en-GB" sz="24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903" y="1356824"/>
            <a:ext cx="11319641" cy="5214945"/>
          </a:xfrm>
          <a:prstGeom prst="rect">
            <a:avLst/>
          </a:prstGeom>
          <a:effectLst>
            <a:glow rad="25400">
              <a:schemeClr val="accent2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548454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568" y="274419"/>
            <a:ext cx="481961" cy="111221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FD2705F-8A3F-43FB-B599-CD432A022700}"/>
              </a:ext>
            </a:extLst>
          </p:cNvPr>
          <p:cNvSpPr txBox="1"/>
          <p:nvPr/>
        </p:nvSpPr>
        <p:spPr>
          <a:xfrm>
            <a:off x="4010169" y="141976"/>
            <a:ext cx="54845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cap="all" smtClean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Homework 2</a:t>
            </a:r>
            <a:endParaRPr lang="en-US" sz="4000" b="1" cap="all">
              <a:solidFill>
                <a:srgbClr val="66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7DE2944F-AE04-492A-BB15-9E9B6DBB00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9D920AF-2440-4552-8F7A-6F88C8FE507A}" type="slidenum">
              <a:rPr lang="en-US" sz="1000" smtClean="0"/>
              <a:pPr/>
              <a:t>33</a:t>
            </a:fld>
            <a:endParaRPr lang="en-US" sz="1000"/>
          </a:p>
        </p:txBody>
      </p:sp>
      <p:grpSp>
        <p:nvGrpSpPr>
          <p:cNvPr id="13" name="Group 17">
            <a:extLst>
              <a:ext uri="{FF2B5EF4-FFF2-40B4-BE49-F238E27FC236}">
                <a16:creationId xmlns:a16="http://schemas.microsoft.com/office/drawing/2014/main" id="{6080DA0D-484A-4C70-BB3A-D9040DBEAE59}"/>
              </a:ext>
            </a:extLst>
          </p:cNvPr>
          <p:cNvGrpSpPr>
            <a:grpSpLocks/>
          </p:cNvGrpSpPr>
          <p:nvPr/>
        </p:nvGrpSpPr>
        <p:grpSpPr bwMode="auto">
          <a:xfrm>
            <a:off x="487680" y="5710215"/>
            <a:ext cx="883826" cy="883301"/>
            <a:chOff x="2562" y="439"/>
            <a:chExt cx="1684" cy="1683"/>
          </a:xfrm>
        </p:grpSpPr>
        <p:sp>
          <p:nvSpPr>
            <p:cNvPr id="14" name="Oval 5">
              <a:extLst>
                <a:ext uri="{FF2B5EF4-FFF2-40B4-BE49-F238E27FC236}">
                  <a16:creationId xmlns:a16="http://schemas.microsoft.com/office/drawing/2014/main" id="{E4139574-C4EA-4556-ACDA-A76931EBDCA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562" y="439"/>
              <a:ext cx="1684" cy="1683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" name="Oval 6">
              <a:extLst>
                <a:ext uri="{FF2B5EF4-FFF2-40B4-BE49-F238E27FC236}">
                  <a16:creationId xmlns:a16="http://schemas.microsoft.com/office/drawing/2014/main" id="{0F894546-4EC9-47C0-B71E-69BF9C0F13C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673" y="548"/>
              <a:ext cx="1461" cy="1463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54118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" name="Oval 7">
              <a:extLst>
                <a:ext uri="{FF2B5EF4-FFF2-40B4-BE49-F238E27FC236}">
                  <a16:creationId xmlns:a16="http://schemas.microsoft.com/office/drawing/2014/main" id="{7F8A18EB-028B-4904-82AC-271110A4EA8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685" y="536"/>
              <a:ext cx="1461" cy="146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63529"/>
                    <a:invGamma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3" name="Oval 8">
              <a:extLst>
                <a:ext uri="{FF2B5EF4-FFF2-40B4-BE49-F238E27FC236}">
                  <a16:creationId xmlns:a16="http://schemas.microsoft.com/office/drawing/2014/main" id="{75655967-7598-41D4-AD1E-3A8317F57AB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45" y="622"/>
              <a:ext cx="1317" cy="131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6" name="Oval 9">
              <a:extLst>
                <a:ext uri="{FF2B5EF4-FFF2-40B4-BE49-F238E27FC236}">
                  <a16:creationId xmlns:a16="http://schemas.microsoft.com/office/drawing/2014/main" id="{65267B8C-8F7A-483A-951E-B580A472232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66" y="643"/>
              <a:ext cx="1276" cy="1277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46275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7" name="Oval 10">
              <a:extLst>
                <a:ext uri="{FF2B5EF4-FFF2-40B4-BE49-F238E27FC236}">
                  <a16:creationId xmlns:a16="http://schemas.microsoft.com/office/drawing/2014/main" id="{A9AA3EC5-79DC-4B8D-AB98-769BCA68198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82" y="650"/>
              <a:ext cx="1246" cy="1246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D6E1E2">
                    <a:gamma/>
                    <a:tint val="34902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8" name="Oval 11">
              <a:extLst>
                <a:ext uri="{FF2B5EF4-FFF2-40B4-BE49-F238E27FC236}">
                  <a16:creationId xmlns:a16="http://schemas.microsoft.com/office/drawing/2014/main" id="{706F5677-482E-4BA0-962F-377CD39AFA7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96" y="662"/>
              <a:ext cx="1184" cy="1164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79216"/>
                    <a:invGamma/>
                  </a:srgbClr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9" name="Oval 12">
              <a:extLst>
                <a:ext uri="{FF2B5EF4-FFF2-40B4-BE49-F238E27FC236}">
                  <a16:creationId xmlns:a16="http://schemas.microsoft.com/office/drawing/2014/main" id="{252F8531-A078-4482-B2EE-FB90AD06E56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865" y="695"/>
              <a:ext cx="1053" cy="945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>
                    <a:alpha val="38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pic>
          <p:nvPicPr>
            <p:cNvPr id="30" name="Picture 13" descr="mark">
              <a:extLst>
                <a:ext uri="{FF2B5EF4-FFF2-40B4-BE49-F238E27FC236}">
                  <a16:creationId xmlns:a16="http://schemas.microsoft.com/office/drawing/2014/main" id="{EFA5FDD7-8288-46D9-A2A0-D844DBC1A7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4" y="793"/>
              <a:ext cx="1011" cy="1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Rectangle 1"/>
          <p:cNvSpPr/>
          <p:nvPr/>
        </p:nvSpPr>
        <p:spPr>
          <a:xfrm>
            <a:off x="2792361" y="1281358"/>
            <a:ext cx="8986684" cy="4744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20000"/>
              </a:lnSpc>
              <a:spcBef>
                <a:spcPts val="1800"/>
              </a:spcBef>
              <a:buFont typeface="+mj-lt"/>
              <a:buAutoNum type="arabicPeriod"/>
            </a:pPr>
            <a:r>
              <a:rPr lang="en-US" sz="2400" smtClean="0"/>
              <a:t>Use </a:t>
            </a:r>
            <a:r>
              <a:rPr lang="en-US" sz="2400" smtClean="0">
                <a:solidFill>
                  <a:srgbClr val="C00000"/>
                </a:solidFill>
              </a:rPr>
              <a:t>Microsoft.AspNetCore.Authentication.JwtBearer</a:t>
            </a:r>
            <a:r>
              <a:rPr lang="en-US" sz="2400" smtClean="0"/>
              <a:t> </a:t>
            </a:r>
            <a:r>
              <a:rPr lang="en-US" sz="2400"/>
              <a:t>library </a:t>
            </a:r>
            <a:r>
              <a:rPr lang="en-US" sz="2400" smtClean="0"/>
              <a:t>to write login/logout mothods in account class (use database at Repoditory lecture)</a:t>
            </a:r>
          </a:p>
          <a:p>
            <a:pPr marL="514350" indent="-514350">
              <a:lnSpc>
                <a:spcPct val="120000"/>
              </a:lnSpc>
              <a:spcBef>
                <a:spcPts val="1800"/>
              </a:spcBef>
              <a:buFont typeface="+mj-lt"/>
              <a:buAutoNum type="arabicPeriod"/>
            </a:pPr>
            <a:r>
              <a:rPr lang="en-US" sz="2400" smtClean="0"/>
              <a:t>Research </a:t>
            </a:r>
            <a:r>
              <a:rPr lang="en-US" sz="2400">
                <a:solidFill>
                  <a:srgbClr val="0099CC"/>
                </a:solidFill>
              </a:rPr>
              <a:t>[</a:t>
            </a:r>
            <a:r>
              <a:rPr lang="en-US" sz="2400" smtClean="0">
                <a:solidFill>
                  <a:srgbClr val="0099CC"/>
                </a:solidFill>
              </a:rPr>
              <a:t>Authorize] </a:t>
            </a:r>
            <a:r>
              <a:rPr lang="en-US" sz="2400"/>
              <a:t>and </a:t>
            </a:r>
            <a:r>
              <a:rPr lang="en-US" sz="2400">
                <a:solidFill>
                  <a:srgbClr val="0099CC"/>
                </a:solidFill>
              </a:rPr>
              <a:t>Roles, Policy</a:t>
            </a:r>
            <a:r>
              <a:rPr lang="en-US" sz="2400" smtClean="0"/>
              <a:t> </a:t>
            </a:r>
            <a:r>
              <a:rPr lang="en-US" sz="2400"/>
              <a:t>to Implement </a:t>
            </a:r>
            <a:r>
              <a:rPr lang="en-US" sz="2400" smtClean="0"/>
              <a:t>users or uers group permissions. (</a:t>
            </a:r>
            <a:r>
              <a:rPr lang="en-US" sz="2400" smtClean="0">
                <a:solidFill>
                  <a:srgbClr val="0099CC"/>
                </a:solidFill>
              </a:rPr>
              <a:t>Roles get from </a:t>
            </a:r>
            <a:r>
              <a:rPr lang="en-US" sz="2400" smtClean="0"/>
              <a:t>)</a:t>
            </a:r>
          </a:p>
          <a:p>
            <a:pPr marL="514350" indent="-514350">
              <a:lnSpc>
                <a:spcPct val="120000"/>
              </a:lnSpc>
              <a:spcBef>
                <a:spcPts val="1800"/>
              </a:spcBef>
              <a:buFont typeface="+mj-lt"/>
              <a:buAutoNum type="arabicPeriod"/>
            </a:pPr>
            <a:r>
              <a:rPr lang="en-US" sz="2400" smtClean="0"/>
              <a:t>Create </a:t>
            </a:r>
            <a:r>
              <a:rPr lang="en-US" sz="2400" smtClean="0">
                <a:solidFill>
                  <a:srgbClr val="C00000"/>
                </a:solidFill>
              </a:rPr>
              <a:t>RefreshTokenAsync</a:t>
            </a:r>
            <a:r>
              <a:rPr lang="en-US" sz="2400" smtClean="0"/>
              <a:t> method to apply when accesToken expires.  (Step 6  - </a:t>
            </a:r>
            <a:r>
              <a:rPr lang="en-US" sz="2400" smtClean="0">
                <a:hlinkClick r:id="rId5" action="ppaction://hlinksldjump"/>
              </a:rPr>
              <a:t>Go to Slide</a:t>
            </a:r>
            <a:r>
              <a:rPr lang="en-US" sz="2400" smtClean="0"/>
              <a:t>)</a:t>
            </a:r>
          </a:p>
          <a:p>
            <a:pPr marL="514350" indent="-514350">
              <a:lnSpc>
                <a:spcPct val="120000"/>
              </a:lnSpc>
              <a:spcBef>
                <a:spcPts val="1800"/>
              </a:spcBef>
              <a:buFont typeface="+mj-lt"/>
              <a:buAutoNum type="arabicPeriod"/>
            </a:pPr>
            <a:r>
              <a:rPr lang="en-US" sz="2400"/>
              <a:t>Use the </a:t>
            </a:r>
            <a:r>
              <a:rPr lang="en-US" sz="2400">
                <a:solidFill>
                  <a:srgbClr val="C00000"/>
                </a:solidFill>
              </a:rPr>
              <a:t>Microsoft.AspNetCore.Authentication.Google</a:t>
            </a:r>
            <a:r>
              <a:rPr lang="en-US" sz="2400"/>
              <a:t> library to do as exercise 1, naming the methods </a:t>
            </a:r>
            <a:r>
              <a:rPr lang="en-US" sz="2400" smtClean="0"/>
              <a:t>signin/signout</a:t>
            </a:r>
            <a:r>
              <a:rPr lang="en-US" sz="2400"/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3759201" y="695996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2400">
                <a:solidFill>
                  <a:srgbClr val="6600CC"/>
                </a:solidFill>
              </a:rPr>
              <a:t>Authentication and </a:t>
            </a:r>
            <a:r>
              <a:rPr lang="en-US" sz="2400" smtClean="0">
                <a:solidFill>
                  <a:srgbClr val="6600CC"/>
                </a:solidFill>
              </a:rPr>
              <a:t>Authorization</a:t>
            </a:r>
            <a:endParaRPr lang="en-GB" sz="2400">
              <a:solidFill>
                <a:srgbClr val="6600CC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99425" y="6207299"/>
            <a:ext cx="831668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GB" sz="1400">
                <a:hlinkClick r:id="rId6"/>
              </a:rPr>
              <a:t>https://</a:t>
            </a:r>
            <a:r>
              <a:rPr lang="en-GB" sz="1400" smtClean="0">
                <a:hlinkClick r:id="rId6"/>
              </a:rPr>
              <a:t>learn.microsoft.com/en-us/aspnet/core/security/authorization/roles</a:t>
            </a:r>
            <a:endParaRPr lang="en-GB" sz="1400"/>
          </a:p>
        </p:txBody>
      </p:sp>
      <p:sp>
        <p:nvSpPr>
          <p:cNvPr id="7" name="Rectangle 6"/>
          <p:cNvSpPr/>
          <p:nvPr/>
        </p:nvSpPr>
        <p:spPr>
          <a:xfrm>
            <a:off x="3323772" y="6457785"/>
            <a:ext cx="831668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GB" sz="1400">
                <a:hlinkClick r:id="rId7"/>
              </a:rPr>
              <a:t>https://</a:t>
            </a:r>
            <a:r>
              <a:rPr lang="en-GB" sz="1400" smtClean="0">
                <a:hlinkClick r:id="rId7"/>
              </a:rPr>
              <a:t>learn.microsoft.com/en-us/aspnet/core/security/authorization/claims</a:t>
            </a:r>
            <a:endParaRPr lang="en-GB" sz="1400"/>
          </a:p>
        </p:txBody>
      </p:sp>
    </p:spTree>
    <p:extLst>
      <p:ext uri="{BB962C8B-B14F-4D97-AF65-F5344CB8AC3E}">
        <p14:creationId xmlns:p14="http://schemas.microsoft.com/office/powerpoint/2010/main" val="726662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 xmlns:a14="http://schemas.microsoft.com/office/drawing/2010/main" xmlns:a16="http://schemas.microsoft.com/office/drawing/2014/main">
      <p:transition spd="med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3763875" y="1350934"/>
            <a:ext cx="5311298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375" y="235090"/>
            <a:ext cx="481961" cy="111221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FD2705F-8A3F-43FB-B599-CD432A022700}"/>
              </a:ext>
            </a:extLst>
          </p:cNvPr>
          <p:cNvSpPr txBox="1"/>
          <p:nvPr/>
        </p:nvSpPr>
        <p:spPr>
          <a:xfrm>
            <a:off x="3667432" y="680948"/>
            <a:ext cx="62238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smtClean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API </a:t>
            </a:r>
            <a:r>
              <a:rPr lang="en-US" sz="4000" b="1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Security Solutions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7DE2944F-AE04-492A-BB15-9E9B6DBB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920AF-2440-4552-8F7A-6F88C8FE507A}" type="slidenum">
              <a:rPr lang="en-US" sz="1000" smtClean="0"/>
              <a:pPr/>
              <a:t>34</a:t>
            </a:fld>
            <a:endParaRPr lang="en-US" sz="1000"/>
          </a:p>
        </p:txBody>
      </p:sp>
      <p:grpSp>
        <p:nvGrpSpPr>
          <p:cNvPr id="13" name="Group 17">
            <a:extLst>
              <a:ext uri="{FF2B5EF4-FFF2-40B4-BE49-F238E27FC236}">
                <a16:creationId xmlns:a16="http://schemas.microsoft.com/office/drawing/2014/main" id="{6080DA0D-484A-4C70-BB3A-D9040DBEAE59}"/>
              </a:ext>
            </a:extLst>
          </p:cNvPr>
          <p:cNvGrpSpPr>
            <a:grpSpLocks/>
          </p:cNvGrpSpPr>
          <p:nvPr/>
        </p:nvGrpSpPr>
        <p:grpSpPr bwMode="auto">
          <a:xfrm>
            <a:off x="536842" y="5690550"/>
            <a:ext cx="883826" cy="883301"/>
            <a:chOff x="2562" y="439"/>
            <a:chExt cx="1684" cy="1683"/>
          </a:xfrm>
        </p:grpSpPr>
        <p:sp>
          <p:nvSpPr>
            <p:cNvPr id="14" name="Oval 5">
              <a:extLst>
                <a:ext uri="{FF2B5EF4-FFF2-40B4-BE49-F238E27FC236}">
                  <a16:creationId xmlns:a16="http://schemas.microsoft.com/office/drawing/2014/main" id="{E4139574-C4EA-4556-ACDA-A76931EBDCA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562" y="439"/>
              <a:ext cx="1684" cy="1683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" name="Oval 6">
              <a:extLst>
                <a:ext uri="{FF2B5EF4-FFF2-40B4-BE49-F238E27FC236}">
                  <a16:creationId xmlns:a16="http://schemas.microsoft.com/office/drawing/2014/main" id="{0F894546-4EC9-47C0-B71E-69BF9C0F13C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673" y="548"/>
              <a:ext cx="1461" cy="1463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54118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" name="Oval 7">
              <a:extLst>
                <a:ext uri="{FF2B5EF4-FFF2-40B4-BE49-F238E27FC236}">
                  <a16:creationId xmlns:a16="http://schemas.microsoft.com/office/drawing/2014/main" id="{7F8A18EB-028B-4904-82AC-271110A4EA8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685" y="536"/>
              <a:ext cx="1461" cy="146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63529"/>
                    <a:invGamma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3" name="Oval 8">
              <a:extLst>
                <a:ext uri="{FF2B5EF4-FFF2-40B4-BE49-F238E27FC236}">
                  <a16:creationId xmlns:a16="http://schemas.microsoft.com/office/drawing/2014/main" id="{75655967-7598-41D4-AD1E-3A8317F57AB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45" y="622"/>
              <a:ext cx="1317" cy="131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6" name="Oval 9">
              <a:extLst>
                <a:ext uri="{FF2B5EF4-FFF2-40B4-BE49-F238E27FC236}">
                  <a16:creationId xmlns:a16="http://schemas.microsoft.com/office/drawing/2014/main" id="{65267B8C-8F7A-483A-951E-B580A472232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66" y="643"/>
              <a:ext cx="1276" cy="1277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46275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7" name="Oval 10">
              <a:extLst>
                <a:ext uri="{FF2B5EF4-FFF2-40B4-BE49-F238E27FC236}">
                  <a16:creationId xmlns:a16="http://schemas.microsoft.com/office/drawing/2014/main" id="{A9AA3EC5-79DC-4B8D-AB98-769BCA68198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82" y="650"/>
              <a:ext cx="1246" cy="1246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D6E1E2">
                    <a:gamma/>
                    <a:tint val="34902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8" name="Oval 11">
              <a:extLst>
                <a:ext uri="{FF2B5EF4-FFF2-40B4-BE49-F238E27FC236}">
                  <a16:creationId xmlns:a16="http://schemas.microsoft.com/office/drawing/2014/main" id="{706F5677-482E-4BA0-962F-377CD39AFA7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96" y="662"/>
              <a:ext cx="1184" cy="1164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79216"/>
                    <a:invGamma/>
                  </a:srgbClr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9" name="Oval 12">
              <a:extLst>
                <a:ext uri="{FF2B5EF4-FFF2-40B4-BE49-F238E27FC236}">
                  <a16:creationId xmlns:a16="http://schemas.microsoft.com/office/drawing/2014/main" id="{252F8531-A078-4482-B2EE-FB90AD06E56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865" y="695"/>
              <a:ext cx="1053" cy="945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>
                    <a:alpha val="38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pic>
          <p:nvPicPr>
            <p:cNvPr id="30" name="Picture 13" descr="mark">
              <a:extLst>
                <a:ext uri="{FF2B5EF4-FFF2-40B4-BE49-F238E27FC236}">
                  <a16:creationId xmlns:a16="http://schemas.microsoft.com/office/drawing/2014/main" id="{EFA5FDD7-8288-46D9-A2A0-D844DBC1A7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4" y="793"/>
              <a:ext cx="1011" cy="1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F0C5823A-D2D1-41BC-9597-EDE8E6B8977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7168" y="5829096"/>
            <a:ext cx="578605" cy="674546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286910" y="1517960"/>
            <a:ext cx="7511799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smtClean="0"/>
              <a:t>2.1. </a:t>
            </a:r>
            <a:r>
              <a:rPr lang="en-US" sz="2600"/>
              <a:t>Input Validation and </a:t>
            </a:r>
            <a:r>
              <a:rPr lang="en-US" sz="2600" smtClean="0"/>
              <a:t>CORS </a:t>
            </a:r>
            <a:r>
              <a:rPr lang="en-US" sz="2000" smtClean="0"/>
              <a:t>(</a:t>
            </a:r>
            <a:r>
              <a:rPr lang="en-US" sz="2000"/>
              <a:t>Cross-Origin Requests</a:t>
            </a:r>
            <a:r>
              <a:rPr lang="en-US" sz="2000" smtClean="0"/>
              <a:t>)</a:t>
            </a:r>
            <a:r>
              <a:rPr lang="en-US" sz="2600"/>
              <a:t/>
            </a:r>
            <a:br>
              <a:rPr lang="en-US" sz="2600"/>
            </a:br>
            <a:r>
              <a:rPr lang="en-US" sz="2600" smtClean="0"/>
              <a:t>2.2. </a:t>
            </a:r>
            <a:r>
              <a:rPr lang="en-US" sz="2600"/>
              <a:t>Data </a:t>
            </a:r>
            <a:r>
              <a:rPr lang="en-US" sz="2600" smtClean="0"/>
              <a:t>Encryption</a:t>
            </a:r>
            <a:r>
              <a:rPr lang="en-US" sz="2600">
                <a:solidFill>
                  <a:srgbClr val="C00000"/>
                </a:solidFill>
              </a:rPr>
              <a:t/>
            </a:r>
            <a:br>
              <a:rPr lang="en-US" sz="2600">
                <a:solidFill>
                  <a:srgbClr val="C00000"/>
                </a:solidFill>
              </a:rPr>
            </a:br>
            <a:r>
              <a:rPr lang="en-US" sz="2600" smtClean="0"/>
              <a:t>2.3. </a:t>
            </a:r>
            <a:r>
              <a:rPr lang="en-US" sz="2600"/>
              <a:t>Authentication and Authorization</a:t>
            </a:r>
            <a:br>
              <a:rPr lang="en-US" sz="2600"/>
            </a:br>
            <a:r>
              <a:rPr lang="en-US" sz="2600" smtClean="0">
                <a:solidFill>
                  <a:srgbClr val="C00000"/>
                </a:solidFill>
              </a:rPr>
              <a:t>2.4. </a:t>
            </a:r>
            <a:r>
              <a:rPr lang="en-US" sz="2600">
                <a:solidFill>
                  <a:srgbClr val="C00000"/>
                </a:solidFill>
              </a:rPr>
              <a:t>Rate </a:t>
            </a:r>
            <a:r>
              <a:rPr lang="en-US" sz="2600" smtClean="0">
                <a:solidFill>
                  <a:srgbClr val="C00000"/>
                </a:solidFill>
              </a:rPr>
              <a:t>Limiting</a:t>
            </a:r>
          </a:p>
          <a:p>
            <a:pPr>
              <a:lnSpc>
                <a:spcPct val="150000"/>
              </a:lnSpc>
            </a:pPr>
            <a:r>
              <a:rPr lang="en-US" sz="260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2.5. Prevent XSS </a:t>
            </a:r>
            <a:r>
              <a:rPr lang="en-US" sz="2600">
                <a:solidFill>
                  <a:schemeClr val="tx1">
                    <a:lumMod val="75000"/>
                    <a:lumOff val="25000"/>
                  </a:schemeClr>
                </a:solidFill>
              </a:rPr>
              <a:t>(Cross-Site Scripting</a:t>
            </a:r>
            <a:r>
              <a:rPr lang="en-US" sz="260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sz="26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600">
                <a:solidFill>
                  <a:schemeClr val="tx1">
                    <a:lumMod val="75000"/>
                    <a:lumOff val="25000"/>
                  </a:schemeClr>
                </a:solidFill>
              </a:rPr>
              <a:t>2.6. </a:t>
            </a:r>
            <a:r>
              <a:rPr lang="en-US" sz="260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Prevent CSRF </a:t>
            </a:r>
            <a:r>
              <a:rPr lang="en-US" sz="2600">
                <a:solidFill>
                  <a:schemeClr val="tx1">
                    <a:lumMod val="75000"/>
                    <a:lumOff val="25000"/>
                  </a:schemeClr>
                </a:solidFill>
              </a:rPr>
              <a:t>(Cross-Site Request Forgery</a:t>
            </a:r>
            <a:r>
              <a:rPr lang="en-US" sz="260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r>
              <a:rPr lang="en-US" sz="260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60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60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2.7. </a:t>
            </a:r>
            <a:r>
              <a:rPr lang="en-US" sz="2600">
                <a:solidFill>
                  <a:schemeClr val="tx1">
                    <a:lumMod val="75000"/>
                    <a:lumOff val="25000"/>
                  </a:schemeClr>
                </a:solidFill>
              </a:rPr>
              <a:t>Using an API Firewall (API Gateway)</a:t>
            </a:r>
            <a:br>
              <a:rPr lang="en-US" sz="260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2977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 xmlns:a14="http://schemas.microsoft.com/office/drawing/2010/main" xmlns:a16="http://schemas.microsoft.com/office/drawing/2014/main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2.3</a:t>
            </a:r>
            <a:r>
              <a:rPr lang="en-US"/>
              <a:t>. Rate Limiting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702530" y="822402"/>
            <a:ext cx="10628079" cy="2904772"/>
          </a:xfrm>
        </p:spPr>
        <p:txBody>
          <a:bodyPr/>
          <a:lstStyle/>
          <a:p>
            <a:pPr marL="342900" indent="-342900">
              <a:lnSpc>
                <a:spcPct val="110000"/>
              </a:lnSpc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400">
                <a:sym typeface="Wingdings" panose="05000000000000000000" pitchFamily="2" charset="2"/>
              </a:rPr>
              <a:t>Rate Limiting is a control technique </a:t>
            </a:r>
            <a:r>
              <a:rPr lang="en-US" sz="2400" smtClean="0">
                <a:sym typeface="Wingdings" panose="05000000000000000000" pitchFamily="2" charset="2"/>
              </a:rPr>
              <a:t>that </a:t>
            </a:r>
            <a:r>
              <a:rPr lang="en-US" sz="2400">
                <a:sym typeface="Wingdings" panose="05000000000000000000" pitchFamily="2" charset="2"/>
              </a:rPr>
              <a:t>restricts the number of requests a user can make to a system within a specific time period. </a:t>
            </a:r>
          </a:p>
          <a:p>
            <a:pPr marL="342900" indent="-342900">
              <a:lnSpc>
                <a:spcPct val="110000"/>
              </a:lnSpc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400">
                <a:solidFill>
                  <a:srgbClr val="C00000"/>
                </a:solidFill>
                <a:sym typeface="Wingdings" panose="05000000000000000000" pitchFamily="2" charset="2"/>
              </a:rPr>
              <a:t>How it works: </a:t>
            </a:r>
            <a:r>
              <a:rPr lang="en-US" sz="2400">
                <a:sym typeface="Wingdings" panose="05000000000000000000" pitchFamily="2" charset="2"/>
              </a:rPr>
              <a:t>By setting limits, it prevents system overload and ensures balance </a:t>
            </a:r>
            <a:r>
              <a:rPr lang="en-US" sz="2400" smtClean="0">
                <a:sym typeface="Wingdings" panose="05000000000000000000" pitchFamily="2" charset="2"/>
              </a:rPr>
              <a:t>resource </a:t>
            </a:r>
            <a:r>
              <a:rPr lang="en-US" sz="2400">
                <a:sym typeface="Wingdings" panose="05000000000000000000" pitchFamily="2" charset="2"/>
              </a:rPr>
              <a:t>allocation. </a:t>
            </a:r>
          </a:p>
          <a:p>
            <a:pPr marL="342900" indent="-342900">
              <a:lnSpc>
                <a:spcPct val="110000"/>
              </a:lnSpc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400">
                <a:solidFill>
                  <a:srgbClr val="C00000"/>
                </a:solidFill>
                <a:sym typeface="Wingdings" panose="05000000000000000000" pitchFamily="2" charset="2"/>
              </a:rPr>
              <a:t>Applications of Rate Limiting</a:t>
            </a:r>
            <a:r>
              <a:rPr lang="en-US" sz="2400" smtClean="0">
                <a:solidFill>
                  <a:srgbClr val="C00000"/>
                </a:solidFill>
                <a:sym typeface="Wingdings" panose="05000000000000000000" pitchFamily="2" charset="2"/>
              </a:rPr>
              <a:t>: </a:t>
            </a:r>
            <a:r>
              <a:rPr lang="en-US" sz="2400" smtClean="0">
                <a:sym typeface="Wingdings" panose="05000000000000000000" pitchFamily="2" charset="2"/>
              </a:rPr>
              <a:t>Common </a:t>
            </a:r>
            <a:r>
              <a:rPr lang="en-US" sz="2400">
                <a:sym typeface="Wingdings" panose="05000000000000000000" pitchFamily="2" charset="2"/>
              </a:rPr>
              <a:t>applications include mitigating </a:t>
            </a:r>
            <a:r>
              <a:rPr lang="en-US" sz="2400" smtClean="0">
                <a:sym typeface="Wingdings" panose="05000000000000000000" pitchFamily="2" charset="2"/>
              </a:rPr>
              <a:t>DoS or </a:t>
            </a:r>
            <a:r>
              <a:rPr lang="en-US" sz="2400">
                <a:sym typeface="Wingdings" panose="05000000000000000000" pitchFamily="2" charset="2"/>
              </a:rPr>
              <a:t>DDoS attacks, </a:t>
            </a:r>
            <a:r>
              <a:rPr lang="en-US" sz="2400">
                <a:solidFill>
                  <a:schemeClr val="tx1"/>
                </a:solidFill>
                <a:sym typeface="Wingdings" panose="05000000000000000000" pitchFamily="2" charset="2"/>
              </a:rPr>
              <a:t>a</a:t>
            </a:r>
            <a:r>
              <a:rPr lang="en-US" sz="2400" smtClean="0">
                <a:solidFill>
                  <a:schemeClr val="tx1"/>
                </a:solidFill>
                <a:sym typeface="Wingdings" panose="05000000000000000000" pitchFamily="2" charset="2"/>
              </a:rPr>
              <a:t>nomaly</a:t>
            </a:r>
            <a:r>
              <a:rPr lang="en-US" sz="2400" smtClean="0">
                <a:sym typeface="Wingdings" panose="05000000000000000000" pitchFamily="2" charset="2"/>
              </a:rPr>
              <a:t> detection </a:t>
            </a:r>
            <a:r>
              <a:rPr lang="en-US" sz="2400">
                <a:sym typeface="Wingdings" panose="05000000000000000000" pitchFamily="2" charset="2"/>
              </a:rPr>
              <a:t>and protecting APIs.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26" y="3819317"/>
            <a:ext cx="10465904" cy="2572559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575150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568" y="274419"/>
            <a:ext cx="481961" cy="111221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FD2705F-8A3F-43FB-B599-CD432A022700}"/>
              </a:ext>
            </a:extLst>
          </p:cNvPr>
          <p:cNvSpPr txBox="1"/>
          <p:nvPr/>
        </p:nvSpPr>
        <p:spPr>
          <a:xfrm>
            <a:off x="3814462" y="421025"/>
            <a:ext cx="54845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smtClean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2.4. </a:t>
            </a:r>
            <a:r>
              <a:rPr lang="en-US" sz="4000" b="1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Rate Limiting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7DE2944F-AE04-492A-BB15-9E9B6DBB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920AF-2440-4552-8F7A-6F88C8FE507A}" type="slidenum">
              <a:rPr lang="en-US" sz="1000" smtClean="0"/>
              <a:pPr/>
              <a:t>36</a:t>
            </a:fld>
            <a:endParaRPr lang="en-US" sz="1000"/>
          </a:p>
        </p:txBody>
      </p:sp>
      <p:grpSp>
        <p:nvGrpSpPr>
          <p:cNvPr id="13" name="Group 17">
            <a:extLst>
              <a:ext uri="{FF2B5EF4-FFF2-40B4-BE49-F238E27FC236}">
                <a16:creationId xmlns:a16="http://schemas.microsoft.com/office/drawing/2014/main" id="{6080DA0D-484A-4C70-BB3A-D9040DBEAE59}"/>
              </a:ext>
            </a:extLst>
          </p:cNvPr>
          <p:cNvGrpSpPr>
            <a:grpSpLocks/>
          </p:cNvGrpSpPr>
          <p:nvPr/>
        </p:nvGrpSpPr>
        <p:grpSpPr bwMode="auto">
          <a:xfrm>
            <a:off x="487680" y="5710215"/>
            <a:ext cx="883826" cy="883301"/>
            <a:chOff x="2562" y="439"/>
            <a:chExt cx="1684" cy="1683"/>
          </a:xfrm>
        </p:grpSpPr>
        <p:sp>
          <p:nvSpPr>
            <p:cNvPr id="14" name="Oval 5">
              <a:extLst>
                <a:ext uri="{FF2B5EF4-FFF2-40B4-BE49-F238E27FC236}">
                  <a16:creationId xmlns:a16="http://schemas.microsoft.com/office/drawing/2014/main" id="{E4139574-C4EA-4556-ACDA-A76931EBDCA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562" y="439"/>
              <a:ext cx="1684" cy="1683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" name="Oval 6">
              <a:extLst>
                <a:ext uri="{FF2B5EF4-FFF2-40B4-BE49-F238E27FC236}">
                  <a16:creationId xmlns:a16="http://schemas.microsoft.com/office/drawing/2014/main" id="{0F894546-4EC9-47C0-B71E-69BF9C0F13C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673" y="548"/>
              <a:ext cx="1461" cy="1463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54118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" name="Oval 7">
              <a:extLst>
                <a:ext uri="{FF2B5EF4-FFF2-40B4-BE49-F238E27FC236}">
                  <a16:creationId xmlns:a16="http://schemas.microsoft.com/office/drawing/2014/main" id="{7F8A18EB-028B-4904-82AC-271110A4EA8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685" y="536"/>
              <a:ext cx="1461" cy="146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63529"/>
                    <a:invGamma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3" name="Oval 8">
              <a:extLst>
                <a:ext uri="{FF2B5EF4-FFF2-40B4-BE49-F238E27FC236}">
                  <a16:creationId xmlns:a16="http://schemas.microsoft.com/office/drawing/2014/main" id="{75655967-7598-41D4-AD1E-3A8317F57AB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45" y="622"/>
              <a:ext cx="1317" cy="131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6" name="Oval 9">
              <a:extLst>
                <a:ext uri="{FF2B5EF4-FFF2-40B4-BE49-F238E27FC236}">
                  <a16:creationId xmlns:a16="http://schemas.microsoft.com/office/drawing/2014/main" id="{65267B8C-8F7A-483A-951E-B580A472232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66" y="643"/>
              <a:ext cx="1276" cy="1277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46275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7" name="Oval 10">
              <a:extLst>
                <a:ext uri="{FF2B5EF4-FFF2-40B4-BE49-F238E27FC236}">
                  <a16:creationId xmlns:a16="http://schemas.microsoft.com/office/drawing/2014/main" id="{A9AA3EC5-79DC-4B8D-AB98-769BCA68198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82" y="650"/>
              <a:ext cx="1246" cy="1246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D6E1E2">
                    <a:gamma/>
                    <a:tint val="34902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8" name="Oval 11">
              <a:extLst>
                <a:ext uri="{FF2B5EF4-FFF2-40B4-BE49-F238E27FC236}">
                  <a16:creationId xmlns:a16="http://schemas.microsoft.com/office/drawing/2014/main" id="{706F5677-482E-4BA0-962F-377CD39AFA7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96" y="662"/>
              <a:ext cx="1184" cy="1164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79216"/>
                    <a:invGamma/>
                  </a:srgbClr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9" name="Oval 12">
              <a:extLst>
                <a:ext uri="{FF2B5EF4-FFF2-40B4-BE49-F238E27FC236}">
                  <a16:creationId xmlns:a16="http://schemas.microsoft.com/office/drawing/2014/main" id="{252F8531-A078-4482-B2EE-FB90AD06E56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865" y="695"/>
              <a:ext cx="1053" cy="945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>
                    <a:alpha val="38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pic>
          <p:nvPicPr>
            <p:cNvPr id="30" name="Picture 13" descr="mark">
              <a:extLst>
                <a:ext uri="{FF2B5EF4-FFF2-40B4-BE49-F238E27FC236}">
                  <a16:creationId xmlns:a16="http://schemas.microsoft.com/office/drawing/2014/main" id="{EFA5FDD7-8288-46D9-A2A0-D844DBC1A7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4" y="793"/>
              <a:ext cx="1011" cy="1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CC8725A2-2703-4E1E-8062-36648424444B}"/>
              </a:ext>
            </a:extLst>
          </p:cNvPr>
          <p:cNvSpPr txBox="1"/>
          <p:nvPr/>
        </p:nvSpPr>
        <p:spPr>
          <a:xfrm>
            <a:off x="11512027" y="251790"/>
            <a:ext cx="4271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endParaRPr lang="en-US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753471" y="1245775"/>
            <a:ext cx="865483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smtClean="0">
                <a:solidFill>
                  <a:srgbClr val="0000FF"/>
                </a:solidFill>
              </a:rPr>
              <a:t>using </a:t>
            </a:r>
            <a:r>
              <a:rPr lang="en-US" sz="3200" smtClean="0"/>
              <a:t>Microsoft.AspNetCore.RateLimiting</a:t>
            </a:r>
            <a:endParaRPr lang="en-US" sz="3200"/>
          </a:p>
          <a:p>
            <a:pPr>
              <a:lnSpc>
                <a:spcPct val="150000"/>
              </a:lnSpc>
            </a:pPr>
            <a:r>
              <a:rPr lang="en-US" sz="3200" smtClean="0"/>
              <a:t>	+ Active for all Controlls</a:t>
            </a:r>
          </a:p>
          <a:p>
            <a:pPr>
              <a:lnSpc>
                <a:spcPct val="150000"/>
              </a:lnSpc>
            </a:pPr>
            <a:r>
              <a:rPr lang="en-US" sz="3200"/>
              <a:t>	+ Enable on specified endpoints</a:t>
            </a:r>
          </a:p>
          <a:p>
            <a:pPr>
              <a:lnSpc>
                <a:spcPct val="150000"/>
              </a:lnSpc>
            </a:pPr>
            <a:r>
              <a:rPr lang="en-US" sz="3200"/>
              <a:t>	+ Enable on specified </a:t>
            </a:r>
            <a:r>
              <a:rPr lang="en-US" sz="3200" smtClean="0"/>
              <a:t>endpoints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smtClean="0">
                <a:solidFill>
                  <a:srgbClr val="0000FF"/>
                </a:solidFill>
              </a:rPr>
              <a:t>using</a:t>
            </a:r>
            <a:r>
              <a:rPr lang="en-US" sz="3200" smtClean="0"/>
              <a:t> AspNetCoreRateLimit</a:t>
            </a:r>
          </a:p>
          <a:p>
            <a:pPr>
              <a:lnSpc>
                <a:spcPct val="150000"/>
              </a:lnSpc>
            </a:pPr>
            <a:r>
              <a:rPr lang="en-US" sz="3200" smtClean="0"/>
              <a:t>	</a:t>
            </a:r>
            <a:r>
              <a:rPr lang="en-US" sz="3200">
                <a:solidFill>
                  <a:srgbClr val="C00000"/>
                </a:solidFill>
              </a:rPr>
              <a:t>Homework </a:t>
            </a:r>
            <a:r>
              <a:rPr lang="en-US" sz="3200" smtClean="0"/>
              <a:t>(Students </a:t>
            </a:r>
            <a:r>
              <a:rPr lang="en-US" sz="3200"/>
              <a:t>research and do </a:t>
            </a:r>
            <a:r>
              <a:rPr lang="en-US" sz="3200" smtClean="0"/>
              <a:t>it)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1072785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 xmlns:a14="http://schemas.microsoft.com/office/drawing/2010/main" xmlns:a16="http://schemas.microsoft.com/office/drawing/2014/main">
      <p:transition spd="med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5965371"/>
            <a:ext cx="12192000" cy="52251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2.4. </a:t>
            </a:r>
            <a:r>
              <a:rPr lang="en-US"/>
              <a:t>Rate Limiting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85468" y="1077452"/>
            <a:ext cx="11607800" cy="4324261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builder.Services.</a:t>
            </a:r>
            <a:r>
              <a:rPr lang="en-GB" sz="2000">
                <a:solidFill>
                  <a:srgbClr val="C00000"/>
                </a:solidFill>
                <a:latin typeface="Cascadia Mono" panose="020B0609020000020004" pitchFamily="49" charset="0"/>
              </a:rPr>
              <a:t>AddMemoryCache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>
              <a:spcBef>
                <a:spcPts val="1200"/>
              </a:spcBef>
            </a:pP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builder.Services.</a:t>
            </a:r>
            <a:r>
              <a:rPr lang="en-GB" sz="2000" smtClean="0">
                <a:solidFill>
                  <a:srgbClr val="C00000"/>
                </a:solidFill>
                <a:latin typeface="Cascadia Mono" panose="020B0609020000020004" pitchFamily="49" charset="0"/>
              </a:rPr>
              <a:t>AddRateLimiter</a:t>
            </a: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(options =&gt;</a:t>
            </a:r>
          </a:p>
          <a:p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    options.</a:t>
            </a:r>
            <a:r>
              <a:rPr lang="en-GB" sz="2000" smtClean="0">
                <a:solidFill>
                  <a:srgbClr val="C00000"/>
                </a:solidFill>
                <a:latin typeface="Cascadia Mono" panose="020B0609020000020004" pitchFamily="49" charset="0"/>
              </a:rPr>
              <a:t>AddFixedWindowLimiter</a:t>
            </a: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GB" smtClean="0"/>
              <a:t>policyName: </a:t>
            </a:r>
            <a:r>
              <a:rPr lang="en-GB" sz="200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GB" sz="2000" smtClean="0">
                <a:solidFill>
                  <a:srgbClr val="0000FF"/>
                </a:solidFill>
                <a:latin typeface="Cascadia Mono" panose="020B0609020000020004" pitchFamily="49" charset="0"/>
              </a:rPr>
              <a:t>Fixed</a:t>
            </a:r>
            <a:r>
              <a:rPr lang="en-GB" sz="200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, opt =&gt;</a:t>
            </a:r>
          </a:p>
          <a:p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pPr>
              <a:spcBef>
                <a:spcPts val="600"/>
              </a:spcBef>
            </a:pPr>
            <a:r>
              <a:rPr lang="en-US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opt.PermitLimit = 5;  </a:t>
            </a:r>
            <a:r>
              <a:rPr lang="en-US" sz="2000" smtClean="0">
                <a:solidFill>
                  <a:srgbClr val="008000"/>
                </a:solidFill>
                <a:latin typeface="Cascadia Mono" panose="020B0609020000020004" pitchFamily="49" charset="0"/>
              </a:rPr>
              <a:t>// limite 5 requests</a:t>
            </a:r>
            <a:endParaRPr lang="en-US" sz="200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>
              <a:spcBef>
                <a:spcPts val="600"/>
              </a:spcBef>
            </a:pP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opt.Window = </a:t>
            </a:r>
            <a:r>
              <a:rPr lang="en-GB" sz="2000" smtClean="0">
                <a:solidFill>
                  <a:srgbClr val="0099CC"/>
                </a:solidFill>
                <a:latin typeface="Cascadia Mono" panose="020B0609020000020004" pitchFamily="49" charset="0"/>
              </a:rPr>
              <a:t>TimeSpan</a:t>
            </a: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.</a:t>
            </a:r>
            <a:r>
              <a:rPr lang="en-GB" sz="2000" smtClean="0">
                <a:solidFill>
                  <a:srgbClr val="C00000"/>
                </a:solidFill>
                <a:latin typeface="Cascadia Mono" panose="020B0609020000020004" pitchFamily="49" charset="0"/>
              </a:rPr>
              <a:t>FromMinutes</a:t>
            </a: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(1); </a:t>
            </a:r>
            <a:r>
              <a:rPr lang="en-GB" sz="2000" smtClean="0">
                <a:solidFill>
                  <a:srgbClr val="008000"/>
                </a:solidFill>
                <a:latin typeface="Cascadia Mono" panose="020B0609020000020004" pitchFamily="49" charset="0"/>
              </a:rPr>
              <a:t>//Within 1 minute</a:t>
            </a:r>
            <a:endParaRPr lang="en-GB" sz="200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>
              <a:spcBef>
                <a:spcPts val="600"/>
              </a:spcBef>
            </a:pP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opt.QueueProcessingOrder = </a:t>
            </a:r>
            <a:r>
              <a:rPr lang="en-GB" sz="2000" smtClean="0">
                <a:solidFill>
                  <a:srgbClr val="0099CC"/>
                </a:solidFill>
                <a:latin typeface="Cascadia Mono" panose="020B0609020000020004" pitchFamily="49" charset="0"/>
              </a:rPr>
              <a:t>QueueProcessingOrder</a:t>
            </a: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.OldestFirst;</a:t>
            </a:r>
          </a:p>
          <a:p>
            <a:pPr>
              <a:spcBef>
                <a:spcPts val="600"/>
              </a:spcBef>
            </a:pP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opt.QueueLimit = 2;  </a:t>
            </a:r>
            <a:r>
              <a:rPr lang="en-GB" sz="2000" smtClean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en-US" sz="2000" smtClean="0">
                <a:solidFill>
                  <a:srgbClr val="008000"/>
                </a:solidFill>
                <a:latin typeface="Cascadia Mono" panose="020B0609020000020004" pitchFamily="49" charset="0"/>
              </a:rPr>
              <a:t>Limit number of requests in queue</a:t>
            </a:r>
          </a:p>
          <a:p>
            <a:pPr>
              <a:spcBef>
                <a:spcPts val="600"/>
              </a:spcBef>
            </a:pP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	  opt.QueueTimeout 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= TimeSpan.FromSeconds(10</a:t>
            </a: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r>
              <a:rPr lang="en-GB" sz="1600" smtClean="0">
                <a:solidFill>
                  <a:srgbClr val="008000"/>
                </a:solidFill>
                <a:latin typeface="Cascadia Mono" panose="020B0609020000020004" pitchFamily="49" charset="0"/>
              </a:rPr>
              <a:t>//</a:t>
            </a:r>
            <a:r>
              <a:rPr lang="en-US" sz="1600">
                <a:solidFill>
                  <a:srgbClr val="008000"/>
                </a:solidFill>
                <a:latin typeface="Cascadia Mono" panose="020B0609020000020004" pitchFamily="49" charset="0"/>
              </a:rPr>
              <a:t>Wait 10 seconds to </a:t>
            </a:r>
            <a:r>
              <a:rPr lang="en-US" sz="1600" smtClean="0">
                <a:solidFill>
                  <a:srgbClr val="008000"/>
                </a:solidFill>
                <a:latin typeface="Cascadia Mono" panose="020B0609020000020004" pitchFamily="49" charset="0"/>
              </a:rPr>
              <a:t>reject</a:t>
            </a:r>
            <a:endParaRPr lang="en-GB" sz="1600" smtClean="0">
              <a:solidFill>
                <a:srgbClr val="008000"/>
              </a:solidFill>
              <a:latin typeface="Cascadia Mono" panose="020B0609020000020004" pitchFamily="49" charset="0"/>
            </a:endParaRPr>
          </a:p>
          <a:p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    });</a:t>
            </a:r>
          </a:p>
          <a:p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});</a:t>
            </a:r>
            <a:endParaRPr lang="en-GB" sz="2000"/>
          </a:p>
        </p:txBody>
      </p:sp>
      <p:sp>
        <p:nvSpPr>
          <p:cNvPr id="10" name="Rectangle 9"/>
          <p:cNvSpPr/>
          <p:nvPr/>
        </p:nvSpPr>
        <p:spPr>
          <a:xfrm>
            <a:off x="137651" y="5523342"/>
            <a:ext cx="119265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app.</a:t>
            </a:r>
            <a:r>
              <a:rPr lang="en-GB" sz="2000">
                <a:solidFill>
                  <a:srgbClr val="C00000"/>
                </a:solidFill>
                <a:latin typeface="Cascadia Mono" panose="020B0609020000020004" pitchFamily="49" charset="0"/>
              </a:rPr>
              <a:t>UseRateLimiter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(); </a:t>
            </a:r>
            <a:r>
              <a:rPr lang="en-GB" smtClean="0">
                <a:solidFill>
                  <a:srgbClr val="008000"/>
                </a:solidFill>
                <a:latin typeface="Cascadia Mono" panose="020B0609020000020004" pitchFamily="49" charset="0"/>
              </a:rPr>
              <a:t>//above</a:t>
            </a:r>
            <a:r>
              <a:rPr lang="en-US" smtClean="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r>
              <a:rPr lang="en-US">
                <a:solidFill>
                  <a:srgbClr val="008000"/>
                </a:solidFill>
                <a:latin typeface="Cascadia Mono" panose="020B0609020000020004" pitchFamily="49" charset="0"/>
              </a:rPr>
              <a:t>app.UseAuthentication</a:t>
            </a:r>
            <a:r>
              <a:rPr lang="en-US" smtClean="0">
                <a:solidFill>
                  <a:srgbClr val="008000"/>
                </a:solidFill>
                <a:latin typeface="Cascadia Mono" panose="020B0609020000020004" pitchFamily="49" charset="0"/>
              </a:rPr>
              <a:t>() &amp; app.UseAuthorization()</a:t>
            </a:r>
            <a:r>
              <a:rPr lang="en-GB" smtClean="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</a:p>
        </p:txBody>
      </p:sp>
      <p:sp>
        <p:nvSpPr>
          <p:cNvPr id="11" name="Text Placeholder 5"/>
          <p:cNvSpPr txBox="1">
            <a:spLocks/>
          </p:cNvSpPr>
          <p:nvPr/>
        </p:nvSpPr>
        <p:spPr>
          <a:xfrm>
            <a:off x="5994400" y="170426"/>
            <a:ext cx="6075399" cy="3886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1200"/>
              </a:spcBef>
            </a:pPr>
            <a:r>
              <a:rPr lang="en-US" sz="2200" b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Way 1. </a:t>
            </a:r>
            <a:r>
              <a:rPr lang="en-US" sz="2200" b="1" smtClean="0">
                <a:sym typeface="Wingdings" panose="05000000000000000000" pitchFamily="2" charset="2"/>
              </a:rPr>
              <a:t>Microsoft.AspNetCore.RateLimiting</a:t>
            </a:r>
            <a:endParaRPr lang="en-US" sz="2200" b="1">
              <a:solidFill>
                <a:srgbClr val="C00000"/>
              </a:solidFill>
              <a:sym typeface="Wingdings" panose="05000000000000000000" pitchFamily="2" charset="2"/>
            </a:endParaRPr>
          </a:p>
        </p:txBody>
      </p:sp>
      <p:sp>
        <p:nvSpPr>
          <p:cNvPr id="12" name="Text Placeholder 5"/>
          <p:cNvSpPr txBox="1">
            <a:spLocks/>
          </p:cNvSpPr>
          <p:nvPr/>
        </p:nvSpPr>
        <p:spPr>
          <a:xfrm>
            <a:off x="9350476" y="609600"/>
            <a:ext cx="2723537" cy="3886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1200"/>
              </a:spcBef>
            </a:pPr>
            <a:r>
              <a:rPr lang="en-US" sz="2400" smtClean="0">
                <a:solidFill>
                  <a:srgbClr val="C00000"/>
                </a:solidFill>
                <a:sym typeface="Wingdings" panose="05000000000000000000" pitchFamily="2" charset="2"/>
              </a:rPr>
              <a:t>in Program.cs</a:t>
            </a:r>
            <a:endParaRPr lang="en-US" sz="2400">
              <a:solidFill>
                <a:srgbClr val="C00000"/>
              </a:solidFill>
              <a:sym typeface="Wingdings" panose="05000000000000000000" pitchFamily="2" charset="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7315" y="5976854"/>
            <a:ext cx="117102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app.</a:t>
            </a:r>
            <a:r>
              <a:rPr lang="en-GB">
                <a:solidFill>
                  <a:srgbClr val="990000"/>
                </a:solidFill>
                <a:latin typeface="Cascadia Mono" panose="020B0609020000020004" pitchFamily="49" charset="0"/>
              </a:rPr>
              <a:t>MapControllers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().</a:t>
            </a:r>
            <a:r>
              <a:rPr lang="en-GB">
                <a:solidFill>
                  <a:srgbClr val="990000"/>
                </a:solidFill>
                <a:latin typeface="Cascadia Mono" panose="020B0609020000020004" pitchFamily="49" charset="0"/>
              </a:rPr>
              <a:t>RequireRateLimiting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GB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GB" smtClean="0">
                <a:solidFill>
                  <a:srgbClr val="0000FF"/>
                </a:solidFill>
                <a:latin typeface="Cascadia Mono" panose="020B0609020000020004" pitchFamily="49" charset="0"/>
              </a:rPr>
              <a:t>Fixed</a:t>
            </a:r>
            <a:r>
              <a:rPr lang="en-GB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en-GB" sz="2400" b="1" smtClean="0">
                <a:solidFill>
                  <a:srgbClr val="008000"/>
                </a:solidFill>
                <a:latin typeface="Cascadia Mono" panose="020B0609020000020004" pitchFamily="49" charset="0"/>
              </a:rPr>
              <a:t>//Enable all Controllers</a:t>
            </a:r>
            <a:endParaRPr lang="en-GB" sz="2400" b="1"/>
          </a:p>
        </p:txBody>
      </p:sp>
    </p:spTree>
    <p:extLst>
      <p:ext uri="{BB962C8B-B14F-4D97-AF65-F5344CB8AC3E}">
        <p14:creationId xmlns:p14="http://schemas.microsoft.com/office/powerpoint/2010/main" val="1395334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repeatCount="indefinite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754742"/>
            <a:ext cx="12192000" cy="52251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2.4. </a:t>
            </a:r>
            <a:r>
              <a:rPr lang="en-US"/>
              <a:t>Rate Limiting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57649" y="1580393"/>
            <a:ext cx="11607800" cy="4131900"/>
          </a:xfrm>
          <a:prstGeom prst="rect">
            <a:avLst/>
          </a:prstGeom>
          <a:ln w="0">
            <a:noFill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builder.Services.</a:t>
            </a:r>
            <a:r>
              <a:rPr lang="en-GB" sz="2000">
                <a:solidFill>
                  <a:srgbClr val="C00000"/>
                </a:solidFill>
                <a:latin typeface="Cascadia Mono" panose="020B0609020000020004" pitchFamily="49" charset="0"/>
              </a:rPr>
              <a:t>AddMemoryCache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>
              <a:spcBef>
                <a:spcPts val="1200"/>
              </a:spcBef>
            </a:pP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builder.Services.</a:t>
            </a:r>
            <a:r>
              <a:rPr lang="en-GB" sz="2000" smtClean="0">
                <a:solidFill>
                  <a:srgbClr val="C00000"/>
                </a:solidFill>
                <a:latin typeface="Cascadia Mono" panose="020B0609020000020004" pitchFamily="49" charset="0"/>
              </a:rPr>
              <a:t>AddRateLimiter</a:t>
            </a: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(options =&gt;</a:t>
            </a:r>
          </a:p>
          <a:p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    options.</a:t>
            </a:r>
            <a:r>
              <a:rPr lang="en-GB" sz="2000" smtClean="0">
                <a:solidFill>
                  <a:srgbClr val="C00000"/>
                </a:solidFill>
                <a:latin typeface="Cascadia Mono" panose="020B0609020000020004" pitchFamily="49" charset="0"/>
              </a:rPr>
              <a:t>AddFixedWindowLimiter</a:t>
            </a: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GB" smtClean="0"/>
              <a:t>policyName: </a:t>
            </a:r>
            <a:r>
              <a:rPr lang="en-GB" sz="200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GB" sz="2000" smtClean="0">
                <a:solidFill>
                  <a:srgbClr val="0000FF"/>
                </a:solidFill>
                <a:latin typeface="Cascadia Mono" panose="020B0609020000020004" pitchFamily="49" charset="0"/>
              </a:rPr>
              <a:t>Fixed</a:t>
            </a:r>
            <a:r>
              <a:rPr lang="en-GB" sz="200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, opt =&gt;</a:t>
            </a:r>
          </a:p>
          <a:p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pPr>
              <a:spcBef>
                <a:spcPts val="300"/>
              </a:spcBef>
            </a:pPr>
            <a:r>
              <a:rPr lang="en-US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opt.PermitLimit = 5;  </a:t>
            </a:r>
            <a:r>
              <a:rPr lang="en-US" sz="2000" smtClean="0">
                <a:solidFill>
                  <a:srgbClr val="008000"/>
                </a:solidFill>
                <a:latin typeface="Cascadia Mono" panose="020B0609020000020004" pitchFamily="49" charset="0"/>
              </a:rPr>
              <a:t>// limite 5 requests</a:t>
            </a:r>
            <a:endParaRPr lang="en-US" sz="200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>
              <a:spcBef>
                <a:spcPts val="300"/>
              </a:spcBef>
            </a:pP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opt.Window = </a:t>
            </a:r>
            <a:r>
              <a:rPr lang="en-GB" sz="2000" smtClean="0">
                <a:solidFill>
                  <a:srgbClr val="0099CC"/>
                </a:solidFill>
                <a:latin typeface="Cascadia Mono" panose="020B0609020000020004" pitchFamily="49" charset="0"/>
              </a:rPr>
              <a:t>TimeSpan</a:t>
            </a: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.</a:t>
            </a:r>
            <a:r>
              <a:rPr lang="en-GB" sz="2000" smtClean="0">
                <a:solidFill>
                  <a:srgbClr val="C00000"/>
                </a:solidFill>
                <a:latin typeface="Cascadia Mono" panose="020B0609020000020004" pitchFamily="49" charset="0"/>
              </a:rPr>
              <a:t>FromMinutes</a:t>
            </a: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(1); </a:t>
            </a:r>
            <a:r>
              <a:rPr lang="en-GB" sz="2000" smtClean="0">
                <a:solidFill>
                  <a:srgbClr val="008000"/>
                </a:solidFill>
                <a:latin typeface="Cascadia Mono" panose="020B0609020000020004" pitchFamily="49" charset="0"/>
              </a:rPr>
              <a:t>//Within 1 minute</a:t>
            </a:r>
            <a:endParaRPr lang="en-GB" sz="200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>
              <a:spcBef>
                <a:spcPts val="300"/>
              </a:spcBef>
            </a:pP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opt.QueueProcessingOrder = </a:t>
            </a:r>
            <a:r>
              <a:rPr lang="en-GB" sz="2000" smtClean="0">
                <a:solidFill>
                  <a:srgbClr val="0099CC"/>
                </a:solidFill>
                <a:latin typeface="Cascadia Mono" panose="020B0609020000020004" pitchFamily="49" charset="0"/>
              </a:rPr>
              <a:t>QueueProcessingOrder</a:t>
            </a: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.OldestFirst;</a:t>
            </a:r>
          </a:p>
          <a:p>
            <a:pPr>
              <a:spcBef>
                <a:spcPts val="300"/>
              </a:spcBef>
            </a:pP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opt.QueueLimit = 2;  </a:t>
            </a:r>
            <a:r>
              <a:rPr lang="en-GB" sz="2000" smtClean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en-US" sz="2000" smtClean="0">
                <a:solidFill>
                  <a:srgbClr val="008000"/>
                </a:solidFill>
                <a:latin typeface="Cascadia Mono" panose="020B0609020000020004" pitchFamily="49" charset="0"/>
              </a:rPr>
              <a:t>Limit number of requests in queue</a:t>
            </a:r>
          </a:p>
          <a:p>
            <a:pPr>
              <a:spcBef>
                <a:spcPts val="300"/>
              </a:spcBef>
            </a:pP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	  opt.QueueTimeout 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= TimeSpan.FromSeconds(10</a:t>
            </a: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r>
              <a:rPr lang="en-GB" sz="1600" smtClean="0">
                <a:solidFill>
                  <a:srgbClr val="008000"/>
                </a:solidFill>
                <a:latin typeface="Cascadia Mono" panose="020B0609020000020004" pitchFamily="49" charset="0"/>
              </a:rPr>
              <a:t>//</a:t>
            </a:r>
            <a:r>
              <a:rPr lang="en-US" sz="1600">
                <a:solidFill>
                  <a:srgbClr val="008000"/>
                </a:solidFill>
                <a:latin typeface="Cascadia Mono" panose="020B0609020000020004" pitchFamily="49" charset="0"/>
              </a:rPr>
              <a:t>Wait 10 seconds to </a:t>
            </a:r>
            <a:r>
              <a:rPr lang="en-US" sz="1600" smtClean="0">
                <a:solidFill>
                  <a:srgbClr val="008000"/>
                </a:solidFill>
                <a:latin typeface="Cascadia Mono" panose="020B0609020000020004" pitchFamily="49" charset="0"/>
              </a:rPr>
              <a:t>reject</a:t>
            </a:r>
            <a:endParaRPr lang="en-GB" sz="1600" smtClean="0">
              <a:solidFill>
                <a:srgbClr val="008000"/>
              </a:solidFill>
              <a:latin typeface="Cascadia Mono" panose="020B0609020000020004" pitchFamily="49" charset="0"/>
            </a:endParaRPr>
          </a:p>
          <a:p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    });</a:t>
            </a:r>
          </a:p>
          <a:p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});</a:t>
            </a:r>
            <a:endParaRPr lang="en-GB" sz="2000"/>
          </a:p>
        </p:txBody>
      </p:sp>
      <p:sp>
        <p:nvSpPr>
          <p:cNvPr id="10" name="Rectangle 9"/>
          <p:cNvSpPr/>
          <p:nvPr/>
        </p:nvSpPr>
        <p:spPr>
          <a:xfrm>
            <a:off x="255639" y="5847805"/>
            <a:ext cx="119265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app.</a:t>
            </a:r>
            <a:r>
              <a:rPr lang="en-GB" sz="2000">
                <a:solidFill>
                  <a:srgbClr val="C00000"/>
                </a:solidFill>
                <a:latin typeface="Cascadia Mono" panose="020B0609020000020004" pitchFamily="49" charset="0"/>
              </a:rPr>
              <a:t>UseRateLimiter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(); </a:t>
            </a:r>
            <a:r>
              <a:rPr lang="en-GB" smtClean="0">
                <a:solidFill>
                  <a:srgbClr val="008000"/>
                </a:solidFill>
                <a:latin typeface="Cascadia Mono" panose="020B0609020000020004" pitchFamily="49" charset="0"/>
              </a:rPr>
              <a:t>//above</a:t>
            </a:r>
            <a:r>
              <a:rPr lang="en-US" smtClean="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r>
              <a:rPr lang="en-US">
                <a:solidFill>
                  <a:srgbClr val="008000"/>
                </a:solidFill>
                <a:latin typeface="Cascadia Mono" panose="020B0609020000020004" pitchFamily="49" charset="0"/>
              </a:rPr>
              <a:t>app.UseAuthentication</a:t>
            </a:r>
            <a:r>
              <a:rPr lang="en-US" smtClean="0">
                <a:solidFill>
                  <a:srgbClr val="008000"/>
                </a:solidFill>
                <a:latin typeface="Cascadia Mono" panose="020B0609020000020004" pitchFamily="49" charset="0"/>
              </a:rPr>
              <a:t>() &amp; app.UseAuthorization()</a:t>
            </a:r>
            <a:r>
              <a:rPr lang="en-GB" smtClean="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</a:p>
        </p:txBody>
      </p:sp>
      <p:sp>
        <p:nvSpPr>
          <p:cNvPr id="11" name="Text Placeholder 5"/>
          <p:cNvSpPr txBox="1">
            <a:spLocks/>
          </p:cNvSpPr>
          <p:nvPr/>
        </p:nvSpPr>
        <p:spPr>
          <a:xfrm>
            <a:off x="6381136" y="68826"/>
            <a:ext cx="5732206" cy="3886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1200"/>
              </a:spcBef>
            </a:pPr>
            <a:r>
              <a:rPr lang="en-US" sz="2200" b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Way 1. </a:t>
            </a:r>
            <a:r>
              <a:rPr lang="en-US" sz="2200" smtClean="0">
                <a:sym typeface="Wingdings" panose="05000000000000000000" pitchFamily="2" charset="2"/>
              </a:rPr>
              <a:t>Microsoft.AspNetCore.RateLimiting</a:t>
            </a:r>
            <a:endParaRPr lang="en-US" sz="2200">
              <a:solidFill>
                <a:srgbClr val="C00000"/>
              </a:solidFill>
              <a:sym typeface="Wingdings" panose="05000000000000000000" pitchFamily="2" charset="2"/>
            </a:endParaRPr>
          </a:p>
        </p:txBody>
      </p:sp>
      <p:sp>
        <p:nvSpPr>
          <p:cNvPr id="12" name="Text Placeholder 5"/>
          <p:cNvSpPr txBox="1">
            <a:spLocks/>
          </p:cNvSpPr>
          <p:nvPr/>
        </p:nvSpPr>
        <p:spPr>
          <a:xfrm>
            <a:off x="9360308" y="353961"/>
            <a:ext cx="2723537" cy="3886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1200"/>
              </a:spcBef>
            </a:pPr>
            <a:r>
              <a:rPr lang="en-US" sz="2400" smtClean="0">
                <a:solidFill>
                  <a:srgbClr val="C00000"/>
                </a:solidFill>
                <a:sym typeface="Wingdings" panose="05000000000000000000" pitchFamily="2" charset="2"/>
              </a:rPr>
              <a:t>in Program.cs</a:t>
            </a:r>
            <a:endParaRPr lang="en-US" sz="2400">
              <a:solidFill>
                <a:srgbClr val="C00000"/>
              </a:solidFill>
              <a:sym typeface="Wingdings" panose="05000000000000000000" pitchFamily="2" charset="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5638" y="6202995"/>
            <a:ext cx="117102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app.</a:t>
            </a:r>
            <a:r>
              <a:rPr lang="en-GB">
                <a:solidFill>
                  <a:srgbClr val="990000"/>
                </a:solidFill>
                <a:latin typeface="Cascadia Mono" panose="020B0609020000020004" pitchFamily="49" charset="0"/>
              </a:rPr>
              <a:t>MapControllers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(); </a:t>
            </a:r>
            <a:endParaRPr lang="en-GB"/>
          </a:p>
        </p:txBody>
      </p:sp>
      <p:sp>
        <p:nvSpPr>
          <p:cNvPr id="2" name="Rectangle 1"/>
          <p:cNvSpPr/>
          <p:nvPr/>
        </p:nvSpPr>
        <p:spPr>
          <a:xfrm>
            <a:off x="255638" y="873912"/>
            <a:ext cx="11641394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smtClean="0">
                <a:solidFill>
                  <a:srgbClr val="0033CC"/>
                </a:solidFill>
                <a:latin typeface="Cascadia Mono" panose="020B0609020000020004" pitchFamily="49" charset="0"/>
              </a:rPr>
              <a:t>Must </a:t>
            </a:r>
            <a:r>
              <a:rPr lang="en-US" sz="2000" b="1">
                <a:solidFill>
                  <a:srgbClr val="0033CC"/>
                </a:solidFill>
                <a:latin typeface="Cascadia Mono" panose="020B0609020000020004" pitchFamily="49" charset="0"/>
              </a:rPr>
              <a:t>be specified at which endpoint or controller </a:t>
            </a:r>
            <a:r>
              <a:rPr lang="en-US" sz="2000" b="1" smtClean="0">
                <a:solidFill>
                  <a:srgbClr val="0033CC"/>
                </a:solidFill>
                <a:latin typeface="Cascadia Mono" panose="020B0609020000020004" pitchFamily="49" charset="0"/>
              </a:rPr>
              <a:t>needs </a:t>
            </a:r>
            <a:r>
              <a:rPr lang="en-US" sz="2000" b="1">
                <a:solidFill>
                  <a:srgbClr val="0033CC"/>
                </a:solidFill>
                <a:latin typeface="Cascadia Mono" panose="020B0609020000020004" pitchFamily="49" charset="0"/>
              </a:rPr>
              <a:t>Rate Limiting.</a:t>
            </a:r>
            <a:endParaRPr lang="en-GB" sz="2000" b="1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334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repeatCount="indefinite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2722"/>
            <a:ext cx="11549029" cy="5408382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37160" y="122011"/>
            <a:ext cx="5644208" cy="594995"/>
          </a:xfrm>
        </p:spPr>
        <p:txBody>
          <a:bodyPr>
            <a:normAutofit/>
          </a:bodyPr>
          <a:lstStyle/>
          <a:p>
            <a:r>
              <a:rPr lang="en-US" smtClean="0"/>
              <a:t>2.4. </a:t>
            </a:r>
            <a:r>
              <a:rPr lang="en-US"/>
              <a:t>Rate Limiting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6381136" y="68826"/>
            <a:ext cx="5732206" cy="388604"/>
          </a:xfrm>
        </p:spPr>
        <p:txBody>
          <a:bodyPr/>
          <a:lstStyle/>
          <a:p>
            <a:pPr algn="r">
              <a:lnSpc>
                <a:spcPct val="100000"/>
              </a:lnSpc>
              <a:spcBef>
                <a:spcPts val="1200"/>
              </a:spcBef>
            </a:pPr>
            <a:r>
              <a:rPr lang="en-US" sz="2200" b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Way 1. </a:t>
            </a:r>
            <a:r>
              <a:rPr lang="en-US" sz="2200" smtClean="0">
                <a:sym typeface="Wingdings" panose="05000000000000000000" pitchFamily="2" charset="2"/>
              </a:rPr>
              <a:t>Microsoft.AspNetCore.RateLimiting</a:t>
            </a:r>
            <a:endParaRPr lang="en-US" sz="2200">
              <a:solidFill>
                <a:srgbClr val="C00000"/>
              </a:solidFill>
              <a:sym typeface="Wingdings" panose="05000000000000000000" pitchFamily="2" charset="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22544" y="830123"/>
            <a:ext cx="6685187" cy="461665"/>
          </a:xfrm>
          <a:prstGeom prst="rect">
            <a:avLst/>
          </a:prstGeom>
          <a:ln w="6350">
            <a:noFill/>
          </a:ln>
        </p:spPr>
        <p:txBody>
          <a:bodyPr wrap="square">
            <a:spAutoFit/>
          </a:bodyPr>
          <a:lstStyle/>
          <a:p>
            <a:r>
              <a:rPr lang="en-GB" sz="2400" b="1" smtClean="0">
                <a:solidFill>
                  <a:srgbClr val="006600"/>
                </a:solidFill>
                <a:latin typeface="Cascadia Mono" panose="020B0609020000020004" pitchFamily="49" charset="0"/>
              </a:rPr>
              <a:t>//</a:t>
            </a:r>
            <a:r>
              <a:rPr lang="en-US" sz="2300" b="1" smtClean="0">
                <a:solidFill>
                  <a:srgbClr val="006600"/>
                </a:solidFill>
                <a:latin typeface="Cascadia Mono" panose="020B0609020000020004" pitchFamily="49" charset="0"/>
              </a:rPr>
              <a:t>Enable all Endpoints in Controller</a:t>
            </a:r>
            <a:endParaRPr lang="en-GB" sz="2300" b="1" smtClean="0">
              <a:solidFill>
                <a:srgbClr val="006600"/>
              </a:solidFill>
              <a:latin typeface="Cascadia Mono" panose="020B06090200000200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841829"/>
            <a:ext cx="12192000" cy="50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736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repeatCount="indefinite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37160" y="122011"/>
            <a:ext cx="5644208" cy="594995"/>
          </a:xfrm>
        </p:spPr>
        <p:txBody>
          <a:bodyPr>
            <a:normAutofit/>
          </a:bodyPr>
          <a:lstStyle/>
          <a:p>
            <a:r>
              <a:rPr lang="en-US" smtClean="0"/>
              <a:t>2.4. </a:t>
            </a:r>
            <a:r>
              <a:rPr lang="en-US"/>
              <a:t>Rate Limiting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6381136" y="68826"/>
            <a:ext cx="5732206" cy="388604"/>
          </a:xfrm>
        </p:spPr>
        <p:txBody>
          <a:bodyPr/>
          <a:lstStyle/>
          <a:p>
            <a:pPr algn="r">
              <a:lnSpc>
                <a:spcPct val="100000"/>
              </a:lnSpc>
              <a:spcBef>
                <a:spcPts val="1200"/>
              </a:spcBef>
            </a:pPr>
            <a:r>
              <a:rPr lang="en-US" sz="2200" b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Way 1. </a:t>
            </a:r>
            <a:r>
              <a:rPr lang="en-US" sz="2200" smtClean="0">
                <a:sym typeface="Wingdings" panose="05000000000000000000" pitchFamily="2" charset="2"/>
              </a:rPr>
              <a:t>Microsoft.AspNetCore.RateLimiting</a:t>
            </a:r>
            <a:endParaRPr lang="en-US" sz="2200">
              <a:solidFill>
                <a:srgbClr val="C00000"/>
              </a:solidFill>
              <a:sym typeface="Wingdings" panose="05000000000000000000" pitchFamily="2" charset="2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860" y="686719"/>
            <a:ext cx="11162019" cy="58819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937509" y="2398927"/>
            <a:ext cx="4627787" cy="461665"/>
          </a:xfrm>
          <a:prstGeom prst="rect">
            <a:avLst/>
          </a:prstGeom>
          <a:ln w="63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2400" b="1" smtClean="0">
                <a:solidFill>
                  <a:srgbClr val="006600"/>
                </a:solidFill>
                <a:latin typeface="Cascadia Mono" panose="020B0609020000020004" pitchFamily="49" charset="0"/>
              </a:rPr>
              <a:t>//</a:t>
            </a:r>
            <a:r>
              <a:rPr lang="en-US" sz="2400" b="1" smtClean="0">
                <a:solidFill>
                  <a:srgbClr val="006600"/>
                </a:solidFill>
                <a:latin typeface="Cascadia Mono" panose="020B0609020000020004" pitchFamily="49" charset="0"/>
              </a:rPr>
              <a:t> Enable this Endpoint</a:t>
            </a:r>
            <a:endParaRPr lang="en-GB" sz="2400" b="1" smtClean="0">
              <a:solidFill>
                <a:srgbClr val="006600"/>
              </a:solidFill>
              <a:latin typeface="Cascadia Mono" panose="020B0609020000020004" pitchFamily="49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6947453" y="2912165"/>
            <a:ext cx="964095" cy="4174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8871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37160" y="122011"/>
            <a:ext cx="5644208" cy="594995"/>
          </a:xfrm>
        </p:spPr>
        <p:txBody>
          <a:bodyPr>
            <a:normAutofit/>
          </a:bodyPr>
          <a:lstStyle/>
          <a:p>
            <a:r>
              <a:rPr lang="en-US" smtClean="0"/>
              <a:t>2.4. </a:t>
            </a:r>
            <a:r>
              <a:rPr lang="en-US"/>
              <a:t>Rate Limiting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6381136" y="68826"/>
            <a:ext cx="5732206" cy="388604"/>
          </a:xfrm>
        </p:spPr>
        <p:txBody>
          <a:bodyPr/>
          <a:lstStyle/>
          <a:p>
            <a:pPr algn="r">
              <a:lnSpc>
                <a:spcPct val="100000"/>
              </a:lnSpc>
              <a:spcBef>
                <a:spcPts val="1200"/>
              </a:spcBef>
            </a:pPr>
            <a:r>
              <a:rPr lang="en-US" sz="2200" b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Way 1. </a:t>
            </a:r>
            <a:r>
              <a:rPr lang="en-US" sz="2200" smtClean="0">
                <a:sym typeface="Wingdings" panose="05000000000000000000" pitchFamily="2" charset="2"/>
              </a:rPr>
              <a:t>Microsoft.AspNetCore.RateLimiting</a:t>
            </a:r>
            <a:endParaRPr lang="en-US" sz="2200">
              <a:solidFill>
                <a:srgbClr val="C00000"/>
              </a:solidFill>
              <a:sym typeface="Wingdings" panose="05000000000000000000" pitchFamily="2" charset="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7987" y="6054284"/>
            <a:ext cx="119265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app.</a:t>
            </a:r>
            <a:r>
              <a:rPr lang="en-GB" sz="2000">
                <a:solidFill>
                  <a:srgbClr val="C00000"/>
                </a:solidFill>
                <a:latin typeface="Cascadia Mono" panose="020B0609020000020004" pitchFamily="49" charset="0"/>
              </a:rPr>
              <a:t>UseRateLimiter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(); </a:t>
            </a:r>
            <a:r>
              <a:rPr lang="en-GB" smtClean="0">
                <a:solidFill>
                  <a:srgbClr val="008000"/>
                </a:solidFill>
                <a:latin typeface="Cascadia Mono" panose="020B0609020000020004" pitchFamily="49" charset="0"/>
              </a:rPr>
              <a:t>//</a:t>
            </a:r>
            <a:r>
              <a:rPr lang="en-US" smtClean="0">
                <a:solidFill>
                  <a:srgbClr val="008000"/>
                </a:solidFill>
                <a:latin typeface="Cascadia Mono" panose="020B0609020000020004" pitchFamily="49" charset="0"/>
              </a:rPr>
              <a:t>above app.UseAuthentication() &amp; app.UseAuthorization()</a:t>
            </a:r>
            <a:r>
              <a:rPr lang="en-GB" smtClean="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endParaRPr lang="en-GB"/>
          </a:p>
        </p:txBody>
      </p:sp>
      <p:sp>
        <p:nvSpPr>
          <p:cNvPr id="2" name="Rectangle 1"/>
          <p:cNvSpPr/>
          <p:nvPr/>
        </p:nvSpPr>
        <p:spPr>
          <a:xfrm>
            <a:off x="245806" y="828305"/>
            <a:ext cx="11739716" cy="4817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builder.Services.</a:t>
            </a:r>
            <a:r>
              <a:rPr lang="en-GB">
                <a:solidFill>
                  <a:srgbClr val="0099CC"/>
                </a:solidFill>
                <a:latin typeface="Cascadia Mono" panose="020B0609020000020004" pitchFamily="49" charset="0"/>
              </a:rPr>
              <a:t>AddMemoryCache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builder.Services.</a:t>
            </a:r>
            <a:r>
              <a:rPr lang="en-GB">
                <a:solidFill>
                  <a:srgbClr val="0099CC"/>
                </a:solidFill>
                <a:latin typeface="Cascadia Mono" panose="020B0609020000020004" pitchFamily="49" charset="0"/>
              </a:rPr>
              <a:t>AddRateLimiter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(options =&gt;</a:t>
            </a: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>
              <a:lnSpc>
                <a:spcPct val="110000"/>
              </a:lnSpc>
            </a:pP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options.</a:t>
            </a:r>
            <a:r>
              <a:rPr lang="en-GB">
                <a:solidFill>
                  <a:srgbClr val="990000"/>
                </a:solidFill>
                <a:latin typeface="Cascadia Mono" panose="020B0609020000020004" pitchFamily="49" charset="0"/>
              </a:rPr>
              <a:t>RejectionStatusCode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= 429;  </a:t>
            </a:r>
            <a:r>
              <a:rPr lang="en-GB" smtClean="0">
                <a:solidFill>
                  <a:srgbClr val="006600"/>
                </a:solidFill>
                <a:latin typeface="Cascadia Mono" panose="020B0609020000020004" pitchFamily="49" charset="0"/>
              </a:rPr>
              <a:t>//Set StatusCode = 429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endParaRPr lang="en-GB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>
              <a:lnSpc>
                <a:spcPct val="110000"/>
              </a:lnSpc>
            </a:pP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options.GlobalLimiter = </a:t>
            </a:r>
            <a:r>
              <a:rPr lang="en-GB">
                <a:solidFill>
                  <a:srgbClr val="0099CC"/>
                </a:solidFill>
                <a:latin typeface="Cascadia Mono" panose="020B0609020000020004" pitchFamily="49" charset="0"/>
              </a:rPr>
              <a:t>PartitionedRateLimiter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.</a:t>
            </a:r>
            <a:r>
              <a:rPr lang="en-GB">
                <a:solidFill>
                  <a:srgbClr val="990000"/>
                </a:solidFill>
                <a:latin typeface="Cascadia Mono" panose="020B0609020000020004" pitchFamily="49" charset="0"/>
              </a:rPr>
              <a:t>Create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&lt;HttpContext, </a:t>
            </a:r>
            <a:r>
              <a:rPr lang="en-GB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&gt;   		(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httpContext 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=&gt;</a:t>
            </a:r>
            <a:r>
              <a:rPr lang="en-GB" smtClean="0">
                <a:solidFill>
                  <a:srgbClr val="0099CC"/>
                </a:solidFill>
                <a:latin typeface="Cascadia Mono" panose="020B0609020000020004" pitchFamily="49" charset="0"/>
              </a:rPr>
              <a:t>RateLimitPartition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.</a:t>
            </a:r>
            <a:r>
              <a:rPr lang="en-GB" smtClean="0">
                <a:solidFill>
                  <a:srgbClr val="990000"/>
                </a:solidFill>
                <a:latin typeface="Cascadia Mono" panose="020B0609020000020004" pitchFamily="49" charset="0"/>
              </a:rPr>
              <a:t>GetFixedWindowLimiter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(partitionKey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					httpContext.Request.Headers.Host.</a:t>
            </a:r>
            <a:r>
              <a:rPr lang="en-GB" smtClean="0">
                <a:solidFill>
                  <a:srgbClr val="990000"/>
                </a:solidFill>
                <a:latin typeface="Cascadia Mono" panose="020B0609020000020004" pitchFamily="49" charset="0"/>
              </a:rPr>
              <a:t>ToString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(),</a:t>
            </a:r>
          </a:p>
          <a:p>
            <a:pPr>
              <a:spcBef>
                <a:spcPts val="110"/>
              </a:spcBef>
            </a:pP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   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factory: partition =&gt; </a:t>
            </a:r>
            <a:r>
              <a:rPr lang="en-GB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>
                <a:solidFill>
                  <a:srgbClr val="990000"/>
                </a:solidFill>
                <a:latin typeface="Cascadia Mono" panose="020B0609020000020004" pitchFamily="49" charset="0"/>
              </a:rPr>
              <a:t>FixedWindowRateLimiterOptions</a:t>
            </a:r>
          </a:p>
          <a:p>
            <a:pPr>
              <a:spcBef>
                <a:spcPts val="110"/>
              </a:spcBef>
            </a:pP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   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>
              <a:lnSpc>
                <a:spcPct val="120000"/>
              </a:lnSpc>
              <a:spcBef>
                <a:spcPts val="110"/>
              </a:spcBef>
            </a:pP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		AutoReplenishment 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= </a:t>
            </a:r>
            <a:r>
              <a:rPr lang="en-GB" sz="2000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pPr>
              <a:lnSpc>
                <a:spcPct val="120000"/>
              </a:lnSpc>
              <a:spcBef>
                <a:spcPts val="110"/>
              </a:spcBef>
            </a:pP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         </a:t>
            </a: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  PermitLimit 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= 10, </a:t>
            </a: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			</a:t>
            </a:r>
            <a:r>
              <a:rPr lang="en-GB" sz="1600" smtClean="0">
                <a:solidFill>
                  <a:srgbClr val="006600"/>
                </a:solidFill>
                <a:latin typeface="Cascadia Mono" panose="020B0609020000020004" pitchFamily="49" charset="0"/>
              </a:rPr>
              <a:t>// Limite </a:t>
            </a:r>
            <a:r>
              <a:rPr lang="en-GB" sz="1600">
                <a:solidFill>
                  <a:srgbClr val="006600"/>
                </a:solidFill>
                <a:latin typeface="Cascadia Mono" panose="020B0609020000020004" pitchFamily="49" charset="0"/>
              </a:rPr>
              <a:t>10 </a:t>
            </a:r>
            <a:r>
              <a:rPr lang="en-GB" sz="1600" smtClean="0">
                <a:solidFill>
                  <a:srgbClr val="006600"/>
                </a:solidFill>
                <a:latin typeface="Cascadia Mono" panose="020B0609020000020004" pitchFamily="49" charset="0"/>
              </a:rPr>
              <a:t>requests</a:t>
            </a:r>
          </a:p>
          <a:p>
            <a:pPr>
              <a:lnSpc>
                <a:spcPct val="120000"/>
              </a:lnSpc>
              <a:spcBef>
                <a:spcPts val="110"/>
              </a:spcBef>
            </a:pP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QueueLimit 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= </a:t>
            </a: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0,			</a:t>
            </a:r>
            <a:r>
              <a:rPr lang="en-GB" sz="1600" smtClean="0">
                <a:solidFill>
                  <a:srgbClr val="006600"/>
                </a:solidFill>
                <a:latin typeface="Cascadia Mono" panose="020B0609020000020004" pitchFamily="49" charset="0"/>
              </a:rPr>
              <a:t>// Within 1 minute</a:t>
            </a:r>
            <a:endParaRPr lang="en-GB" sz="160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>
              <a:lnSpc>
                <a:spcPct val="120000"/>
              </a:lnSpc>
              <a:spcBef>
                <a:spcPts val="110"/>
              </a:spcBef>
            </a:pP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         </a:t>
            </a: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  Window =</a:t>
            </a:r>
            <a:r>
              <a:rPr lang="en-GB" sz="2000" smtClean="0">
                <a:solidFill>
                  <a:srgbClr val="0099CC"/>
                </a:solidFill>
                <a:latin typeface="Cascadia Mono" panose="020B0609020000020004" pitchFamily="49" charset="0"/>
              </a:rPr>
              <a:t>TimeSpan</a:t>
            </a: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.</a:t>
            </a:r>
            <a:r>
              <a:rPr lang="en-GB" sz="2000" smtClean="0">
                <a:solidFill>
                  <a:srgbClr val="990000"/>
                </a:solidFill>
                <a:latin typeface="Cascadia Mono" panose="020B0609020000020004" pitchFamily="49" charset="0"/>
              </a:rPr>
              <a:t>FromMinutes</a:t>
            </a: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(1)</a:t>
            </a:r>
            <a:r>
              <a:rPr lang="en-GB" sz="1600" smtClean="0">
                <a:solidFill>
                  <a:srgbClr val="008000"/>
                </a:solidFill>
                <a:latin typeface="Cascadia Mono" panose="020B0609020000020004" pitchFamily="49" charset="0"/>
              </a:rPr>
              <a:t>//</a:t>
            </a:r>
            <a:r>
              <a:rPr lang="en-US" sz="1600" smtClean="0">
                <a:solidFill>
                  <a:srgbClr val="008000"/>
                </a:solidFill>
                <a:latin typeface="Cascadia Mono" panose="020B0609020000020004" pitchFamily="49" charset="0"/>
              </a:rPr>
              <a:t>Limit </a:t>
            </a:r>
            <a:r>
              <a:rPr lang="en-US" sz="1600">
                <a:solidFill>
                  <a:srgbClr val="008000"/>
                </a:solidFill>
                <a:latin typeface="Cascadia Mono" panose="020B0609020000020004" pitchFamily="49" charset="0"/>
              </a:rPr>
              <a:t>number of requests in </a:t>
            </a:r>
            <a:r>
              <a:rPr lang="en-US" sz="1600" smtClean="0">
                <a:solidFill>
                  <a:srgbClr val="008000"/>
                </a:solidFill>
                <a:latin typeface="Cascadia Mono" panose="020B0609020000020004" pitchFamily="49" charset="0"/>
              </a:rPr>
              <a:t>queue</a:t>
            </a:r>
            <a:endParaRPr lang="en-GB" sz="160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>
              <a:spcBef>
                <a:spcPts val="110"/>
              </a:spcBef>
            </a:pP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}));</a:t>
            </a:r>
          </a:p>
          <a:p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});</a:t>
            </a:r>
            <a:endParaRPr lang="en-GB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10" name="Text Placeholder 5"/>
          <p:cNvSpPr txBox="1">
            <a:spLocks/>
          </p:cNvSpPr>
          <p:nvPr/>
        </p:nvSpPr>
        <p:spPr>
          <a:xfrm>
            <a:off x="9350476" y="609600"/>
            <a:ext cx="2723537" cy="3886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1200"/>
              </a:spcBef>
            </a:pPr>
            <a:r>
              <a:rPr lang="en-US" sz="2400" smtClean="0">
                <a:solidFill>
                  <a:srgbClr val="C00000"/>
                </a:solidFill>
                <a:sym typeface="Wingdings" panose="05000000000000000000" pitchFamily="2" charset="2"/>
              </a:rPr>
              <a:t>in Program.cs</a:t>
            </a:r>
            <a:endParaRPr lang="en-US" sz="2400">
              <a:solidFill>
                <a:srgbClr val="C00000"/>
              </a:solidFill>
              <a:sym typeface="Wingdings" panose="05000000000000000000" pitchFamily="2" charset="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33717" y="6488668"/>
            <a:ext cx="28777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>
                <a:solidFill>
                  <a:srgbClr val="008000"/>
                </a:solidFill>
                <a:latin typeface="Cascadia Mono" panose="020B0609020000020004" pitchFamily="49" charset="0"/>
              </a:rPr>
              <a:t>//Enable </a:t>
            </a:r>
            <a:r>
              <a:rPr lang="en-GB" b="1" smtClean="0">
                <a:solidFill>
                  <a:srgbClr val="008000"/>
                </a:solidFill>
                <a:latin typeface="Cascadia Mono" panose="020B0609020000020004" pitchFamily="49" charset="0"/>
              </a:rPr>
              <a:t>Application</a:t>
            </a:r>
            <a:endParaRPr lang="en-GB" b="1"/>
          </a:p>
        </p:txBody>
      </p:sp>
    </p:spTree>
    <p:extLst>
      <p:ext uri="{BB962C8B-B14F-4D97-AF65-F5344CB8AC3E}">
        <p14:creationId xmlns:p14="http://schemas.microsoft.com/office/powerpoint/2010/main" val="1259172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2.4. </a:t>
            </a:r>
            <a:r>
              <a:rPr lang="en-US"/>
              <a:t>Rate Limiting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797165" y="1046907"/>
            <a:ext cx="10726241" cy="499993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400" b="1">
                <a:solidFill>
                  <a:schemeClr val="tx1"/>
                </a:solidFill>
                <a:sym typeface="Wingdings" panose="05000000000000000000" pitchFamily="2" charset="2"/>
              </a:rPr>
              <a:t>Key features of AspNetCoreRateLimit:</a:t>
            </a:r>
          </a:p>
          <a:p>
            <a:pPr marL="511175" indent="-342900">
              <a:lnSpc>
                <a:spcPct val="100000"/>
              </a:lnSpc>
              <a:spcBef>
                <a:spcPts val="1800"/>
              </a:spcBef>
              <a:buFont typeface="Wingdings" panose="05000000000000000000" pitchFamily="2" charset="2"/>
              <a:buChar char="ü"/>
            </a:pPr>
            <a:r>
              <a:rPr lang="en-US" sz="2600">
                <a:solidFill>
                  <a:srgbClr val="C00000"/>
                </a:solidFill>
                <a:sym typeface="Wingdings" panose="05000000000000000000" pitchFamily="2" charset="2"/>
              </a:rPr>
              <a:t>IP-based rate limiting: </a:t>
            </a:r>
            <a:r>
              <a:rPr lang="en-US" sz="2600">
                <a:solidFill>
                  <a:schemeClr val="tx1"/>
                </a:solidFill>
                <a:sym typeface="Wingdings" panose="05000000000000000000" pitchFamily="2" charset="2"/>
              </a:rPr>
              <a:t>Restrict requests based on the client’s IP address.</a:t>
            </a:r>
          </a:p>
          <a:p>
            <a:pPr marL="511175" indent="-342900">
              <a:lnSpc>
                <a:spcPct val="100000"/>
              </a:lnSpc>
              <a:spcBef>
                <a:spcPts val="1800"/>
              </a:spcBef>
              <a:buFont typeface="Wingdings" panose="05000000000000000000" pitchFamily="2" charset="2"/>
              <a:buChar char="ü"/>
            </a:pPr>
            <a:r>
              <a:rPr lang="en-US" sz="2600">
                <a:solidFill>
                  <a:srgbClr val="C00000"/>
                </a:solidFill>
                <a:sym typeface="Wingdings" panose="05000000000000000000" pitchFamily="2" charset="2"/>
              </a:rPr>
              <a:t>Client-based rate limiting: </a:t>
            </a:r>
            <a:r>
              <a:rPr lang="en-US" sz="2600">
                <a:solidFill>
                  <a:schemeClr val="tx1"/>
                </a:solidFill>
                <a:sym typeface="Wingdings" panose="05000000000000000000" pitchFamily="2" charset="2"/>
              </a:rPr>
              <a:t>Apply rate limits based on client identifiers (e.g., API keys).</a:t>
            </a:r>
          </a:p>
          <a:p>
            <a:pPr marL="511175" indent="-342900">
              <a:lnSpc>
                <a:spcPct val="100000"/>
              </a:lnSpc>
              <a:spcBef>
                <a:spcPts val="1800"/>
              </a:spcBef>
              <a:buFont typeface="Wingdings" panose="05000000000000000000" pitchFamily="2" charset="2"/>
              <a:buChar char="ü"/>
            </a:pPr>
            <a:r>
              <a:rPr lang="en-US" sz="2600">
                <a:solidFill>
                  <a:srgbClr val="C00000"/>
                </a:solidFill>
                <a:sym typeface="Wingdings" panose="05000000000000000000" pitchFamily="2" charset="2"/>
              </a:rPr>
              <a:t>Flexible configuration: </a:t>
            </a:r>
            <a:r>
              <a:rPr lang="en-US" sz="2600">
                <a:solidFill>
                  <a:schemeClr val="tx1"/>
                </a:solidFill>
                <a:sym typeface="Wingdings" panose="05000000000000000000" pitchFamily="2" charset="2"/>
              </a:rPr>
              <a:t>You can define global, client-specific, or endpoint-specific rate limits.</a:t>
            </a:r>
          </a:p>
          <a:p>
            <a:pPr marL="511175" indent="-342900">
              <a:lnSpc>
                <a:spcPct val="100000"/>
              </a:lnSpc>
              <a:spcBef>
                <a:spcPts val="1800"/>
              </a:spcBef>
              <a:buFont typeface="Wingdings" panose="05000000000000000000" pitchFamily="2" charset="2"/>
              <a:buChar char="ü"/>
            </a:pPr>
            <a:r>
              <a:rPr lang="en-US" sz="2600">
                <a:solidFill>
                  <a:srgbClr val="C00000"/>
                </a:solidFill>
                <a:sym typeface="Wingdings" panose="05000000000000000000" pitchFamily="2" charset="2"/>
              </a:rPr>
              <a:t>Support for distributed caches: </a:t>
            </a:r>
            <a:r>
              <a:rPr lang="en-US" sz="2600">
                <a:solidFill>
                  <a:schemeClr val="tx1"/>
                </a:solidFill>
                <a:sym typeface="Wingdings" panose="05000000000000000000" pitchFamily="2" charset="2"/>
              </a:rPr>
              <a:t>The library supports Redis, SQL Server, and other distributed caches for rate-limiting data storage.</a:t>
            </a:r>
          </a:p>
          <a:p>
            <a:pPr marL="511175" indent="-342900">
              <a:lnSpc>
                <a:spcPct val="100000"/>
              </a:lnSpc>
              <a:spcBef>
                <a:spcPts val="1800"/>
              </a:spcBef>
              <a:buFont typeface="Wingdings" panose="05000000000000000000" pitchFamily="2" charset="2"/>
              <a:buChar char="ü"/>
            </a:pPr>
            <a:r>
              <a:rPr lang="en-US" sz="2600">
                <a:solidFill>
                  <a:srgbClr val="C00000"/>
                </a:solidFill>
                <a:sym typeface="Wingdings" panose="05000000000000000000" pitchFamily="2" charset="2"/>
              </a:rPr>
              <a:t>Ease of integration: </a:t>
            </a:r>
            <a:r>
              <a:rPr lang="en-US" sz="2600">
                <a:solidFill>
                  <a:schemeClr val="tx1"/>
                </a:solidFill>
                <a:sym typeface="Wingdings" panose="05000000000000000000" pitchFamily="2" charset="2"/>
              </a:rPr>
              <a:t>It integrates easily with the middleware </a:t>
            </a:r>
            <a:r>
              <a:rPr lang="en-US" sz="2600" smtClean="0">
                <a:solidFill>
                  <a:schemeClr val="tx1"/>
                </a:solidFill>
                <a:sym typeface="Wingdings" panose="05000000000000000000" pitchFamily="2" charset="2"/>
              </a:rPr>
              <a:t>pipeline.</a:t>
            </a:r>
            <a:endParaRPr lang="en-US" sz="260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674530" y="147172"/>
            <a:ext cx="53776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4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Way 2. </a:t>
            </a:r>
            <a:r>
              <a:rPr lang="en-US" sz="2400" smtClean="0">
                <a:solidFill>
                  <a:srgbClr val="0000FF"/>
                </a:solidFill>
                <a:sym typeface="Wingdings" panose="05000000000000000000" pitchFamily="2" charset="2"/>
              </a:rPr>
              <a:t>using</a:t>
            </a:r>
            <a:r>
              <a:rPr lang="en-US" sz="2400" smtClean="0">
                <a:sym typeface="Wingdings" panose="05000000000000000000" pitchFamily="2" charset="2"/>
              </a:rPr>
              <a:t> AspNetCoreRateLimit</a:t>
            </a:r>
            <a:endParaRPr lang="en-US" sz="2400">
              <a:solidFill>
                <a:srgbClr val="C00000"/>
              </a:solidFill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220674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3763875" y="1350934"/>
            <a:ext cx="5311298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375" y="235090"/>
            <a:ext cx="481961" cy="111221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FD2705F-8A3F-43FB-B599-CD432A022700}"/>
              </a:ext>
            </a:extLst>
          </p:cNvPr>
          <p:cNvSpPr txBox="1"/>
          <p:nvPr/>
        </p:nvSpPr>
        <p:spPr>
          <a:xfrm>
            <a:off x="3667432" y="680948"/>
            <a:ext cx="62238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smtClean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API </a:t>
            </a:r>
            <a:r>
              <a:rPr lang="en-US" sz="4000" b="1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Security Solutions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7DE2944F-AE04-492A-BB15-9E9B6DBB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920AF-2440-4552-8F7A-6F88C8FE507A}" type="slidenum">
              <a:rPr lang="en-US" sz="1000" smtClean="0"/>
              <a:pPr/>
              <a:t>43</a:t>
            </a:fld>
            <a:endParaRPr lang="en-US" sz="1000"/>
          </a:p>
        </p:txBody>
      </p:sp>
      <p:grpSp>
        <p:nvGrpSpPr>
          <p:cNvPr id="13" name="Group 17">
            <a:extLst>
              <a:ext uri="{FF2B5EF4-FFF2-40B4-BE49-F238E27FC236}">
                <a16:creationId xmlns:a16="http://schemas.microsoft.com/office/drawing/2014/main" id="{6080DA0D-484A-4C70-BB3A-D9040DBEAE59}"/>
              </a:ext>
            </a:extLst>
          </p:cNvPr>
          <p:cNvGrpSpPr>
            <a:grpSpLocks/>
          </p:cNvGrpSpPr>
          <p:nvPr/>
        </p:nvGrpSpPr>
        <p:grpSpPr bwMode="auto">
          <a:xfrm>
            <a:off x="536842" y="5690550"/>
            <a:ext cx="883826" cy="883301"/>
            <a:chOff x="2562" y="439"/>
            <a:chExt cx="1684" cy="1683"/>
          </a:xfrm>
        </p:grpSpPr>
        <p:sp>
          <p:nvSpPr>
            <p:cNvPr id="14" name="Oval 5">
              <a:extLst>
                <a:ext uri="{FF2B5EF4-FFF2-40B4-BE49-F238E27FC236}">
                  <a16:creationId xmlns:a16="http://schemas.microsoft.com/office/drawing/2014/main" id="{E4139574-C4EA-4556-ACDA-A76931EBDCA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562" y="439"/>
              <a:ext cx="1684" cy="1683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" name="Oval 6">
              <a:extLst>
                <a:ext uri="{FF2B5EF4-FFF2-40B4-BE49-F238E27FC236}">
                  <a16:creationId xmlns:a16="http://schemas.microsoft.com/office/drawing/2014/main" id="{0F894546-4EC9-47C0-B71E-69BF9C0F13C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673" y="548"/>
              <a:ext cx="1461" cy="1463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54118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" name="Oval 7">
              <a:extLst>
                <a:ext uri="{FF2B5EF4-FFF2-40B4-BE49-F238E27FC236}">
                  <a16:creationId xmlns:a16="http://schemas.microsoft.com/office/drawing/2014/main" id="{7F8A18EB-028B-4904-82AC-271110A4EA8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685" y="536"/>
              <a:ext cx="1461" cy="146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63529"/>
                    <a:invGamma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3" name="Oval 8">
              <a:extLst>
                <a:ext uri="{FF2B5EF4-FFF2-40B4-BE49-F238E27FC236}">
                  <a16:creationId xmlns:a16="http://schemas.microsoft.com/office/drawing/2014/main" id="{75655967-7598-41D4-AD1E-3A8317F57AB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45" y="622"/>
              <a:ext cx="1317" cy="131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6" name="Oval 9">
              <a:extLst>
                <a:ext uri="{FF2B5EF4-FFF2-40B4-BE49-F238E27FC236}">
                  <a16:creationId xmlns:a16="http://schemas.microsoft.com/office/drawing/2014/main" id="{65267B8C-8F7A-483A-951E-B580A472232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66" y="643"/>
              <a:ext cx="1276" cy="1277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46275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7" name="Oval 10">
              <a:extLst>
                <a:ext uri="{FF2B5EF4-FFF2-40B4-BE49-F238E27FC236}">
                  <a16:creationId xmlns:a16="http://schemas.microsoft.com/office/drawing/2014/main" id="{A9AA3EC5-79DC-4B8D-AB98-769BCA68198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82" y="650"/>
              <a:ext cx="1246" cy="1246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D6E1E2">
                    <a:gamma/>
                    <a:tint val="34902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8" name="Oval 11">
              <a:extLst>
                <a:ext uri="{FF2B5EF4-FFF2-40B4-BE49-F238E27FC236}">
                  <a16:creationId xmlns:a16="http://schemas.microsoft.com/office/drawing/2014/main" id="{706F5677-482E-4BA0-962F-377CD39AFA7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96" y="662"/>
              <a:ext cx="1184" cy="1164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79216"/>
                    <a:invGamma/>
                  </a:srgbClr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9" name="Oval 12">
              <a:extLst>
                <a:ext uri="{FF2B5EF4-FFF2-40B4-BE49-F238E27FC236}">
                  <a16:creationId xmlns:a16="http://schemas.microsoft.com/office/drawing/2014/main" id="{252F8531-A078-4482-B2EE-FB90AD06E56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865" y="695"/>
              <a:ext cx="1053" cy="945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>
                    <a:alpha val="38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pic>
          <p:nvPicPr>
            <p:cNvPr id="30" name="Picture 13" descr="mark">
              <a:extLst>
                <a:ext uri="{FF2B5EF4-FFF2-40B4-BE49-F238E27FC236}">
                  <a16:creationId xmlns:a16="http://schemas.microsoft.com/office/drawing/2014/main" id="{EFA5FDD7-8288-46D9-A2A0-D844DBC1A7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4" y="793"/>
              <a:ext cx="1011" cy="1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F0C5823A-D2D1-41BC-9597-EDE8E6B8977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7168" y="5829096"/>
            <a:ext cx="578605" cy="674546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286910" y="1517960"/>
            <a:ext cx="7511799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smtClean="0"/>
              <a:t>2.1. </a:t>
            </a:r>
            <a:r>
              <a:rPr lang="en-US" sz="2600"/>
              <a:t>Input Validation and </a:t>
            </a:r>
            <a:r>
              <a:rPr lang="en-US" sz="2600" smtClean="0"/>
              <a:t>CORS </a:t>
            </a:r>
            <a:r>
              <a:rPr lang="en-US" sz="2000" smtClean="0"/>
              <a:t>(</a:t>
            </a:r>
            <a:r>
              <a:rPr lang="en-US" sz="2000"/>
              <a:t>Cross-Origin Requests</a:t>
            </a:r>
            <a:r>
              <a:rPr lang="en-US" sz="2000" smtClean="0"/>
              <a:t>)</a:t>
            </a:r>
            <a:r>
              <a:rPr lang="en-US" sz="2600"/>
              <a:t/>
            </a:r>
            <a:br>
              <a:rPr lang="en-US" sz="2600"/>
            </a:br>
            <a:r>
              <a:rPr lang="en-US" sz="2600" smtClean="0"/>
              <a:t>2.2. </a:t>
            </a:r>
            <a:r>
              <a:rPr lang="en-US" sz="2600"/>
              <a:t>Data </a:t>
            </a:r>
            <a:r>
              <a:rPr lang="en-US" sz="2600" smtClean="0"/>
              <a:t>Encryption</a:t>
            </a:r>
            <a:r>
              <a:rPr lang="en-US" sz="2600">
                <a:solidFill>
                  <a:srgbClr val="C00000"/>
                </a:solidFill>
              </a:rPr>
              <a:t/>
            </a:r>
            <a:br>
              <a:rPr lang="en-US" sz="2600">
                <a:solidFill>
                  <a:srgbClr val="C00000"/>
                </a:solidFill>
              </a:rPr>
            </a:br>
            <a:r>
              <a:rPr lang="en-US" sz="2600" smtClean="0"/>
              <a:t>2.3. </a:t>
            </a:r>
            <a:r>
              <a:rPr lang="en-US" sz="2600"/>
              <a:t>Authentication and Authorization</a:t>
            </a:r>
            <a:br>
              <a:rPr lang="en-US" sz="2600"/>
            </a:br>
            <a:r>
              <a:rPr lang="en-US" sz="2600" smtClean="0"/>
              <a:t>2.4. </a:t>
            </a:r>
            <a:r>
              <a:rPr lang="en-US" sz="2600"/>
              <a:t>Rate </a:t>
            </a:r>
            <a:r>
              <a:rPr lang="en-US" sz="2600" smtClean="0"/>
              <a:t>Limiting</a:t>
            </a:r>
          </a:p>
          <a:p>
            <a:pPr>
              <a:lnSpc>
                <a:spcPct val="150000"/>
              </a:lnSpc>
            </a:pPr>
            <a:r>
              <a:rPr lang="en-US" sz="2600" smtClean="0">
                <a:solidFill>
                  <a:srgbClr val="C00000"/>
                </a:solidFill>
              </a:rPr>
              <a:t>2.5. Prevent XSS </a:t>
            </a:r>
            <a:r>
              <a:rPr lang="en-US" sz="2600">
                <a:solidFill>
                  <a:srgbClr val="C00000"/>
                </a:solidFill>
              </a:rPr>
              <a:t>(Cross-Site Scripting</a:t>
            </a:r>
            <a:r>
              <a:rPr lang="en-US" sz="2600" smtClean="0">
                <a:solidFill>
                  <a:srgbClr val="C00000"/>
                </a:solidFill>
              </a:rPr>
              <a:t>)</a:t>
            </a:r>
            <a:endParaRPr lang="en-US" sz="260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600">
                <a:solidFill>
                  <a:schemeClr val="tx1">
                    <a:lumMod val="75000"/>
                    <a:lumOff val="25000"/>
                  </a:schemeClr>
                </a:solidFill>
              </a:rPr>
              <a:t>2.6. </a:t>
            </a:r>
            <a:r>
              <a:rPr lang="en-US" sz="260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Prevent CSRF </a:t>
            </a:r>
            <a:r>
              <a:rPr lang="en-US" sz="2600">
                <a:solidFill>
                  <a:schemeClr val="tx1">
                    <a:lumMod val="75000"/>
                    <a:lumOff val="25000"/>
                  </a:schemeClr>
                </a:solidFill>
              </a:rPr>
              <a:t>(Cross-Site Request Forgery</a:t>
            </a:r>
            <a:r>
              <a:rPr lang="en-US" sz="260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r>
              <a:rPr lang="en-US" sz="260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60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60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2.7. </a:t>
            </a:r>
            <a:r>
              <a:rPr lang="en-US" sz="2600">
                <a:solidFill>
                  <a:schemeClr val="tx1">
                    <a:lumMod val="75000"/>
                    <a:lumOff val="25000"/>
                  </a:schemeClr>
                </a:solidFill>
              </a:rPr>
              <a:t>Using an API Firewall (API Gateway)</a:t>
            </a:r>
            <a:br>
              <a:rPr lang="en-US" sz="260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0817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 xmlns:a14="http://schemas.microsoft.com/office/drawing/2010/main" xmlns:a16="http://schemas.microsoft.com/office/drawing/2014/main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2.5.1. XSS </a:t>
            </a:r>
            <a:r>
              <a:rPr lang="en-US"/>
              <a:t>(Cross-Site Scripting)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91" y="1007867"/>
            <a:ext cx="11149779" cy="4753836"/>
          </a:xfrm>
        </p:spPr>
        <p:txBody>
          <a:bodyPr/>
          <a:lstStyle/>
          <a:p>
            <a:pPr marL="457200" indent="-457200" algn="just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/>
              <a:t>XSS </a:t>
            </a:r>
            <a:r>
              <a:rPr lang="en-US" smtClean="0"/>
              <a:t>is </a:t>
            </a:r>
            <a:r>
              <a:rPr lang="en-US"/>
              <a:t>a type of security attack where attackers inject malicious code (</a:t>
            </a:r>
            <a:r>
              <a:rPr lang="en-US">
                <a:solidFill>
                  <a:srgbClr val="C00000"/>
                </a:solidFill>
              </a:rPr>
              <a:t>usually JavaScript</a:t>
            </a:r>
            <a:r>
              <a:rPr lang="en-US"/>
              <a:t>) into a website. </a:t>
            </a:r>
            <a:r>
              <a:rPr lang="en-US" sz="2400" i="1" smtClean="0">
                <a:solidFill>
                  <a:srgbClr val="0099CC"/>
                </a:solidFill>
              </a:rPr>
              <a:t>Example</a:t>
            </a:r>
            <a:r>
              <a:rPr lang="en-US" sz="2400" smtClean="0">
                <a:solidFill>
                  <a:srgbClr val="0099CC"/>
                </a:solidFill>
              </a:rPr>
              <a:t>:</a:t>
            </a:r>
            <a:r>
              <a:rPr lang="en-US" sz="2400" smtClean="0"/>
              <a:t> 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400" smtClean="0"/>
              <a:t>&lt;</a:t>
            </a:r>
            <a:r>
              <a:rPr lang="en-US" sz="2400">
                <a:solidFill>
                  <a:srgbClr val="0000FF"/>
                </a:solidFill>
              </a:rPr>
              <a:t>input</a:t>
            </a:r>
            <a:r>
              <a:rPr lang="en-US" sz="2400"/>
              <a:t> </a:t>
            </a:r>
            <a:r>
              <a:rPr lang="en-US" sz="2400">
                <a:solidFill>
                  <a:srgbClr val="C00000"/>
                </a:solidFill>
              </a:rPr>
              <a:t>type</a:t>
            </a:r>
            <a:r>
              <a:rPr lang="en-US" sz="2400"/>
              <a:t>="text" </a:t>
            </a:r>
            <a:r>
              <a:rPr lang="en-US" sz="2400">
                <a:solidFill>
                  <a:srgbClr val="C00000"/>
                </a:solidFill>
              </a:rPr>
              <a:t>value</a:t>
            </a:r>
            <a:r>
              <a:rPr lang="en-US" sz="2400"/>
              <a:t>="</a:t>
            </a:r>
            <a:r>
              <a:rPr lang="en-US" sz="2400">
                <a:solidFill>
                  <a:srgbClr val="C00000"/>
                </a:solidFill>
              </a:rPr>
              <a:t>&lt;script&gt; </a:t>
            </a:r>
            <a:r>
              <a:rPr lang="en-US" sz="2400">
                <a:solidFill>
                  <a:srgbClr val="0000FF"/>
                </a:solidFill>
              </a:rPr>
              <a:t>Script contains malicious code </a:t>
            </a:r>
            <a:r>
              <a:rPr lang="en-US" sz="2400">
                <a:solidFill>
                  <a:srgbClr val="C00000"/>
                </a:solidFill>
              </a:rPr>
              <a:t>&lt;/script&gt;</a:t>
            </a:r>
            <a:r>
              <a:rPr lang="en-US" sz="2400"/>
              <a:t>" </a:t>
            </a:r>
            <a:r>
              <a:rPr lang="en-US" sz="2400" smtClean="0"/>
              <a:t>/&gt;</a:t>
            </a:r>
          </a:p>
          <a:p>
            <a:pPr marL="457200" indent="-457200" algn="just">
              <a:lnSpc>
                <a:spcPct val="100000"/>
              </a:lnSpc>
              <a:spcBef>
                <a:spcPts val="2400"/>
              </a:spcBef>
              <a:buFont typeface="Wingdings" panose="05000000000000000000" pitchFamily="2" charset="2"/>
              <a:buChar char="ü"/>
            </a:pPr>
            <a:r>
              <a:rPr lang="en-US" smtClean="0"/>
              <a:t>When </a:t>
            </a:r>
            <a:r>
              <a:rPr lang="en-US"/>
              <a:t>another user accesses the site, the malicious code executes in their browser, potentially leading to account hijacking, data theft, or unauthorized actions.</a:t>
            </a:r>
          </a:p>
          <a:p>
            <a:pPr marL="457200" indent="-457200" algn="just">
              <a:lnSpc>
                <a:spcPct val="100000"/>
              </a:lnSpc>
              <a:spcBef>
                <a:spcPts val="2400"/>
              </a:spcBef>
              <a:buFont typeface="Wingdings" panose="05000000000000000000" pitchFamily="2" charset="2"/>
              <a:buChar char="ü"/>
            </a:pPr>
            <a:r>
              <a:rPr lang="en-US"/>
              <a:t>XSS occurs when a web application improperly input data, allowing attackers to embed harmful code into the website content accessed by user.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127819" y="6270973"/>
            <a:ext cx="91636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>
                <a:hlinkClick r:id="rId3"/>
              </a:rPr>
              <a:t>https://learn.microsoft.com/en-us/aspnet/core/security/cross-site-scripting?view=aspnetcore-8.0</a:t>
            </a:r>
            <a:endParaRPr lang="en-GB" sz="1400"/>
          </a:p>
        </p:txBody>
      </p:sp>
    </p:spTree>
    <p:extLst>
      <p:ext uri="{BB962C8B-B14F-4D97-AF65-F5344CB8AC3E}">
        <p14:creationId xmlns:p14="http://schemas.microsoft.com/office/powerpoint/2010/main" val="3892415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2.5.2 </a:t>
            </a:r>
            <a:r>
              <a:rPr lang="en-US"/>
              <a:t>How to Prevent XSS </a:t>
            </a:r>
            <a:r>
              <a:rPr lang="en-US" smtClean="0"/>
              <a:t>Attack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7589" y="731495"/>
            <a:ext cx="10660508" cy="5767628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2400">
                <a:solidFill>
                  <a:schemeClr val="tx1">
                    <a:lumMod val="95000"/>
                    <a:lumOff val="5000"/>
                  </a:schemeClr>
                </a:solidFill>
              </a:rPr>
              <a:t>Access Control or Authorization, Be careful when clicking strange links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2400" smtClean="0">
                <a:solidFill>
                  <a:srgbClr val="C00000"/>
                </a:solidFill>
              </a:rPr>
              <a:t>Input Validation: </a:t>
            </a:r>
            <a:r>
              <a:rPr lang="en-US" sz="2400" smtClean="0"/>
              <a:t>Always validate and sanitize all user inputs. This includes data from forms, URLs, or any source where users can enter data.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2400" smtClean="0">
                <a:solidFill>
                  <a:srgbClr val="C00000"/>
                </a:solidFill>
              </a:rPr>
              <a:t>Use </a:t>
            </a:r>
            <a:r>
              <a:rPr lang="en-US" sz="2400">
                <a:solidFill>
                  <a:srgbClr val="C00000"/>
                </a:solidFill>
              </a:rPr>
              <a:t>Security Libraries and Tools:</a:t>
            </a:r>
            <a:r>
              <a:rPr lang="en-US" sz="2400"/>
              <a:t> Use security libraries like </a:t>
            </a:r>
            <a:r>
              <a:rPr lang="en-US" sz="2400">
                <a:solidFill>
                  <a:srgbClr val="0000FF"/>
                </a:solidFill>
              </a:rPr>
              <a:t>AntiXSS</a:t>
            </a:r>
            <a:r>
              <a:rPr lang="en-US" sz="2400"/>
              <a:t> </a:t>
            </a:r>
            <a:r>
              <a:rPr lang="en-US" sz="2400" smtClean="0"/>
              <a:t>of MS or </a:t>
            </a:r>
            <a:r>
              <a:rPr lang="en-US" sz="2400"/>
              <a:t>XSS filtering tools provided by frameworks to </a:t>
            </a:r>
            <a:r>
              <a:rPr lang="en-US" sz="2400" smtClean="0"/>
              <a:t>sanitize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2400">
                <a:solidFill>
                  <a:srgbClr val="C00000"/>
                </a:solidFill>
              </a:rPr>
              <a:t>Avoid embedding</a:t>
            </a:r>
            <a:r>
              <a:rPr lang="en-US" sz="2400"/>
              <a:t> user data directly </a:t>
            </a:r>
            <a:r>
              <a:rPr lang="en-US" sz="2400" smtClean="0"/>
              <a:t>in HTML, especially inside &lt;</a:t>
            </a:r>
            <a:r>
              <a:rPr lang="en-US" sz="2400"/>
              <a:t>script&gt; or &lt;style&gt; tags. Use JavaScript to handle user data safely</a:t>
            </a:r>
            <a:r>
              <a:rPr lang="en-US" sz="2400" smtClean="0"/>
              <a:t>.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2400" smtClean="0"/>
              <a:t>Write </a:t>
            </a:r>
            <a:r>
              <a:rPr lang="en-US" sz="24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Middleware</a:t>
            </a:r>
            <a:r>
              <a:rPr lang="en-US" sz="2400"/>
              <a:t> code to prevent XSS attacks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8594" y="4336028"/>
            <a:ext cx="8756909" cy="223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337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Example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5043" y="671860"/>
            <a:ext cx="11807687" cy="5997296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200" b="1">
                <a:solidFill>
                  <a:srgbClr val="0000FF"/>
                </a:solidFill>
              </a:rPr>
              <a:t>Input Validation and Encoding</a:t>
            </a:r>
            <a:endParaRPr lang="en-US" sz="2200" b="1" smtClean="0">
              <a:solidFill>
                <a:srgbClr val="0000FF"/>
              </a:solidFill>
            </a:endParaRPr>
          </a:p>
          <a:p>
            <a:pPr marL="625475" indent="-277813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2200" smtClean="0"/>
              <a:t>HTML </a:t>
            </a:r>
            <a:r>
              <a:rPr lang="en-US" sz="2200"/>
              <a:t>input </a:t>
            </a:r>
            <a:r>
              <a:rPr lang="en-US" sz="2200" smtClean="0"/>
              <a:t>encoding: Convert </a:t>
            </a:r>
            <a:r>
              <a:rPr lang="en-US" sz="2200"/>
              <a:t>&lt;script&gt; thành </a:t>
            </a:r>
            <a:r>
              <a:rPr lang="en-US" sz="2200">
                <a:solidFill>
                  <a:srgbClr val="990000"/>
                </a:solidFill>
              </a:rPr>
              <a:t>&amp;lt;</a:t>
            </a:r>
            <a:r>
              <a:rPr lang="en-US" sz="2200"/>
              <a:t>script</a:t>
            </a:r>
            <a:r>
              <a:rPr lang="en-US" sz="2200">
                <a:solidFill>
                  <a:srgbClr val="990000"/>
                </a:solidFill>
              </a:rPr>
              <a:t>&amp;gt;</a:t>
            </a:r>
            <a:r>
              <a:rPr lang="en-US" sz="2200"/>
              <a:t> </a:t>
            </a:r>
            <a:r>
              <a:rPr lang="en-US" sz="2200" smtClean="0"/>
              <a:t>to intercept excute script code (</a:t>
            </a:r>
            <a:r>
              <a:rPr lang="en-US" sz="2200"/>
              <a:t>If if necessary</a:t>
            </a:r>
            <a:r>
              <a:rPr lang="en-US" sz="2200" smtClean="0"/>
              <a:t>)</a:t>
            </a:r>
          </a:p>
          <a:p>
            <a:pPr marL="625475" indent="-277813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2200"/>
              <a:t>HTML encoding in Razor </a:t>
            </a:r>
            <a:r>
              <a:rPr lang="en-US" sz="2200" smtClean="0"/>
              <a:t>view, Ex: </a:t>
            </a:r>
            <a:r>
              <a:rPr lang="en-GB" sz="2200" smtClean="0"/>
              <a:t>@</a:t>
            </a:r>
            <a:r>
              <a:rPr lang="en-GB" sz="2200">
                <a:solidFill>
                  <a:srgbClr val="990000"/>
                </a:solidFill>
              </a:rPr>
              <a:t>Html</a:t>
            </a:r>
            <a:r>
              <a:rPr lang="en-GB" sz="2200"/>
              <a:t>.</a:t>
            </a:r>
            <a:r>
              <a:rPr lang="en-GB" sz="2200">
                <a:solidFill>
                  <a:srgbClr val="0099CC"/>
                </a:solidFill>
              </a:rPr>
              <a:t>Encode</a:t>
            </a:r>
            <a:r>
              <a:rPr lang="en-GB" sz="2200"/>
              <a:t>(userInput)</a:t>
            </a: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v"/>
            </a:pPr>
            <a:r>
              <a:rPr lang="en-US" sz="2200" b="1">
                <a:solidFill>
                  <a:srgbClr val="0000FF"/>
                </a:solidFill>
              </a:rPr>
              <a:t>Check and clean output </a:t>
            </a:r>
            <a:r>
              <a:rPr lang="en-US" sz="2200" b="1" smtClean="0">
                <a:solidFill>
                  <a:srgbClr val="0000FF"/>
                </a:solidFill>
              </a:rPr>
              <a:t>data</a:t>
            </a:r>
            <a:endParaRPr lang="en-US" sz="2200" b="1">
              <a:solidFill>
                <a:srgbClr val="0000FF"/>
              </a:solidFill>
            </a:endParaRPr>
          </a:p>
          <a:p>
            <a:pPr marL="625475" indent="-22860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2200" smtClean="0"/>
              <a:t>Using @</a:t>
            </a:r>
            <a:r>
              <a:rPr lang="en-US" sz="2200"/>
              <a:t>Html.Raw(Model.UserComment) </a:t>
            </a:r>
            <a:r>
              <a:rPr lang="en-US" sz="2200">
                <a:solidFill>
                  <a:srgbClr val="0000FF"/>
                </a:solidFill>
              </a:rPr>
              <a:t>ensures clean </a:t>
            </a:r>
            <a:r>
              <a:rPr lang="en-US" sz="2200" smtClean="0">
                <a:solidFill>
                  <a:srgbClr val="0000FF"/>
                </a:solidFill>
              </a:rPr>
              <a:t>data</a:t>
            </a: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v"/>
            </a:pPr>
            <a:r>
              <a:rPr lang="en-US" sz="2200" b="1" smtClean="0">
                <a:solidFill>
                  <a:srgbClr val="0000FF"/>
                </a:solidFill>
              </a:rPr>
              <a:t>Configure Content </a:t>
            </a:r>
            <a:r>
              <a:rPr lang="en-US" sz="2200" b="1">
                <a:solidFill>
                  <a:srgbClr val="0000FF"/>
                </a:solidFill>
              </a:rPr>
              <a:t>Security Policy (</a:t>
            </a:r>
            <a:r>
              <a:rPr lang="en-US" sz="2200" b="1" smtClean="0">
                <a:solidFill>
                  <a:srgbClr val="0000FF"/>
                </a:solidFill>
              </a:rPr>
              <a:t>CSP)</a:t>
            </a:r>
          </a:p>
          <a:p>
            <a:pPr marL="288925">
              <a:lnSpc>
                <a:spcPct val="100000"/>
              </a:lnSpc>
            </a:pPr>
            <a:r>
              <a:rPr lang="en-US" sz="2200">
                <a:solidFill>
                  <a:srgbClr val="008000"/>
                </a:solidFill>
              </a:rPr>
              <a:t>// only javascripts belonging to the domain are executed.</a:t>
            </a:r>
          </a:p>
          <a:p>
            <a:pPr marL="288925">
              <a:lnSpc>
                <a:spcPct val="100000"/>
              </a:lnSpc>
            </a:pPr>
            <a:r>
              <a:rPr lang="en-US" sz="2200" smtClean="0"/>
              <a:t>app.</a:t>
            </a:r>
            <a:r>
              <a:rPr lang="en-US" sz="2200" smtClean="0">
                <a:solidFill>
                  <a:srgbClr val="990000"/>
                </a:solidFill>
              </a:rPr>
              <a:t>Use</a:t>
            </a:r>
            <a:r>
              <a:rPr lang="en-US" sz="2200" smtClean="0"/>
              <a:t>(</a:t>
            </a:r>
            <a:r>
              <a:rPr lang="en-US" sz="2200" smtClean="0">
                <a:solidFill>
                  <a:srgbClr val="0000FF"/>
                </a:solidFill>
              </a:rPr>
              <a:t>async</a:t>
            </a:r>
            <a:r>
              <a:rPr lang="en-US" sz="2200" smtClean="0"/>
              <a:t> </a:t>
            </a:r>
            <a:r>
              <a:rPr lang="en-US" sz="2200"/>
              <a:t>(context, next) =&gt;</a:t>
            </a:r>
          </a:p>
          <a:p>
            <a:pPr marL="288925">
              <a:lnSpc>
                <a:spcPct val="100000"/>
              </a:lnSpc>
              <a:spcBef>
                <a:spcPts val="0"/>
              </a:spcBef>
            </a:pPr>
            <a:r>
              <a:rPr lang="en-US" sz="2200"/>
              <a:t>{</a:t>
            </a:r>
          </a:p>
          <a:p>
            <a:pPr marL="288925">
              <a:lnSpc>
                <a:spcPct val="100000"/>
              </a:lnSpc>
              <a:spcBef>
                <a:spcPts val="0"/>
              </a:spcBef>
            </a:pPr>
            <a:r>
              <a:rPr lang="en-US" sz="2000"/>
              <a:t>    </a:t>
            </a:r>
            <a:r>
              <a:rPr lang="en-US" sz="2000" smtClean="0"/>
              <a:t>context.Response.Headers.</a:t>
            </a:r>
            <a:r>
              <a:rPr lang="en-US" sz="2000" smtClean="0">
                <a:solidFill>
                  <a:srgbClr val="990000"/>
                </a:solidFill>
              </a:rPr>
              <a:t>Add</a:t>
            </a:r>
            <a:r>
              <a:rPr lang="en-US" sz="2000" smtClean="0"/>
              <a:t>("</a:t>
            </a:r>
            <a:r>
              <a:rPr lang="en-US" sz="2000">
                <a:solidFill>
                  <a:srgbClr val="990000"/>
                </a:solidFill>
              </a:rPr>
              <a:t>Content-Security-Policy</a:t>
            </a:r>
            <a:r>
              <a:rPr lang="en-US" sz="2000"/>
              <a:t>", "</a:t>
            </a:r>
            <a:r>
              <a:rPr lang="en-US" sz="2000">
                <a:solidFill>
                  <a:srgbClr val="990000"/>
                </a:solidFill>
              </a:rPr>
              <a:t>default-src</a:t>
            </a:r>
            <a:r>
              <a:rPr lang="en-US" sz="2000"/>
              <a:t> </a:t>
            </a:r>
            <a:r>
              <a:rPr lang="en-US" sz="2000">
                <a:solidFill>
                  <a:srgbClr val="990000"/>
                </a:solidFill>
              </a:rPr>
              <a:t>'self'</a:t>
            </a:r>
            <a:r>
              <a:rPr lang="en-US" sz="2000"/>
              <a:t>; </a:t>
            </a:r>
            <a:r>
              <a:rPr lang="en-US" sz="2000">
                <a:solidFill>
                  <a:srgbClr val="990000"/>
                </a:solidFill>
              </a:rPr>
              <a:t>script-src</a:t>
            </a:r>
            <a:r>
              <a:rPr lang="en-US" sz="2000"/>
              <a:t> </a:t>
            </a:r>
            <a:r>
              <a:rPr lang="en-US" sz="2000">
                <a:solidFill>
                  <a:srgbClr val="990000"/>
                </a:solidFill>
              </a:rPr>
              <a:t>'self';");</a:t>
            </a:r>
          </a:p>
          <a:p>
            <a:pPr marL="288925">
              <a:lnSpc>
                <a:spcPct val="100000"/>
              </a:lnSpc>
              <a:spcBef>
                <a:spcPts val="0"/>
              </a:spcBef>
            </a:pPr>
            <a:r>
              <a:rPr lang="en-US" sz="2200"/>
              <a:t>    </a:t>
            </a:r>
            <a:r>
              <a:rPr lang="en-US" sz="2200">
                <a:solidFill>
                  <a:srgbClr val="0000FF"/>
                </a:solidFill>
              </a:rPr>
              <a:t>await</a:t>
            </a:r>
            <a:r>
              <a:rPr lang="en-US" sz="2200"/>
              <a:t> next();</a:t>
            </a:r>
          </a:p>
          <a:p>
            <a:pPr marL="288925">
              <a:lnSpc>
                <a:spcPct val="100000"/>
              </a:lnSpc>
              <a:spcBef>
                <a:spcPts val="0"/>
              </a:spcBef>
            </a:pPr>
            <a:r>
              <a:rPr lang="en-US" sz="2200"/>
              <a:t>}); </a:t>
            </a: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v"/>
            </a:pPr>
            <a:r>
              <a:rPr lang="en-US" sz="2200" b="1" smtClean="0">
                <a:solidFill>
                  <a:srgbClr val="0000FF"/>
                </a:solidFill>
              </a:rPr>
              <a:t>Use Middleware </a:t>
            </a:r>
            <a:r>
              <a:rPr lang="en-US" sz="220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(next slide)</a:t>
            </a:r>
            <a:endParaRPr lang="en-US" sz="22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8925">
              <a:lnSpc>
                <a:spcPct val="100000"/>
              </a:lnSpc>
              <a:spcBef>
                <a:spcPts val="0"/>
              </a:spcBef>
            </a:pPr>
            <a:endParaRPr lang="en-US" sz="2200" smtClean="0">
              <a:solidFill>
                <a:srgbClr val="0000FF"/>
              </a:solidFill>
            </a:endParaRPr>
          </a:p>
          <a:p>
            <a:pPr>
              <a:lnSpc>
                <a:spcPct val="100000"/>
              </a:lnSpc>
            </a:pPr>
            <a:endParaRPr lang="en-US" sz="22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9574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ASP.NET </a:t>
            </a:r>
            <a:r>
              <a:rPr lang="en-US"/>
              <a:t>Core Middleware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2760" y="1143513"/>
            <a:ext cx="11530897" cy="5054087"/>
          </a:xfrm>
        </p:spPr>
        <p:txBody>
          <a:bodyPr/>
          <a:lstStyle/>
          <a:p>
            <a:pPr marL="457200" indent="-457200" algn="just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600"/>
              <a:t>Middleware </a:t>
            </a:r>
            <a:r>
              <a:rPr lang="en-US" sz="2600" smtClean="0"/>
              <a:t>is </a:t>
            </a:r>
            <a:r>
              <a:rPr lang="en-US" sz="2600"/>
              <a:t>a software component that's inserted into the </a:t>
            </a:r>
            <a:r>
              <a:rPr lang="en-US" sz="2600">
                <a:solidFill>
                  <a:srgbClr val="C00000"/>
                </a:solidFill>
              </a:rPr>
              <a:t>application's request pipeline</a:t>
            </a:r>
            <a:r>
              <a:rPr lang="en-US" sz="2600"/>
              <a:t>. It's a mechanism that intercepts HTTP requests and responses, enabling developers to </a:t>
            </a:r>
            <a:r>
              <a:rPr lang="en-US" sz="2600" smtClean="0"/>
              <a:t>process it.</a:t>
            </a:r>
          </a:p>
          <a:p>
            <a:pPr marL="457200" indent="-457200" algn="just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600">
                <a:solidFill>
                  <a:srgbClr val="C00000"/>
                </a:solidFill>
              </a:rPr>
              <a:t>Types of middleware: </a:t>
            </a:r>
            <a:r>
              <a:rPr lang="en-US" sz="2600" smtClean="0"/>
              <a:t>authentication</a:t>
            </a:r>
            <a:r>
              <a:rPr lang="en-US" sz="2600"/>
              <a:t>, </a:t>
            </a:r>
            <a:r>
              <a:rPr lang="en-US" sz="2600" smtClean="0"/>
              <a:t>authorization… (program.cs)</a:t>
            </a:r>
            <a:endParaRPr lang="en-US" sz="2600"/>
          </a:p>
          <a:p>
            <a:pPr marL="457200" indent="-4572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600">
                <a:solidFill>
                  <a:srgbClr val="C00000"/>
                </a:solidFill>
              </a:rPr>
              <a:t>How it works: </a:t>
            </a:r>
            <a:r>
              <a:rPr lang="en-US" sz="2600"/>
              <a:t>When a request arrives, it passes through each middleware in the </a:t>
            </a:r>
            <a:r>
              <a:rPr lang="en-US" sz="2600" smtClean="0"/>
              <a:t>pipeline</a:t>
            </a:r>
            <a:r>
              <a:rPr lang="en-US" sz="2600"/>
              <a:t>:</a:t>
            </a:r>
          </a:p>
          <a:p>
            <a:pPr marL="1597025" indent="-334963" algn="just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600"/>
              <a:t>Process the request</a:t>
            </a:r>
          </a:p>
          <a:p>
            <a:pPr marL="1597025" indent="-334963" algn="just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600"/>
              <a:t>Invoke the next middleware</a:t>
            </a:r>
          </a:p>
          <a:p>
            <a:pPr marL="1597025" indent="-334963" algn="just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600"/>
              <a:t>Produce a response and terminate the pipeline</a:t>
            </a:r>
          </a:p>
        </p:txBody>
      </p:sp>
      <p:sp>
        <p:nvSpPr>
          <p:cNvPr id="2" name="Rectangle 1"/>
          <p:cNvSpPr/>
          <p:nvPr/>
        </p:nvSpPr>
        <p:spPr>
          <a:xfrm>
            <a:off x="391886" y="6145963"/>
            <a:ext cx="1146628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GB" sz="1600">
                <a:hlinkClick r:id="rId3"/>
              </a:rPr>
              <a:t>https://learn.microsoft.com/en-us/aspnet/core/fundamentals/middleware/?view=aspnetcore-8.0</a:t>
            </a:r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2178057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88" y="189709"/>
            <a:ext cx="11857703" cy="6540531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351753" y="88490"/>
            <a:ext cx="9623937" cy="760749"/>
          </a:xfrm>
        </p:spPr>
        <p:txBody>
          <a:bodyPr>
            <a:normAutofit/>
          </a:bodyPr>
          <a:lstStyle/>
          <a:p>
            <a:r>
              <a:rPr lang="en-US"/>
              <a:t>Middleware order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93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https://blogger.googleusercontent.com/img/a/AVvXsEiSjvEKt1TsK6xNydF8El_GnDI121fvlJw62Y3Z6siOmmStXzqHhJ9csHgj7v7lc-BGSKQrPn5a5w8Nf8glPQOxY8CJoEupuHiZDMhIr3O3yBD4wvOfNMvEWxcP3GOCa90VBV6U2Crp0yvkNjTnT3svlLcC84tFAM3kERitRCK9I2a_b0Emru8Hyt-0=s1600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515" y="0"/>
            <a:ext cx="11655945" cy="6548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96747" y="69574"/>
            <a:ext cx="3795253" cy="501445"/>
          </a:xfrm>
        </p:spPr>
        <p:txBody>
          <a:bodyPr>
            <a:normAutofit/>
          </a:bodyPr>
          <a:lstStyle/>
          <a:p>
            <a:r>
              <a:rPr lang="en-US" sz="2400">
                <a:solidFill>
                  <a:srgbClr val="C00000"/>
                </a:solidFill>
              </a:rPr>
              <a:t>Middleware order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9664" y="6520727"/>
            <a:ext cx="801329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>
                <a:hlinkClick r:id="rId4"/>
              </a:rPr>
              <a:t>https://learn.microsoft.com/en-us/aspnet/core/fundamentals/middleware/?view=aspnetcore-8.0</a:t>
            </a:r>
            <a:endParaRPr lang="en-GB" sz="1400"/>
          </a:p>
        </p:txBody>
      </p:sp>
    </p:spTree>
    <p:extLst>
      <p:ext uri="{BB962C8B-B14F-4D97-AF65-F5344CB8AC3E}">
        <p14:creationId xmlns:p14="http://schemas.microsoft.com/office/powerpoint/2010/main" val="2106947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Create a Middleware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690150"/>
            <a:ext cx="11530897" cy="455362"/>
          </a:xfrm>
        </p:spPr>
        <p:txBody>
          <a:bodyPr/>
          <a:lstStyle/>
          <a:p>
            <a:pPr marL="457200" indent="-457200" algn="just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400">
                <a:solidFill>
                  <a:srgbClr val="C00000"/>
                </a:solidFill>
              </a:rPr>
              <a:t>Step 1: </a:t>
            </a:r>
            <a:r>
              <a:rPr lang="en-US" sz="2400" smtClean="0">
                <a:solidFill>
                  <a:schemeClr val="tx1"/>
                </a:solidFill>
              </a:rPr>
              <a:t>Create  a class in Middleware Folder</a:t>
            </a:r>
            <a:endParaRPr lang="en-US" sz="2400">
              <a:solidFill>
                <a:schemeClr val="tx1"/>
              </a:solidFill>
            </a:endParaRPr>
          </a:p>
          <a:p>
            <a:pPr marL="457200" indent="-457200" algn="just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endParaRPr lang="en-US" sz="2400"/>
          </a:p>
        </p:txBody>
      </p:sp>
      <p:sp>
        <p:nvSpPr>
          <p:cNvPr id="6" name="Rectangle 5"/>
          <p:cNvSpPr/>
          <p:nvPr/>
        </p:nvSpPr>
        <p:spPr>
          <a:xfrm>
            <a:off x="854112" y="1296731"/>
            <a:ext cx="1090246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200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2000">
                <a:solidFill>
                  <a:srgbClr val="2B91AF"/>
                </a:solidFill>
                <a:latin typeface="Cascadia Mono" panose="020B0609020000020004" pitchFamily="49" charset="0"/>
              </a:rPr>
              <a:t>MyMiddleware</a:t>
            </a:r>
          </a:p>
          <a:p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GB" sz="2000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2000">
                <a:solidFill>
                  <a:srgbClr val="0000FF"/>
                </a:solidFill>
                <a:latin typeface="Cascadia Mono" panose="020B0609020000020004" pitchFamily="49" charset="0"/>
              </a:rPr>
              <a:t>readonly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2000">
                <a:solidFill>
                  <a:srgbClr val="0099CC"/>
                </a:solidFill>
                <a:latin typeface="Cascadia Mono" panose="020B0609020000020004" pitchFamily="49" charset="0"/>
              </a:rPr>
              <a:t>RequestDelegate 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_next;  </a:t>
            </a:r>
            <a:r>
              <a:rPr lang="en-GB" sz="200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en-GB" sz="2000" smtClean="0">
                <a:solidFill>
                  <a:srgbClr val="008000"/>
                </a:solidFill>
                <a:latin typeface="Cascadia Mono" panose="020B0609020000020004" pitchFamily="49" charset="0"/>
              </a:rPr>
              <a:t>Obligatory (must)</a:t>
            </a:r>
            <a:endParaRPr lang="en-GB" sz="2000">
              <a:solidFill>
                <a:srgbClr val="008000"/>
              </a:solidFill>
              <a:latin typeface="Cascadia Mono" panose="020B0609020000020004" pitchFamily="49" charset="0"/>
            </a:endParaRPr>
          </a:p>
          <a:p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GB" sz="200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2000">
                <a:solidFill>
                  <a:srgbClr val="2B91AF"/>
                </a:solidFill>
                <a:latin typeface="Cascadia Mono" panose="020B0609020000020004" pitchFamily="49" charset="0"/>
              </a:rPr>
              <a:t>MyMiddleware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GB" sz="2000">
                <a:solidFill>
                  <a:srgbClr val="0099CC"/>
                </a:solidFill>
                <a:latin typeface="Cascadia Mono" panose="020B0609020000020004" pitchFamily="49" charset="0"/>
              </a:rPr>
              <a:t>RequestDelegate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next)</a:t>
            </a:r>
          </a:p>
          <a:p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       _next = next;</a:t>
            </a:r>
          </a:p>
          <a:p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200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00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0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>
                <a:solidFill>
                  <a:srgbClr val="0000FF"/>
                </a:solidFill>
                <a:latin typeface="Cascadia Mono" panose="020B0609020000020004" pitchFamily="49" charset="0"/>
              </a:rPr>
              <a:t>async</a:t>
            </a:r>
            <a:r>
              <a:rPr lang="en-US" sz="20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>
                <a:solidFill>
                  <a:srgbClr val="0099CC"/>
                </a:solidFill>
                <a:latin typeface="Cascadia Mono" panose="020B0609020000020004" pitchFamily="49" charset="0"/>
              </a:rPr>
              <a:t>Task</a:t>
            </a:r>
            <a:r>
              <a:rPr lang="en-US" sz="20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>
                <a:solidFill>
                  <a:srgbClr val="C00000"/>
                </a:solidFill>
                <a:latin typeface="Cascadia Mono" panose="020B0609020000020004" pitchFamily="49" charset="0"/>
              </a:rPr>
              <a:t>InvokeAsync</a:t>
            </a:r>
            <a:r>
              <a:rPr lang="en-US" sz="2000">
                <a:solidFill>
                  <a:srgbClr val="000000"/>
                </a:solidFill>
                <a:latin typeface="Cascadia Mono" panose="020B0609020000020004" pitchFamily="49" charset="0"/>
              </a:rPr>
              <a:t>(HttpContext context)</a:t>
            </a:r>
          </a:p>
          <a:p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2000" smtClean="0">
                <a:solidFill>
                  <a:srgbClr val="008000"/>
                </a:solidFill>
                <a:latin typeface="Cascadia Mono" panose="020B0609020000020004" pitchFamily="49" charset="0"/>
              </a:rPr>
              <a:t>	//Code </a:t>
            </a:r>
            <a:r>
              <a:rPr lang="en-US" sz="2000">
                <a:solidFill>
                  <a:srgbClr val="008000"/>
                </a:solidFill>
                <a:latin typeface="Cascadia Mono" panose="020B0609020000020004" pitchFamily="49" charset="0"/>
              </a:rPr>
              <a:t>at here --&gt; Logical processing before forwarding </a:t>
            </a:r>
            <a:r>
              <a:rPr lang="en-US" sz="2000" smtClean="0">
                <a:solidFill>
                  <a:srgbClr val="008000"/>
                </a:solidFill>
                <a:latin typeface="Cascadia Mono" panose="020B0609020000020004" pitchFamily="49" charset="0"/>
              </a:rPr>
              <a:t>requests.</a:t>
            </a:r>
            <a:endParaRPr lang="en-US" sz="2000">
              <a:solidFill>
                <a:srgbClr val="008000"/>
              </a:solidFill>
              <a:latin typeface="Cascadia Mono" panose="020B0609020000020004" pitchFamily="49" charset="0"/>
            </a:endParaRPr>
          </a:p>
          <a:p>
            <a:r>
              <a:rPr lang="en-US" sz="200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sz="2000" smtClean="0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en-US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>
                <a:solidFill>
                  <a:srgbClr val="000000"/>
                </a:solidFill>
                <a:latin typeface="Cascadia Mono" panose="020B0609020000020004" pitchFamily="49" charset="0"/>
              </a:rPr>
              <a:t>_next(context);  </a:t>
            </a:r>
            <a:r>
              <a:rPr lang="en-US" sz="2000">
                <a:solidFill>
                  <a:srgbClr val="008000"/>
                </a:solidFill>
                <a:latin typeface="Cascadia Mono" panose="020B0609020000020004" pitchFamily="49" charset="0"/>
              </a:rPr>
              <a:t>// next middleware in pipeline</a:t>
            </a:r>
          </a:p>
          <a:p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GB" sz="2000"/>
          </a:p>
        </p:txBody>
      </p:sp>
      <p:sp>
        <p:nvSpPr>
          <p:cNvPr id="7" name="Text Placeholder 2"/>
          <p:cNvSpPr txBox="1">
            <a:spLocks/>
          </p:cNvSpPr>
          <p:nvPr/>
        </p:nvSpPr>
        <p:spPr>
          <a:xfrm>
            <a:off x="194773" y="5404987"/>
            <a:ext cx="11530897" cy="63612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600" smtClean="0">
                <a:solidFill>
                  <a:srgbClr val="C00000"/>
                </a:solidFill>
              </a:rPr>
              <a:t>Step 2:</a:t>
            </a:r>
            <a:r>
              <a:rPr lang="en-US" sz="2600" smtClean="0"/>
              <a:t> in Program.cs</a:t>
            </a:r>
            <a:endParaRPr lang="en-US" sz="2600"/>
          </a:p>
        </p:txBody>
      </p:sp>
      <p:sp>
        <p:nvSpPr>
          <p:cNvPr id="9" name="Rectangle 8"/>
          <p:cNvSpPr/>
          <p:nvPr/>
        </p:nvSpPr>
        <p:spPr>
          <a:xfrm>
            <a:off x="1109031" y="5970247"/>
            <a:ext cx="579838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>
                <a:solidFill>
                  <a:srgbClr val="000000"/>
                </a:solidFill>
                <a:latin typeface="Cascadia Mono" panose="020B0609020000020004" pitchFamily="49" charset="0"/>
              </a:rPr>
              <a:t>app.</a:t>
            </a:r>
            <a:r>
              <a:rPr lang="en-GB" sz="2200">
                <a:solidFill>
                  <a:srgbClr val="C00000"/>
                </a:solidFill>
                <a:latin typeface="Cascadia Mono" panose="020B0609020000020004" pitchFamily="49" charset="0"/>
              </a:rPr>
              <a:t>UseMiddleware</a:t>
            </a:r>
            <a:r>
              <a:rPr lang="en-GB" sz="220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GB" sz="2200">
                <a:solidFill>
                  <a:srgbClr val="0099CC"/>
                </a:solidFill>
                <a:latin typeface="Cascadia Mono" panose="020B0609020000020004" pitchFamily="49" charset="0"/>
              </a:rPr>
              <a:t>MyMiddleware</a:t>
            </a:r>
            <a:r>
              <a:rPr lang="en-GB" sz="2200">
                <a:solidFill>
                  <a:srgbClr val="000000"/>
                </a:solidFill>
                <a:latin typeface="Cascadia Mono" panose="020B0609020000020004" pitchFamily="49" charset="0"/>
              </a:rPr>
              <a:t>&gt;();</a:t>
            </a:r>
            <a:endParaRPr lang="en-GB" sz="2200"/>
          </a:p>
        </p:txBody>
      </p:sp>
    </p:spTree>
    <p:extLst>
      <p:ext uri="{BB962C8B-B14F-4D97-AF65-F5344CB8AC3E}">
        <p14:creationId xmlns:p14="http://schemas.microsoft.com/office/powerpoint/2010/main" val="2724636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966" y="114096"/>
            <a:ext cx="11736475" cy="6743903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968721" y="140678"/>
            <a:ext cx="6112747" cy="512466"/>
          </a:xfrm>
        </p:spPr>
        <p:txBody>
          <a:bodyPr>
            <a:normAutofit/>
          </a:bodyPr>
          <a:lstStyle/>
          <a:p>
            <a:pPr algn="r"/>
            <a:r>
              <a:rPr lang="en-US" sz="2800" smtClean="0"/>
              <a:t>Create a AntiXssMiddleware class</a:t>
            </a:r>
            <a:endParaRPr lang="en-US" sz="2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427905" y="1715890"/>
            <a:ext cx="5436104" cy="646331"/>
          </a:xfrm>
          <a:prstGeom prst="rect">
            <a:avLst/>
          </a:prstGeom>
          <a:ln>
            <a:solidFill>
              <a:srgbClr val="0000FF"/>
            </a:solidFill>
          </a:ln>
        </p:spPr>
        <p:txBody>
          <a:bodyPr wrap="none">
            <a:spAutoFit/>
          </a:bodyPr>
          <a:lstStyle/>
          <a:p>
            <a:r>
              <a:rPr lang="en-US" smtClean="0">
                <a:solidFill>
                  <a:srgbClr val="008000"/>
                </a:solidFill>
                <a:latin typeface="Cascadia Mono" panose="020B0609020000020004" pitchFamily="49" charset="0"/>
              </a:rPr>
              <a:t>//Code in Program.cs  </a:t>
            </a:r>
          </a:p>
          <a:p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app.</a:t>
            </a:r>
            <a:r>
              <a:rPr lang="en-GB" smtClean="0">
                <a:solidFill>
                  <a:srgbClr val="990000"/>
                </a:solidFill>
                <a:latin typeface="Cascadia Mono" panose="020B0609020000020004" pitchFamily="49" charset="0"/>
              </a:rPr>
              <a:t>UseMiddleware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GB" smtClean="0">
                <a:solidFill>
                  <a:srgbClr val="0099CC"/>
                </a:solidFill>
                <a:latin typeface="Cascadia Mono" panose="020B0609020000020004" pitchFamily="49" charset="0"/>
              </a:rPr>
              <a:t>AntiXssMiddleware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&gt;();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2192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584" y="249883"/>
            <a:ext cx="11314444" cy="660811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404469" y="4677752"/>
            <a:ext cx="5708018" cy="646331"/>
          </a:xfrm>
          <a:prstGeom prst="rect">
            <a:avLst/>
          </a:prstGeom>
          <a:ln>
            <a:solidFill>
              <a:srgbClr val="0000FF"/>
            </a:solidFill>
          </a:ln>
        </p:spPr>
        <p:txBody>
          <a:bodyPr wrap="square">
            <a:spAutoFit/>
          </a:bodyPr>
          <a:lstStyle/>
          <a:p>
            <a:r>
              <a:rPr lang="en-US" smtClean="0">
                <a:solidFill>
                  <a:srgbClr val="008000"/>
                </a:solidFill>
                <a:latin typeface="Cascadia Mono" panose="020B0609020000020004" pitchFamily="49" charset="0"/>
              </a:rPr>
              <a:t>//</a:t>
            </a:r>
            <a:r>
              <a:rPr lang="en-US">
                <a:solidFill>
                  <a:srgbClr val="008000"/>
                </a:solidFill>
                <a:latin typeface="Cascadia Mono" panose="020B0609020000020004" pitchFamily="49" charset="0"/>
              </a:rPr>
              <a:t>In </a:t>
            </a:r>
            <a:r>
              <a:rPr lang="en-US" smtClean="0">
                <a:solidFill>
                  <a:srgbClr val="008000"/>
                </a:solidFill>
                <a:latin typeface="Cascadia Mono" panose="020B0609020000020004" pitchFamily="49" charset="0"/>
              </a:rPr>
              <a:t>Program.cs </a:t>
            </a:r>
          </a:p>
          <a:p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app.</a:t>
            </a:r>
            <a:r>
              <a:rPr lang="en-GB" smtClean="0">
                <a:solidFill>
                  <a:srgbClr val="990000"/>
                </a:solidFill>
                <a:latin typeface="Cascadia Mono" panose="020B0609020000020004" pitchFamily="49" charset="0"/>
              </a:rPr>
              <a:t>UseMiddleware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GB" smtClean="0">
                <a:solidFill>
                  <a:srgbClr val="0099CC"/>
                </a:solidFill>
                <a:latin typeface="Cascadia Mono" panose="020B0609020000020004" pitchFamily="49" charset="0"/>
              </a:rPr>
              <a:t>AntiXssMiddleware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&gt;();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8229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568" y="274419"/>
            <a:ext cx="481961" cy="111221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FD2705F-8A3F-43FB-B599-CD432A022700}"/>
              </a:ext>
            </a:extLst>
          </p:cNvPr>
          <p:cNvSpPr txBox="1"/>
          <p:nvPr/>
        </p:nvSpPr>
        <p:spPr>
          <a:xfrm>
            <a:off x="4460719" y="934441"/>
            <a:ext cx="54845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cap="all" smtClean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Homework 4</a:t>
            </a:r>
            <a:endParaRPr lang="en-US" sz="4000" b="1" cap="all">
              <a:solidFill>
                <a:srgbClr val="66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7DE2944F-AE04-492A-BB15-9E9B6DBB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920AF-2440-4552-8F7A-6F88C8FE507A}" type="slidenum">
              <a:rPr lang="en-US" sz="1000" smtClean="0"/>
              <a:pPr/>
              <a:t>53</a:t>
            </a:fld>
            <a:endParaRPr lang="en-US" sz="1000"/>
          </a:p>
        </p:txBody>
      </p:sp>
      <p:grpSp>
        <p:nvGrpSpPr>
          <p:cNvPr id="13" name="Group 17">
            <a:extLst>
              <a:ext uri="{FF2B5EF4-FFF2-40B4-BE49-F238E27FC236}">
                <a16:creationId xmlns:a16="http://schemas.microsoft.com/office/drawing/2014/main" id="{6080DA0D-484A-4C70-BB3A-D9040DBEAE59}"/>
              </a:ext>
            </a:extLst>
          </p:cNvPr>
          <p:cNvGrpSpPr>
            <a:grpSpLocks/>
          </p:cNvGrpSpPr>
          <p:nvPr/>
        </p:nvGrpSpPr>
        <p:grpSpPr bwMode="auto">
          <a:xfrm>
            <a:off x="487680" y="5710215"/>
            <a:ext cx="883826" cy="883301"/>
            <a:chOff x="2562" y="439"/>
            <a:chExt cx="1684" cy="1683"/>
          </a:xfrm>
        </p:grpSpPr>
        <p:sp>
          <p:nvSpPr>
            <p:cNvPr id="14" name="Oval 5">
              <a:extLst>
                <a:ext uri="{FF2B5EF4-FFF2-40B4-BE49-F238E27FC236}">
                  <a16:creationId xmlns:a16="http://schemas.microsoft.com/office/drawing/2014/main" id="{E4139574-C4EA-4556-ACDA-A76931EBDCA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562" y="439"/>
              <a:ext cx="1684" cy="1683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" name="Oval 6">
              <a:extLst>
                <a:ext uri="{FF2B5EF4-FFF2-40B4-BE49-F238E27FC236}">
                  <a16:creationId xmlns:a16="http://schemas.microsoft.com/office/drawing/2014/main" id="{0F894546-4EC9-47C0-B71E-69BF9C0F13C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673" y="548"/>
              <a:ext cx="1461" cy="1463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54118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" name="Oval 7">
              <a:extLst>
                <a:ext uri="{FF2B5EF4-FFF2-40B4-BE49-F238E27FC236}">
                  <a16:creationId xmlns:a16="http://schemas.microsoft.com/office/drawing/2014/main" id="{7F8A18EB-028B-4904-82AC-271110A4EA8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685" y="536"/>
              <a:ext cx="1461" cy="146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63529"/>
                    <a:invGamma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3" name="Oval 8">
              <a:extLst>
                <a:ext uri="{FF2B5EF4-FFF2-40B4-BE49-F238E27FC236}">
                  <a16:creationId xmlns:a16="http://schemas.microsoft.com/office/drawing/2014/main" id="{75655967-7598-41D4-AD1E-3A8317F57AB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45" y="622"/>
              <a:ext cx="1317" cy="131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6" name="Oval 9">
              <a:extLst>
                <a:ext uri="{FF2B5EF4-FFF2-40B4-BE49-F238E27FC236}">
                  <a16:creationId xmlns:a16="http://schemas.microsoft.com/office/drawing/2014/main" id="{65267B8C-8F7A-483A-951E-B580A472232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66" y="643"/>
              <a:ext cx="1276" cy="1277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46275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7" name="Oval 10">
              <a:extLst>
                <a:ext uri="{FF2B5EF4-FFF2-40B4-BE49-F238E27FC236}">
                  <a16:creationId xmlns:a16="http://schemas.microsoft.com/office/drawing/2014/main" id="{A9AA3EC5-79DC-4B8D-AB98-769BCA68198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82" y="650"/>
              <a:ext cx="1246" cy="1246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D6E1E2">
                    <a:gamma/>
                    <a:tint val="34902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8" name="Oval 11">
              <a:extLst>
                <a:ext uri="{FF2B5EF4-FFF2-40B4-BE49-F238E27FC236}">
                  <a16:creationId xmlns:a16="http://schemas.microsoft.com/office/drawing/2014/main" id="{706F5677-482E-4BA0-962F-377CD39AFA7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96" y="662"/>
              <a:ext cx="1184" cy="1164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79216"/>
                    <a:invGamma/>
                  </a:srgbClr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9" name="Oval 12">
              <a:extLst>
                <a:ext uri="{FF2B5EF4-FFF2-40B4-BE49-F238E27FC236}">
                  <a16:creationId xmlns:a16="http://schemas.microsoft.com/office/drawing/2014/main" id="{252F8531-A078-4482-B2EE-FB90AD06E56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865" y="695"/>
              <a:ext cx="1053" cy="945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>
                    <a:alpha val="38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pic>
          <p:nvPicPr>
            <p:cNvPr id="30" name="Picture 13" descr="mark">
              <a:extLst>
                <a:ext uri="{FF2B5EF4-FFF2-40B4-BE49-F238E27FC236}">
                  <a16:creationId xmlns:a16="http://schemas.microsoft.com/office/drawing/2014/main" id="{EFA5FDD7-8288-46D9-A2A0-D844DBC1A7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4" y="793"/>
              <a:ext cx="1011" cy="1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Rectangle 1"/>
          <p:cNvSpPr/>
          <p:nvPr/>
        </p:nvSpPr>
        <p:spPr>
          <a:xfrm>
            <a:off x="3867420" y="2455176"/>
            <a:ext cx="7754842" cy="19513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20000"/>
              </a:lnSpc>
              <a:spcBef>
                <a:spcPts val="2400"/>
              </a:spcBef>
              <a:buFont typeface="+mj-lt"/>
              <a:buAutoNum type="arabicPeriod"/>
            </a:pPr>
            <a:r>
              <a:rPr lang="en-US" sz="2800"/>
              <a:t>Create and Apply a </a:t>
            </a:r>
            <a:r>
              <a:rPr lang="en-US" sz="2800" smtClean="0"/>
              <a:t>Middleware prevent XSS attack </a:t>
            </a:r>
            <a:r>
              <a:rPr lang="en-US" sz="2800"/>
              <a:t>as </a:t>
            </a:r>
            <a:r>
              <a:rPr lang="en-US" sz="2800" smtClean="0"/>
              <a:t>lecture</a:t>
            </a:r>
          </a:p>
          <a:p>
            <a:pPr marL="514350" indent="-514350">
              <a:lnSpc>
                <a:spcPct val="120000"/>
              </a:lnSpc>
              <a:spcBef>
                <a:spcPts val="2400"/>
              </a:spcBef>
              <a:buFont typeface="+mj-lt"/>
              <a:buAutoNum type="arabicPeriod"/>
            </a:pPr>
            <a:r>
              <a:rPr lang="en-US" sz="2800" smtClean="0"/>
              <a:t>Study and Optimize </a:t>
            </a:r>
            <a:r>
              <a:rPr lang="en-US" sz="2800"/>
              <a:t>Exercise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32670" y="1531738"/>
            <a:ext cx="53716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>
                <a:solidFill>
                  <a:srgbClr val="6600CC"/>
                </a:solidFill>
              </a:rPr>
              <a:t>Prevent </a:t>
            </a:r>
            <a:r>
              <a:rPr lang="en-US" sz="2400" smtClean="0">
                <a:solidFill>
                  <a:srgbClr val="6600CC"/>
                </a:solidFill>
              </a:rPr>
              <a:t>XSS</a:t>
            </a:r>
            <a:endParaRPr lang="en-GB" sz="2400">
              <a:solidFill>
                <a:srgbClr val="66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8172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 xmlns:a14="http://schemas.microsoft.com/office/drawing/2010/main" xmlns:a16="http://schemas.microsoft.com/office/drawing/2014/main">
      <p:transition spd="med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3763875" y="1350934"/>
            <a:ext cx="5311298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375" y="235090"/>
            <a:ext cx="481961" cy="111221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FD2705F-8A3F-43FB-B599-CD432A022700}"/>
              </a:ext>
            </a:extLst>
          </p:cNvPr>
          <p:cNvSpPr txBox="1"/>
          <p:nvPr/>
        </p:nvSpPr>
        <p:spPr>
          <a:xfrm>
            <a:off x="3667432" y="680948"/>
            <a:ext cx="62238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smtClean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API </a:t>
            </a:r>
            <a:r>
              <a:rPr lang="en-US" sz="4000" b="1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Security Solutions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7DE2944F-AE04-492A-BB15-9E9B6DBB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920AF-2440-4552-8F7A-6F88C8FE507A}" type="slidenum">
              <a:rPr lang="en-US" sz="1000" smtClean="0"/>
              <a:pPr/>
              <a:t>54</a:t>
            </a:fld>
            <a:endParaRPr lang="en-US" sz="1000"/>
          </a:p>
        </p:txBody>
      </p:sp>
      <p:grpSp>
        <p:nvGrpSpPr>
          <p:cNvPr id="13" name="Group 17">
            <a:extLst>
              <a:ext uri="{FF2B5EF4-FFF2-40B4-BE49-F238E27FC236}">
                <a16:creationId xmlns:a16="http://schemas.microsoft.com/office/drawing/2014/main" id="{6080DA0D-484A-4C70-BB3A-D9040DBEAE59}"/>
              </a:ext>
            </a:extLst>
          </p:cNvPr>
          <p:cNvGrpSpPr>
            <a:grpSpLocks/>
          </p:cNvGrpSpPr>
          <p:nvPr/>
        </p:nvGrpSpPr>
        <p:grpSpPr bwMode="auto">
          <a:xfrm>
            <a:off x="536842" y="5690550"/>
            <a:ext cx="883826" cy="883301"/>
            <a:chOff x="2562" y="439"/>
            <a:chExt cx="1684" cy="1683"/>
          </a:xfrm>
        </p:grpSpPr>
        <p:sp>
          <p:nvSpPr>
            <p:cNvPr id="14" name="Oval 5">
              <a:extLst>
                <a:ext uri="{FF2B5EF4-FFF2-40B4-BE49-F238E27FC236}">
                  <a16:creationId xmlns:a16="http://schemas.microsoft.com/office/drawing/2014/main" id="{E4139574-C4EA-4556-ACDA-A76931EBDCA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562" y="439"/>
              <a:ext cx="1684" cy="1683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" name="Oval 6">
              <a:extLst>
                <a:ext uri="{FF2B5EF4-FFF2-40B4-BE49-F238E27FC236}">
                  <a16:creationId xmlns:a16="http://schemas.microsoft.com/office/drawing/2014/main" id="{0F894546-4EC9-47C0-B71E-69BF9C0F13C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673" y="548"/>
              <a:ext cx="1461" cy="1463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54118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" name="Oval 7">
              <a:extLst>
                <a:ext uri="{FF2B5EF4-FFF2-40B4-BE49-F238E27FC236}">
                  <a16:creationId xmlns:a16="http://schemas.microsoft.com/office/drawing/2014/main" id="{7F8A18EB-028B-4904-82AC-271110A4EA8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685" y="536"/>
              <a:ext cx="1461" cy="146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63529"/>
                    <a:invGamma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3" name="Oval 8">
              <a:extLst>
                <a:ext uri="{FF2B5EF4-FFF2-40B4-BE49-F238E27FC236}">
                  <a16:creationId xmlns:a16="http://schemas.microsoft.com/office/drawing/2014/main" id="{75655967-7598-41D4-AD1E-3A8317F57AB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45" y="622"/>
              <a:ext cx="1317" cy="131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6" name="Oval 9">
              <a:extLst>
                <a:ext uri="{FF2B5EF4-FFF2-40B4-BE49-F238E27FC236}">
                  <a16:creationId xmlns:a16="http://schemas.microsoft.com/office/drawing/2014/main" id="{65267B8C-8F7A-483A-951E-B580A472232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66" y="643"/>
              <a:ext cx="1276" cy="1277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46275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7" name="Oval 10">
              <a:extLst>
                <a:ext uri="{FF2B5EF4-FFF2-40B4-BE49-F238E27FC236}">
                  <a16:creationId xmlns:a16="http://schemas.microsoft.com/office/drawing/2014/main" id="{A9AA3EC5-79DC-4B8D-AB98-769BCA68198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82" y="650"/>
              <a:ext cx="1246" cy="1246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D6E1E2">
                    <a:gamma/>
                    <a:tint val="34902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8" name="Oval 11">
              <a:extLst>
                <a:ext uri="{FF2B5EF4-FFF2-40B4-BE49-F238E27FC236}">
                  <a16:creationId xmlns:a16="http://schemas.microsoft.com/office/drawing/2014/main" id="{706F5677-482E-4BA0-962F-377CD39AFA7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96" y="662"/>
              <a:ext cx="1184" cy="1164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79216"/>
                    <a:invGamma/>
                  </a:srgbClr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9" name="Oval 12">
              <a:extLst>
                <a:ext uri="{FF2B5EF4-FFF2-40B4-BE49-F238E27FC236}">
                  <a16:creationId xmlns:a16="http://schemas.microsoft.com/office/drawing/2014/main" id="{252F8531-A078-4482-B2EE-FB90AD06E56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865" y="695"/>
              <a:ext cx="1053" cy="945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>
                    <a:alpha val="38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pic>
          <p:nvPicPr>
            <p:cNvPr id="30" name="Picture 13" descr="mark">
              <a:extLst>
                <a:ext uri="{FF2B5EF4-FFF2-40B4-BE49-F238E27FC236}">
                  <a16:creationId xmlns:a16="http://schemas.microsoft.com/office/drawing/2014/main" id="{EFA5FDD7-8288-46D9-A2A0-D844DBC1A7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4" y="793"/>
              <a:ext cx="1011" cy="1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F0C5823A-D2D1-41BC-9597-EDE8E6B8977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7168" y="5829096"/>
            <a:ext cx="578605" cy="674546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286910" y="1517960"/>
            <a:ext cx="7511799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smtClean="0"/>
              <a:t>2.1. </a:t>
            </a:r>
            <a:r>
              <a:rPr lang="en-US" sz="2600"/>
              <a:t>Input Validation and </a:t>
            </a:r>
            <a:r>
              <a:rPr lang="en-US" sz="2600" smtClean="0"/>
              <a:t>CORS </a:t>
            </a:r>
            <a:r>
              <a:rPr lang="en-US" sz="2000" smtClean="0"/>
              <a:t>(</a:t>
            </a:r>
            <a:r>
              <a:rPr lang="en-US" sz="2000"/>
              <a:t>Cross-Origin Requests</a:t>
            </a:r>
            <a:r>
              <a:rPr lang="en-US" sz="2000" smtClean="0"/>
              <a:t>)</a:t>
            </a:r>
            <a:r>
              <a:rPr lang="en-US" sz="2600"/>
              <a:t/>
            </a:r>
            <a:br>
              <a:rPr lang="en-US" sz="2600"/>
            </a:br>
            <a:r>
              <a:rPr lang="en-US" sz="2600" smtClean="0"/>
              <a:t>2.2. </a:t>
            </a:r>
            <a:r>
              <a:rPr lang="en-US" sz="2600"/>
              <a:t>Data </a:t>
            </a:r>
            <a:r>
              <a:rPr lang="en-US" sz="2600" smtClean="0"/>
              <a:t>Encryption</a:t>
            </a:r>
            <a:r>
              <a:rPr lang="en-US" sz="2600">
                <a:solidFill>
                  <a:srgbClr val="C00000"/>
                </a:solidFill>
              </a:rPr>
              <a:t/>
            </a:r>
            <a:br>
              <a:rPr lang="en-US" sz="2600">
                <a:solidFill>
                  <a:srgbClr val="C00000"/>
                </a:solidFill>
              </a:rPr>
            </a:br>
            <a:r>
              <a:rPr lang="en-US" sz="2600" smtClean="0"/>
              <a:t>2.3. </a:t>
            </a:r>
            <a:r>
              <a:rPr lang="en-US" sz="2600"/>
              <a:t>Authentication and Authorization</a:t>
            </a:r>
            <a:br>
              <a:rPr lang="en-US" sz="2600"/>
            </a:br>
            <a:r>
              <a:rPr lang="en-US" sz="2600" smtClean="0"/>
              <a:t>2.4. </a:t>
            </a:r>
            <a:r>
              <a:rPr lang="en-US" sz="2600"/>
              <a:t>Rate </a:t>
            </a:r>
            <a:r>
              <a:rPr lang="en-US" sz="2600" smtClean="0"/>
              <a:t>Limiting</a:t>
            </a:r>
          </a:p>
          <a:p>
            <a:pPr>
              <a:lnSpc>
                <a:spcPct val="150000"/>
              </a:lnSpc>
            </a:pPr>
            <a:r>
              <a:rPr lang="en-US" sz="260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2.5. Prevent XSS </a:t>
            </a:r>
            <a:r>
              <a:rPr lang="en-US" sz="2600">
                <a:solidFill>
                  <a:schemeClr val="tx1">
                    <a:lumMod val="75000"/>
                    <a:lumOff val="25000"/>
                  </a:schemeClr>
                </a:solidFill>
              </a:rPr>
              <a:t>(Cross-Site Scripting</a:t>
            </a:r>
            <a:r>
              <a:rPr lang="en-US" sz="260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sz="26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600">
                <a:solidFill>
                  <a:srgbClr val="C00000"/>
                </a:solidFill>
              </a:rPr>
              <a:t>2.6. </a:t>
            </a:r>
            <a:r>
              <a:rPr lang="en-US" sz="2600" smtClean="0">
                <a:solidFill>
                  <a:srgbClr val="C00000"/>
                </a:solidFill>
              </a:rPr>
              <a:t>Prevent CSRF </a:t>
            </a:r>
            <a:r>
              <a:rPr lang="en-US" sz="2600">
                <a:solidFill>
                  <a:srgbClr val="C00000"/>
                </a:solidFill>
              </a:rPr>
              <a:t>(Cross-Site Request Forgery</a:t>
            </a:r>
            <a:r>
              <a:rPr lang="en-US" sz="2600" smtClean="0">
                <a:solidFill>
                  <a:srgbClr val="C00000"/>
                </a:solidFill>
              </a:rPr>
              <a:t>)</a:t>
            </a:r>
            <a:r>
              <a:rPr lang="en-US" sz="2600">
                <a:solidFill>
                  <a:srgbClr val="C00000"/>
                </a:solidFill>
              </a:rPr>
              <a:t/>
            </a:r>
            <a:br>
              <a:rPr lang="en-US" sz="2600">
                <a:solidFill>
                  <a:srgbClr val="C00000"/>
                </a:solidFill>
              </a:rPr>
            </a:br>
            <a:r>
              <a:rPr lang="en-US" sz="260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2.7. </a:t>
            </a:r>
            <a:r>
              <a:rPr lang="en-US" sz="2600">
                <a:solidFill>
                  <a:schemeClr val="tx1">
                    <a:lumMod val="75000"/>
                    <a:lumOff val="25000"/>
                  </a:schemeClr>
                </a:solidFill>
              </a:rPr>
              <a:t>Using an API Firewall (API Gateway)</a:t>
            </a:r>
            <a:br>
              <a:rPr lang="en-US" sz="260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1202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 xmlns:a14="http://schemas.microsoft.com/office/drawing/2010/main" xmlns:a16="http://schemas.microsoft.com/office/drawing/2014/main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2.5. CSRF (Cross-Site Request Forgery</a:t>
            </a:r>
            <a:r>
              <a:rPr lang="en-US" smtClean="0"/>
              <a:t>)</a:t>
            </a:r>
            <a:endParaRPr lang="en-US">
              <a:solidFill>
                <a:srgbClr val="FF99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9980" y="793268"/>
            <a:ext cx="11239124" cy="3237958"/>
          </a:xfrm>
        </p:spPr>
        <p:txBody>
          <a:bodyPr/>
          <a:lstStyle/>
          <a:p>
            <a:pPr marL="457200" indent="-457200">
              <a:lnSpc>
                <a:spcPct val="120000"/>
              </a:lnSpc>
              <a:spcBef>
                <a:spcPts val="1800"/>
              </a:spcBef>
              <a:buFont typeface="Wingdings" panose="05000000000000000000" pitchFamily="2" charset="2"/>
              <a:buChar char="ü"/>
            </a:pPr>
            <a:r>
              <a:rPr lang="en-US" sz="2400"/>
              <a:t>CSRF </a:t>
            </a:r>
            <a:r>
              <a:rPr lang="en-US" sz="2400" smtClean="0"/>
              <a:t>is </a:t>
            </a:r>
            <a:r>
              <a:rPr lang="en-US" sz="2400"/>
              <a:t>a type of network attack in which a hacker tricks an authenticated user into performing unwanted actions on a website they are logged.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buFont typeface="Wingdings" panose="05000000000000000000" pitchFamily="2" charset="2"/>
              <a:buChar char="ü"/>
            </a:pPr>
            <a:r>
              <a:rPr lang="en-US" sz="2400"/>
              <a:t>This tool is commonly used in web applications that have a </a:t>
            </a:r>
            <a:r>
              <a:rPr lang="en-US" sz="2400">
                <a:solidFill>
                  <a:srgbClr val="990000"/>
                </a:solidFill>
              </a:rPr>
              <a:t>session</a:t>
            </a:r>
            <a:r>
              <a:rPr lang="en-US" sz="2400"/>
              <a:t> </a:t>
            </a:r>
            <a:r>
              <a:rPr lang="en-US" sz="2400" smtClean="0"/>
              <a:t>management </a:t>
            </a:r>
            <a:r>
              <a:rPr lang="en-US" sz="2400"/>
              <a:t>mechanism or </a:t>
            </a:r>
            <a:r>
              <a:rPr lang="en-US" sz="2400">
                <a:solidFill>
                  <a:srgbClr val="990000"/>
                </a:solidFill>
              </a:rPr>
              <a:t>cookies </a:t>
            </a:r>
            <a:r>
              <a:rPr lang="en-US" sz="2400"/>
              <a:t>to authenticate users</a:t>
            </a:r>
            <a:r>
              <a:rPr lang="en-US" sz="2400" smtClean="0"/>
              <a:t>.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buFont typeface="Wingdings" panose="05000000000000000000" pitchFamily="2" charset="2"/>
              <a:buChar char="ü"/>
            </a:pPr>
            <a:r>
              <a:rPr lang="en-US" sz="2400"/>
              <a:t>But, APIs </a:t>
            </a:r>
            <a:r>
              <a:rPr lang="en-US" sz="2400" smtClean="0"/>
              <a:t>are </a:t>
            </a:r>
            <a:r>
              <a:rPr lang="en-US" sz="2400">
                <a:solidFill>
                  <a:srgbClr val="C00000"/>
                </a:solidFill>
              </a:rPr>
              <a:t>not</a:t>
            </a:r>
            <a:r>
              <a:rPr lang="en-US" sz="2400"/>
              <a:t> configured to prevent CSRF attacks when using OAuth2 authentication such as JWT Bearer, Google ...</a:t>
            </a:r>
            <a:endParaRPr lang="en-GB" sz="24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46" y="4211680"/>
            <a:ext cx="10518401" cy="218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840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2.5.1. </a:t>
            </a:r>
            <a:r>
              <a:rPr lang="en-US"/>
              <a:t>Prevent CSRF </a:t>
            </a:r>
            <a:r>
              <a:rPr lang="en-US" smtClean="0"/>
              <a:t>attack  for Client</a:t>
            </a:r>
            <a:endParaRPr lang="en-US">
              <a:solidFill>
                <a:srgbClr val="FF99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9292" y="891801"/>
            <a:ext cx="11239125" cy="5192121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spcBef>
                <a:spcPts val="1800"/>
              </a:spcBef>
              <a:buFont typeface="Wingdings" panose="05000000000000000000" pitchFamily="2" charset="2"/>
              <a:buChar char="ü"/>
            </a:pPr>
            <a:r>
              <a:rPr lang="en-US" sz="2600" smtClean="0">
                <a:solidFill>
                  <a:srgbClr val="990000"/>
                </a:solidFill>
              </a:rPr>
              <a:t>CSRF </a:t>
            </a:r>
            <a:r>
              <a:rPr lang="en-US" sz="2600">
                <a:solidFill>
                  <a:srgbClr val="990000"/>
                </a:solidFill>
              </a:rPr>
              <a:t>token:</a:t>
            </a:r>
            <a:r>
              <a:rPr lang="en-US" sz="2600">
                <a:solidFill>
                  <a:schemeClr val="tx1">
                    <a:lumMod val="95000"/>
                    <a:lumOff val="5000"/>
                  </a:schemeClr>
                </a:solidFill>
              </a:rPr>
              <a:t> Add a unique token to each form on the website. This token is compared to a token stored on the server. If they don't match, the request is rejected.</a:t>
            </a:r>
          </a:p>
          <a:p>
            <a:pPr marL="457200" indent="-457200">
              <a:lnSpc>
                <a:spcPct val="100000"/>
              </a:lnSpc>
              <a:spcBef>
                <a:spcPts val="1800"/>
              </a:spcBef>
              <a:buFont typeface="Wingdings" panose="05000000000000000000" pitchFamily="2" charset="2"/>
              <a:buChar char="ü"/>
            </a:pPr>
            <a:r>
              <a:rPr lang="en-US" sz="2600" smtClean="0">
                <a:solidFill>
                  <a:srgbClr val="990000"/>
                </a:solidFill>
              </a:rPr>
              <a:t>Check </a:t>
            </a:r>
            <a:r>
              <a:rPr lang="en-US" sz="2600">
                <a:solidFill>
                  <a:srgbClr val="990000"/>
                </a:solidFill>
              </a:rPr>
              <a:t>the request origin (Referer header): </a:t>
            </a:r>
            <a:r>
              <a:rPr lang="en-US" sz="2600">
                <a:solidFill>
                  <a:schemeClr val="tx1">
                    <a:lumMod val="95000"/>
                    <a:lumOff val="5000"/>
                  </a:schemeClr>
                </a:solidFill>
              </a:rPr>
              <a:t>Check if the request came from a trusted domain.</a:t>
            </a:r>
          </a:p>
          <a:p>
            <a:pPr marL="457200" indent="-457200">
              <a:lnSpc>
                <a:spcPct val="100000"/>
              </a:lnSpc>
              <a:spcBef>
                <a:spcPts val="1800"/>
              </a:spcBef>
              <a:buFont typeface="Wingdings" panose="05000000000000000000" pitchFamily="2" charset="2"/>
              <a:buChar char="ü"/>
            </a:pPr>
            <a:r>
              <a:rPr lang="en-US" sz="2600" smtClean="0">
                <a:solidFill>
                  <a:srgbClr val="990000"/>
                </a:solidFill>
              </a:rPr>
              <a:t>Use </a:t>
            </a:r>
            <a:r>
              <a:rPr lang="en-US" sz="2600">
                <a:solidFill>
                  <a:srgbClr val="990000"/>
                </a:solidFill>
              </a:rPr>
              <a:t>HTTP-only cookies: </a:t>
            </a:r>
            <a:r>
              <a:rPr lang="en-US" sz="2600">
                <a:solidFill>
                  <a:schemeClr val="tx1">
                    <a:lumMod val="95000"/>
                    <a:lumOff val="5000"/>
                  </a:schemeClr>
                </a:solidFill>
              </a:rPr>
              <a:t>Prevent JavaScript from accessing cookies, reducing the attacker's ability to steal cookies.</a:t>
            </a:r>
          </a:p>
          <a:p>
            <a:pPr marL="457200" indent="-457200">
              <a:lnSpc>
                <a:spcPct val="100000"/>
              </a:lnSpc>
              <a:spcBef>
                <a:spcPts val="1800"/>
              </a:spcBef>
              <a:buFont typeface="Wingdings" panose="05000000000000000000" pitchFamily="2" charset="2"/>
              <a:buChar char="ü"/>
            </a:pPr>
            <a:r>
              <a:rPr lang="en-US" sz="2600" smtClean="0">
                <a:solidFill>
                  <a:srgbClr val="990000"/>
                </a:solidFill>
              </a:rPr>
              <a:t>Use </a:t>
            </a:r>
            <a:r>
              <a:rPr lang="en-US" sz="2600">
                <a:solidFill>
                  <a:srgbClr val="990000"/>
                </a:solidFill>
              </a:rPr>
              <a:t>SameSite cookies: </a:t>
            </a:r>
            <a:r>
              <a:rPr lang="en-US" sz="2600">
                <a:solidFill>
                  <a:schemeClr val="tx1">
                    <a:lumMod val="95000"/>
                    <a:lumOff val="5000"/>
                  </a:schemeClr>
                </a:solidFill>
              </a:rPr>
              <a:t>Restrict the browser from sending cookies along with cross-site requests.</a:t>
            </a:r>
          </a:p>
          <a:p>
            <a:pPr marL="457200" indent="-457200">
              <a:lnSpc>
                <a:spcPct val="100000"/>
              </a:lnSpc>
              <a:spcBef>
                <a:spcPts val="1800"/>
              </a:spcBef>
              <a:buFont typeface="Wingdings" panose="05000000000000000000" pitchFamily="2" charset="2"/>
              <a:buChar char="ü"/>
            </a:pPr>
            <a:r>
              <a:rPr lang="en-US" sz="2600" smtClean="0">
                <a:solidFill>
                  <a:srgbClr val="990000"/>
                </a:solidFill>
              </a:rPr>
              <a:t>Implement </a:t>
            </a:r>
            <a:r>
              <a:rPr lang="en-US" sz="2600">
                <a:solidFill>
                  <a:srgbClr val="990000"/>
                </a:solidFill>
              </a:rPr>
              <a:t>two-factor </a:t>
            </a:r>
            <a:r>
              <a:rPr lang="en-US" sz="2600" smtClean="0">
                <a:solidFill>
                  <a:srgbClr val="990000"/>
                </a:solidFill>
              </a:rPr>
              <a:t>authentication.</a:t>
            </a:r>
            <a:endParaRPr lang="en-US" sz="26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65470" y="6182484"/>
            <a:ext cx="1105145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>
                <a:hlinkClick r:id="rId3"/>
              </a:rPr>
              <a:t>https://learn.microsoft.com/en-us/aspnet/web-api/overview/security/preventing-cross-site-request-forgery-csrf-attacks</a:t>
            </a:r>
            <a:endParaRPr lang="en-GB" sz="1400"/>
          </a:p>
        </p:txBody>
      </p:sp>
    </p:spTree>
    <p:extLst>
      <p:ext uri="{BB962C8B-B14F-4D97-AF65-F5344CB8AC3E}">
        <p14:creationId xmlns:p14="http://schemas.microsoft.com/office/powerpoint/2010/main" val="1946392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2.5.2. </a:t>
            </a:r>
            <a:r>
              <a:rPr lang="en-US"/>
              <a:t>Prevent CSRF attack</a:t>
            </a:r>
            <a:endParaRPr lang="en-US">
              <a:solidFill>
                <a:srgbClr val="FF99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45807" y="844416"/>
            <a:ext cx="1120877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200" b="1" smtClean="0">
                <a:solidFill>
                  <a:srgbClr val="0033CC"/>
                </a:solidFill>
              </a:rPr>
              <a:t>a. Only </a:t>
            </a:r>
            <a:r>
              <a:rPr lang="en-GB" sz="2200" b="1">
                <a:solidFill>
                  <a:srgbClr val="0033CC"/>
                </a:solidFill>
              </a:rPr>
              <a:t>allow cookies to be sent within the same domain </a:t>
            </a:r>
            <a:r>
              <a:rPr lang="en-GB" sz="2200" b="1" smtClean="0">
                <a:solidFill>
                  <a:srgbClr val="0033CC"/>
                </a:solidFill>
              </a:rPr>
              <a:t>(origin</a:t>
            </a:r>
            <a:r>
              <a:rPr lang="en-GB" sz="2200" b="1">
                <a:solidFill>
                  <a:srgbClr val="0033CC"/>
                </a:solidFill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255638" y="1672185"/>
            <a:ext cx="11602065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builder.Services.</a:t>
            </a:r>
            <a:r>
              <a:rPr lang="en-GB" sz="2200" smtClean="0">
                <a:solidFill>
                  <a:srgbClr val="990000"/>
                </a:solidFill>
                <a:latin typeface="Cascadia Mono" panose="020B0609020000020004" pitchFamily="49" charset="0"/>
              </a:rPr>
              <a:t>Configure</a:t>
            </a:r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GB" sz="2200" smtClean="0">
                <a:solidFill>
                  <a:srgbClr val="0099CC"/>
                </a:solidFill>
                <a:latin typeface="Cascadia Mono" panose="020B0609020000020004" pitchFamily="49" charset="0"/>
              </a:rPr>
              <a:t>CookiePolicyOptions</a:t>
            </a:r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&gt;(options =&gt;</a:t>
            </a:r>
          </a:p>
          <a:p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en-GB" sz="220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GB" sz="2200">
                <a:solidFill>
                  <a:srgbClr val="000000"/>
                </a:solidFill>
                <a:latin typeface="Cascadia Mono" panose="020B0609020000020004" pitchFamily="49" charset="0"/>
              </a:rPr>
              <a:t>    options.MinimumSameSitePolicy = </a:t>
            </a:r>
            <a:r>
              <a:rPr lang="en-GB" sz="2200">
                <a:solidFill>
                  <a:srgbClr val="0099CC"/>
                </a:solidFill>
                <a:latin typeface="Cascadia Mono" panose="020B0609020000020004" pitchFamily="49" charset="0"/>
              </a:rPr>
              <a:t>SameSiteMode</a:t>
            </a:r>
            <a:r>
              <a:rPr lang="en-GB" sz="2200">
                <a:solidFill>
                  <a:srgbClr val="000000"/>
                </a:solidFill>
                <a:latin typeface="Cascadia Mono" panose="020B0609020000020004" pitchFamily="49" charset="0"/>
              </a:rPr>
              <a:t>.Strict;    </a:t>
            </a:r>
          </a:p>
          <a:p>
            <a:r>
              <a:rPr lang="en-GB" sz="2200">
                <a:solidFill>
                  <a:srgbClr val="000000"/>
                </a:solidFill>
                <a:latin typeface="Cascadia Mono" panose="020B0609020000020004" pitchFamily="49" charset="0"/>
              </a:rPr>
              <a:t>});</a:t>
            </a:r>
          </a:p>
          <a:p>
            <a:endParaRPr lang="en-GB" sz="220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builder.Services.</a:t>
            </a:r>
            <a:r>
              <a:rPr lang="en-GB" sz="2200" smtClean="0">
                <a:solidFill>
                  <a:srgbClr val="990000"/>
                </a:solidFill>
                <a:latin typeface="Cascadia Mono" panose="020B0609020000020004" pitchFamily="49" charset="0"/>
              </a:rPr>
              <a:t>AddControllersWithViews</a:t>
            </a:r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(options </a:t>
            </a:r>
            <a:r>
              <a:rPr lang="en-GB" sz="2200">
                <a:solidFill>
                  <a:srgbClr val="000000"/>
                </a:solidFill>
                <a:latin typeface="Cascadia Mono" panose="020B0609020000020004" pitchFamily="49" charset="0"/>
              </a:rPr>
              <a:t>=&gt;</a:t>
            </a:r>
          </a:p>
          <a:p>
            <a:r>
              <a:rPr lang="en-GB" sz="220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GB" sz="2200">
                <a:solidFill>
                  <a:srgbClr val="000000"/>
                </a:solidFill>
                <a:latin typeface="Cascadia Mono" panose="020B0609020000020004" pitchFamily="49" charset="0"/>
              </a:rPr>
              <a:t>    options.Filters.</a:t>
            </a:r>
            <a:r>
              <a:rPr lang="en-GB" sz="2200">
                <a:solidFill>
                  <a:srgbClr val="990000"/>
                </a:solidFill>
                <a:latin typeface="Cascadia Mono" panose="020B0609020000020004" pitchFamily="49" charset="0"/>
              </a:rPr>
              <a:t>Add</a:t>
            </a:r>
            <a:r>
              <a:rPr lang="en-GB" sz="220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GB" sz="220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GB" sz="22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2200">
                <a:solidFill>
                  <a:srgbClr val="0099CC"/>
                </a:solidFill>
                <a:latin typeface="Cascadia Mono" panose="020B0609020000020004" pitchFamily="49" charset="0"/>
              </a:rPr>
              <a:t>AutoValidateAntiforgeryTokenAttribute</a:t>
            </a:r>
            <a:r>
              <a:rPr lang="en-GB" sz="2200">
                <a:solidFill>
                  <a:srgbClr val="000000"/>
                </a:solidFill>
                <a:latin typeface="Cascadia Mono" panose="020B0609020000020004" pitchFamily="49" charset="0"/>
              </a:rPr>
              <a:t>());</a:t>
            </a:r>
          </a:p>
          <a:p>
            <a:r>
              <a:rPr lang="en-GB" sz="2200">
                <a:solidFill>
                  <a:srgbClr val="000000"/>
                </a:solidFill>
                <a:latin typeface="Cascadia Mono" panose="020B0609020000020004" pitchFamily="49" charset="0"/>
              </a:rPr>
              <a:t>});</a:t>
            </a:r>
          </a:p>
          <a:p>
            <a:endParaRPr lang="en-GB" sz="220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builder.Services.</a:t>
            </a:r>
            <a:r>
              <a:rPr lang="en-GB" sz="2200" smtClean="0">
                <a:solidFill>
                  <a:srgbClr val="990000"/>
                </a:solidFill>
                <a:latin typeface="Cascadia Mono" panose="020B0609020000020004" pitchFamily="49" charset="0"/>
              </a:rPr>
              <a:t>AddAntiforgery</a:t>
            </a:r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(options </a:t>
            </a:r>
            <a:r>
              <a:rPr lang="en-GB" sz="2200">
                <a:solidFill>
                  <a:srgbClr val="000000"/>
                </a:solidFill>
                <a:latin typeface="Cascadia Mono" panose="020B0609020000020004" pitchFamily="49" charset="0"/>
              </a:rPr>
              <a:t>=&gt;</a:t>
            </a:r>
          </a:p>
          <a:p>
            <a:r>
              <a:rPr lang="en-GB" sz="220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GB" sz="2200">
                <a:solidFill>
                  <a:srgbClr val="000000"/>
                </a:solidFill>
                <a:latin typeface="Cascadia Mono" panose="020B0609020000020004" pitchFamily="49" charset="0"/>
              </a:rPr>
              <a:t>    options.HeaderName = </a:t>
            </a:r>
            <a:r>
              <a:rPr lang="en-GB" sz="2200" smtClean="0">
                <a:solidFill>
                  <a:srgbClr val="A31515"/>
                </a:solidFill>
                <a:latin typeface="Cascadia Mono" panose="020B0609020000020004" pitchFamily="49" charset="0"/>
              </a:rPr>
              <a:t>"X-CSRF-TOKEN"</a:t>
            </a:r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GB" sz="2000" smtClean="0">
                <a:solidFill>
                  <a:srgbClr val="008000"/>
                </a:solidFill>
                <a:latin typeface="Cascadia Mono" panose="020B0609020000020004" pitchFamily="49" charset="0"/>
              </a:rPr>
              <a:t>//Client must using this name</a:t>
            </a:r>
            <a:endParaRPr lang="en-GB" sz="200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GB" sz="2200" smtClean="0">
                <a:solidFill>
                  <a:srgbClr val="000000"/>
                </a:solidFill>
                <a:latin typeface="Cascadia Mono" panose="020B0609020000020004" pitchFamily="49" charset="0"/>
              </a:rPr>
              <a:t>});</a:t>
            </a:r>
            <a:endParaRPr lang="en-GB" sz="220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6879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2.5.2. </a:t>
            </a:r>
            <a:r>
              <a:rPr lang="en-US"/>
              <a:t>Prevent CSRF attack</a:t>
            </a:r>
            <a:endParaRPr lang="en-US">
              <a:solidFill>
                <a:srgbClr val="FF99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496231" y="97162"/>
            <a:ext cx="699073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200" b="1">
                <a:solidFill>
                  <a:srgbClr val="FF0000"/>
                </a:solidFill>
              </a:rPr>
              <a:t>b. Use </a:t>
            </a:r>
            <a:r>
              <a:rPr lang="en-GB" sz="2200"/>
              <a:t>[</a:t>
            </a:r>
            <a:r>
              <a:rPr lang="en-GB" sz="2200">
                <a:solidFill>
                  <a:srgbClr val="0099CC"/>
                </a:solidFill>
              </a:rPr>
              <a:t>ValidateAntiForgeryToken</a:t>
            </a:r>
            <a:r>
              <a:rPr lang="en-GB" sz="2200"/>
              <a:t>] </a:t>
            </a:r>
            <a:r>
              <a:rPr lang="en-GB" sz="2200" smtClean="0"/>
              <a:t>in controllers</a:t>
            </a:r>
            <a:endParaRPr lang="en-GB" sz="2200"/>
          </a:p>
        </p:txBody>
      </p:sp>
      <p:sp>
        <p:nvSpPr>
          <p:cNvPr id="7" name="Rectangle 6"/>
          <p:cNvSpPr/>
          <p:nvPr/>
        </p:nvSpPr>
        <p:spPr>
          <a:xfrm>
            <a:off x="4326193" y="3974124"/>
            <a:ext cx="738402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>
                <a:solidFill>
                  <a:srgbClr val="0000FF"/>
                </a:solidFill>
              </a:rPr>
              <a:t>public</a:t>
            </a:r>
            <a:r>
              <a:rPr lang="en-GB" sz="2000"/>
              <a:t> </a:t>
            </a:r>
            <a:r>
              <a:rPr lang="en-GB" sz="2000">
                <a:solidFill>
                  <a:srgbClr val="0000FF"/>
                </a:solidFill>
              </a:rPr>
              <a:t>class</a:t>
            </a:r>
            <a:r>
              <a:rPr lang="en-GB" sz="2000"/>
              <a:t> MyController : </a:t>
            </a:r>
            <a:r>
              <a:rPr lang="en-GB" sz="2000">
                <a:solidFill>
                  <a:srgbClr val="0000FF"/>
                </a:solidFill>
              </a:rPr>
              <a:t>Controller</a:t>
            </a:r>
          </a:p>
          <a:p>
            <a:r>
              <a:rPr lang="en-GB" sz="2000"/>
              <a:t>{</a:t>
            </a:r>
          </a:p>
          <a:p>
            <a:r>
              <a:rPr lang="en-GB" sz="2000"/>
              <a:t>    [</a:t>
            </a:r>
            <a:r>
              <a:rPr lang="en-GB" sz="2000">
                <a:solidFill>
                  <a:srgbClr val="0099CC"/>
                </a:solidFill>
              </a:rPr>
              <a:t>HttpPost</a:t>
            </a:r>
            <a:r>
              <a:rPr lang="en-GB" sz="2000" smtClean="0"/>
              <a:t>]  </a:t>
            </a:r>
            <a:r>
              <a:rPr lang="en-GB" sz="2000"/>
              <a:t>[</a:t>
            </a:r>
            <a:r>
              <a:rPr lang="en-GB" sz="2000">
                <a:solidFill>
                  <a:srgbClr val="0099CC"/>
                </a:solidFill>
              </a:rPr>
              <a:t>ValidateAntiForgeryToken</a:t>
            </a:r>
            <a:r>
              <a:rPr lang="en-GB" sz="2000"/>
              <a:t>]</a:t>
            </a:r>
          </a:p>
          <a:p>
            <a:r>
              <a:rPr lang="en-GB" sz="2000"/>
              <a:t>    </a:t>
            </a:r>
            <a:r>
              <a:rPr lang="en-GB" sz="2000">
                <a:solidFill>
                  <a:srgbClr val="0000FF"/>
                </a:solidFill>
              </a:rPr>
              <a:t>public</a:t>
            </a:r>
            <a:r>
              <a:rPr lang="en-GB" sz="2000"/>
              <a:t> </a:t>
            </a:r>
            <a:r>
              <a:rPr lang="en-GB" sz="2000">
                <a:solidFill>
                  <a:srgbClr val="990000"/>
                </a:solidFill>
              </a:rPr>
              <a:t>IActionResult</a:t>
            </a:r>
            <a:r>
              <a:rPr lang="en-GB" sz="2000"/>
              <a:t> </a:t>
            </a:r>
            <a:r>
              <a:rPr lang="en-GB" sz="2000" smtClean="0"/>
              <a:t>Create([</a:t>
            </a:r>
            <a:r>
              <a:rPr lang="en-GB" sz="2000" smtClean="0">
                <a:solidFill>
                  <a:srgbClr val="0099CC"/>
                </a:solidFill>
              </a:rPr>
              <a:t>FromBody</a:t>
            </a:r>
            <a:r>
              <a:rPr lang="en-GB" sz="2000" smtClean="0"/>
              <a:t>] </a:t>
            </a:r>
            <a:r>
              <a:rPr lang="en-GB" sz="2000" smtClean="0">
                <a:solidFill>
                  <a:srgbClr val="0099CC"/>
                </a:solidFill>
              </a:rPr>
              <a:t>Account</a:t>
            </a:r>
            <a:r>
              <a:rPr lang="en-GB" sz="2000" smtClean="0"/>
              <a:t> model)</a:t>
            </a:r>
            <a:endParaRPr lang="en-GB" sz="2000"/>
          </a:p>
          <a:p>
            <a:r>
              <a:rPr lang="en-GB" sz="2000"/>
              <a:t>    {</a:t>
            </a:r>
          </a:p>
          <a:p>
            <a:r>
              <a:rPr lang="en-GB" sz="2000" smtClean="0">
                <a:solidFill>
                  <a:srgbClr val="0000FF"/>
                </a:solidFill>
              </a:rPr>
              <a:t>	return</a:t>
            </a:r>
            <a:r>
              <a:rPr lang="en-GB" sz="2000" smtClean="0"/>
              <a:t> Ok(</a:t>
            </a:r>
            <a:r>
              <a:rPr lang="en-GB" sz="2000"/>
              <a:t>model</a:t>
            </a:r>
            <a:r>
              <a:rPr lang="en-GB" sz="2000" smtClean="0"/>
              <a:t>);</a:t>
            </a:r>
            <a:endParaRPr lang="en-GB" sz="2000"/>
          </a:p>
          <a:p>
            <a:r>
              <a:rPr lang="en-GB" sz="2000"/>
              <a:t>    }</a:t>
            </a:r>
          </a:p>
          <a:p>
            <a:r>
              <a:rPr lang="en-GB" sz="2000"/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285137" y="853059"/>
            <a:ext cx="8091948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[Route(</a:t>
            </a:r>
            <a:r>
              <a:rPr lang="en-GB" sz="2000">
                <a:solidFill>
                  <a:srgbClr val="A31515"/>
                </a:solidFill>
                <a:latin typeface="Cascadia Mono" panose="020B0609020000020004" pitchFamily="49" charset="0"/>
              </a:rPr>
              <a:t>"[controller]/[action]"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), </a:t>
            </a:r>
            <a:r>
              <a:rPr lang="en-GB" sz="2000">
                <a:solidFill>
                  <a:srgbClr val="0099CC"/>
                </a:solidFill>
                <a:latin typeface="Cascadia Mono" panose="020B0609020000020004" pitchFamily="49" charset="0"/>
              </a:rPr>
              <a:t>ApiController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  <a:p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[</a:t>
            </a:r>
            <a:r>
              <a:rPr lang="en-GB" sz="2000">
                <a:solidFill>
                  <a:srgbClr val="0099CC"/>
                </a:solidFill>
                <a:latin typeface="Cascadia Mono" panose="020B0609020000020004" pitchFamily="49" charset="0"/>
              </a:rPr>
              <a:t>ValidateAntiForgeryToken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  <a:p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200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200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2000">
                <a:solidFill>
                  <a:srgbClr val="2B91AF"/>
                </a:solidFill>
                <a:latin typeface="Cascadia Mono" panose="020B0609020000020004" pitchFamily="49" charset="0"/>
              </a:rPr>
              <a:t>AuthController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: ControllerBase</a:t>
            </a:r>
          </a:p>
          <a:p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</a:p>
          <a:p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GB" sz="2000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2000">
                <a:solidFill>
                  <a:srgbClr val="0000FF"/>
                </a:solidFill>
                <a:latin typeface="Cascadia Mono" panose="020B0609020000020004" pitchFamily="49" charset="0"/>
              </a:rPr>
              <a:t>readonly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IAuthService _authService;</a:t>
            </a:r>
          </a:p>
          <a:p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GB" sz="200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2000">
                <a:solidFill>
                  <a:srgbClr val="2B91AF"/>
                </a:solidFill>
                <a:latin typeface="Cascadia Mono" panose="020B0609020000020004" pitchFamily="49" charset="0"/>
              </a:rPr>
              <a:t>AuthController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(IAuthService authService)</a:t>
            </a:r>
          </a:p>
          <a:p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    {</a:t>
            </a:r>
          </a:p>
          <a:p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        _authService = authService;</a:t>
            </a:r>
          </a:p>
          <a:p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en-US" sz="200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1716018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37160" y="122011"/>
            <a:ext cx="11907356" cy="594995"/>
          </a:xfrm>
        </p:spPr>
        <p:txBody>
          <a:bodyPr>
            <a:normAutofit/>
          </a:bodyPr>
          <a:lstStyle/>
          <a:p>
            <a:r>
              <a:rPr lang="en-US" smtClean="0"/>
              <a:t>2.5.2. </a:t>
            </a:r>
            <a:r>
              <a:rPr lang="en-US"/>
              <a:t>Prevent CSRF attack</a:t>
            </a:r>
            <a:endParaRPr lang="en-US">
              <a:solidFill>
                <a:srgbClr val="FF99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7148050" y="126658"/>
            <a:ext cx="504395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200" smtClean="0"/>
              <a:t>c. </a:t>
            </a:r>
            <a:r>
              <a:rPr lang="en-GB" sz="2200"/>
              <a:t>Use </a:t>
            </a:r>
            <a:r>
              <a:rPr lang="en-GB" sz="2200" smtClean="0"/>
              <a:t>in Post Forms</a:t>
            </a:r>
            <a:endParaRPr lang="en-GB" sz="2200"/>
          </a:p>
        </p:txBody>
      </p:sp>
      <p:sp>
        <p:nvSpPr>
          <p:cNvPr id="2" name="Rectangle 1"/>
          <p:cNvSpPr/>
          <p:nvPr/>
        </p:nvSpPr>
        <p:spPr>
          <a:xfrm>
            <a:off x="580103" y="909002"/>
            <a:ext cx="11120284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>
                <a:solidFill>
                  <a:srgbClr val="800000"/>
                </a:solidFill>
                <a:latin typeface="Cascadia Mono" panose="020B0609020000020004" pitchFamily="49" charset="0"/>
              </a:rPr>
              <a:t>form</a:t>
            </a: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>
                <a:solidFill>
                  <a:srgbClr val="FF0000"/>
                </a:solidFill>
                <a:latin typeface="Cascadia Mono" panose="020B0609020000020004" pitchFamily="49" charset="0"/>
              </a:rPr>
              <a:t>method</a:t>
            </a:r>
            <a:r>
              <a:rPr lang="en-US">
                <a:solidFill>
                  <a:srgbClr val="0000FF"/>
                </a:solidFill>
                <a:latin typeface="Cascadia Mono" panose="020B0609020000020004" pitchFamily="49" charset="0"/>
              </a:rPr>
              <a:t>="post"</a:t>
            </a: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>
                <a:solidFill>
                  <a:srgbClr val="FF0000"/>
                </a:solidFill>
                <a:latin typeface="Cascadia Mono" panose="020B0609020000020004" pitchFamily="49" charset="0"/>
              </a:rPr>
              <a:t>asp-controller</a:t>
            </a:r>
            <a:r>
              <a:rPr lang="en-US">
                <a:solidFill>
                  <a:srgbClr val="0000FF"/>
                </a:solidFill>
                <a:latin typeface="Cascadia Mono" panose="020B0609020000020004" pitchFamily="49" charset="0"/>
              </a:rPr>
              <a:t>="Account"</a:t>
            </a: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>
                <a:solidFill>
                  <a:srgbClr val="FF0000"/>
                </a:solidFill>
                <a:latin typeface="Cascadia Mono" panose="020B0609020000020004" pitchFamily="49" charset="0"/>
              </a:rPr>
              <a:t>asp-action</a:t>
            </a:r>
            <a:r>
              <a:rPr lang="en-US">
                <a:solidFill>
                  <a:srgbClr val="0000FF"/>
                </a:solidFill>
                <a:latin typeface="Cascadia Mono" panose="020B0609020000020004" pitchFamily="49" charset="0"/>
              </a:rPr>
              <a:t>="TransferMoney"&gt;</a:t>
            </a: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GB">
                <a:solidFill>
                  <a:srgbClr val="006400"/>
                </a:solidFill>
                <a:latin typeface="Cascadia Mono" panose="020B0609020000020004" pitchFamily="49" charset="0"/>
              </a:rPr>
              <a:t>&lt;!-- </a:t>
            </a:r>
            <a:r>
              <a:rPr lang="en-GB" smtClean="0">
                <a:solidFill>
                  <a:srgbClr val="006400"/>
                </a:solidFill>
                <a:latin typeface="Cascadia Mono" panose="020B0609020000020004" pitchFamily="49" charset="0"/>
              </a:rPr>
              <a:t>Add </a:t>
            </a:r>
            <a:r>
              <a:rPr lang="en-GB">
                <a:solidFill>
                  <a:srgbClr val="006400"/>
                </a:solidFill>
                <a:latin typeface="Cascadia Mono" panose="020B0609020000020004" pitchFamily="49" charset="0"/>
              </a:rPr>
              <a:t>CSRF Token </a:t>
            </a:r>
            <a:r>
              <a:rPr lang="en-GB" smtClean="0">
                <a:solidFill>
                  <a:srgbClr val="006400"/>
                </a:solidFill>
                <a:latin typeface="Cascadia Mono" panose="020B0609020000020004" pitchFamily="49" charset="0"/>
              </a:rPr>
              <a:t>into </a:t>
            </a:r>
            <a:r>
              <a:rPr lang="en-GB">
                <a:solidFill>
                  <a:srgbClr val="006400"/>
                </a:solidFill>
                <a:latin typeface="Cascadia Mono" panose="020B0609020000020004" pitchFamily="49" charset="0"/>
              </a:rPr>
              <a:t>form --&gt;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GB"/>
              <a:t>@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Html.</a:t>
            </a:r>
            <a:r>
              <a:rPr lang="en-GB">
                <a:solidFill>
                  <a:srgbClr val="C00000"/>
                </a:solidFill>
                <a:latin typeface="Cascadia Mono" panose="020B0609020000020004" pitchFamily="49" charset="0"/>
              </a:rPr>
              <a:t>AntiForgeryToken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>
                <a:solidFill>
                  <a:srgbClr val="800000"/>
                </a:solidFill>
                <a:latin typeface="Cascadia Mono" panose="020B0609020000020004" pitchFamily="49" charset="0"/>
              </a:rPr>
              <a:t>input</a:t>
            </a: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>
                <a:solidFill>
                  <a:srgbClr val="FF0000"/>
                </a:solidFill>
                <a:latin typeface="Cascadia Mono" panose="020B0609020000020004" pitchFamily="49" charset="0"/>
              </a:rPr>
              <a:t>type</a:t>
            </a:r>
            <a:r>
              <a:rPr lang="en-US">
                <a:solidFill>
                  <a:srgbClr val="0000FF"/>
                </a:solidFill>
                <a:latin typeface="Cascadia Mono" panose="020B0609020000020004" pitchFamily="49" charset="0"/>
              </a:rPr>
              <a:t>="text"</a:t>
            </a: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>
                <a:solidFill>
                  <a:srgbClr val="FF0000"/>
                </a:solidFill>
                <a:latin typeface="Cascadia Mono" panose="020B0609020000020004" pitchFamily="49" charset="0"/>
              </a:rPr>
              <a:t>name</a:t>
            </a:r>
            <a:r>
              <a:rPr lang="en-US">
                <a:solidFill>
                  <a:srgbClr val="0000FF"/>
                </a:solidFill>
                <a:latin typeface="Cascadia Mono" panose="020B0609020000020004" pitchFamily="49" charset="0"/>
              </a:rPr>
              <a:t>="amount"</a:t>
            </a: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>
                <a:solidFill>
                  <a:srgbClr val="0000FF"/>
                </a:solidFill>
                <a:latin typeface="Cascadia Mono" panose="020B0609020000020004" pitchFamily="49" charset="0"/>
              </a:rPr>
              <a:t>/&gt;</a:t>
            </a:r>
          </a:p>
          <a:p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>
                <a:solidFill>
                  <a:srgbClr val="800000"/>
                </a:solidFill>
                <a:latin typeface="Cascadia Mono" panose="020B0609020000020004" pitchFamily="49" charset="0"/>
              </a:rPr>
              <a:t>button</a:t>
            </a: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>
                <a:solidFill>
                  <a:srgbClr val="FF0000"/>
                </a:solidFill>
                <a:latin typeface="Cascadia Mono" panose="020B0609020000020004" pitchFamily="49" charset="0"/>
              </a:rPr>
              <a:t>type</a:t>
            </a:r>
            <a:r>
              <a:rPr lang="en-US">
                <a:solidFill>
                  <a:srgbClr val="0000FF"/>
                </a:solidFill>
                <a:latin typeface="Cascadia Mono" panose="020B0609020000020004" pitchFamily="49" charset="0"/>
              </a:rPr>
              <a:t>="submit"&gt;</a:t>
            </a: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Transfer</a:t>
            </a:r>
            <a:r>
              <a:rPr lang="en-US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>
                <a:solidFill>
                  <a:srgbClr val="800000"/>
                </a:solidFill>
                <a:latin typeface="Cascadia Mono" panose="020B0609020000020004" pitchFamily="49" charset="0"/>
              </a:rPr>
              <a:t>button</a:t>
            </a:r>
            <a:r>
              <a:rPr lang="en-US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GB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GB">
                <a:solidFill>
                  <a:srgbClr val="800000"/>
                </a:solidFill>
                <a:latin typeface="Cascadia Mono" panose="020B0609020000020004" pitchFamily="49" charset="0"/>
              </a:rPr>
              <a:t>form</a:t>
            </a:r>
            <a:r>
              <a:rPr lang="en-GB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383458" y="2954618"/>
            <a:ext cx="1095313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$.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ajax({</a:t>
            </a: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    url: </a:t>
            </a:r>
            <a:r>
              <a:rPr lang="en-GB">
                <a:solidFill>
                  <a:srgbClr val="A31515"/>
                </a:solidFill>
                <a:latin typeface="Cascadia Mono" panose="020B0609020000020004" pitchFamily="49" charset="0"/>
              </a:rPr>
              <a:t>"/api/account/transfer"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    type: </a:t>
            </a:r>
            <a:r>
              <a:rPr lang="en-GB">
                <a:solidFill>
                  <a:srgbClr val="A31515"/>
                </a:solidFill>
                <a:latin typeface="Cascadia Mono" panose="020B0609020000020004" pitchFamily="49" charset="0"/>
              </a:rPr>
              <a:t>"POST"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    headers: {</a:t>
            </a: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        'Content-Type': </a:t>
            </a:r>
            <a:r>
              <a:rPr lang="en-GB">
                <a:solidFill>
                  <a:srgbClr val="A31515"/>
                </a:solidFill>
                <a:latin typeface="Cascadia Mono" panose="020B0609020000020004" pitchFamily="49" charset="0"/>
              </a:rPr>
              <a:t>'application/json'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>
                <a:solidFill>
                  <a:srgbClr val="008000"/>
                </a:solidFill>
                <a:latin typeface="Cascadia Mono" panose="020B0609020000020004" pitchFamily="49" charset="0"/>
              </a:rPr>
              <a:t>// get CSRF token from form</a:t>
            </a:r>
            <a:endParaRPr lang="en-US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        "X-CSRF-TOKEN": $(</a:t>
            </a:r>
            <a:r>
              <a:rPr lang="en-GB">
                <a:solidFill>
                  <a:srgbClr val="A31515"/>
                </a:solidFill>
                <a:latin typeface="Cascadia Mono" panose="020B0609020000020004" pitchFamily="49" charset="0"/>
              </a:rPr>
              <a:t>'input[name="__RequestVerificationToken"]'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).val()  </a:t>
            </a: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    },</a:t>
            </a: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    data: { amount: 100 },</a:t>
            </a: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    success: </a:t>
            </a:r>
            <a:r>
              <a:rPr lang="en-GB">
                <a:solidFill>
                  <a:srgbClr val="0000FF"/>
                </a:solidFill>
                <a:latin typeface="Cascadia Mono" panose="020B0609020000020004" pitchFamily="49" charset="0"/>
              </a:rPr>
              <a:t>function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(response) {</a:t>
            </a: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GB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.log(response);</a:t>
            </a: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GB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});</a:t>
            </a:r>
            <a:endParaRPr lang="en-GB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38653" y="6095689"/>
            <a:ext cx="39549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mtClean="0">
                <a:solidFill>
                  <a:srgbClr val="000000"/>
                </a:solidFill>
                <a:latin typeface="Cascadia Mono" panose="020B0609020000020004" pitchFamily="49" charset="0"/>
              </a:rPr>
              <a:t>X-CSRF-TOKEN" is HeaderName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1489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37160" y="122011"/>
            <a:ext cx="11907356" cy="594995"/>
          </a:xfrm>
        </p:spPr>
        <p:txBody>
          <a:bodyPr>
            <a:normAutofit/>
          </a:bodyPr>
          <a:lstStyle/>
          <a:p>
            <a:r>
              <a:rPr lang="en-US" smtClean="0"/>
              <a:t>2.5.2. </a:t>
            </a:r>
            <a:r>
              <a:rPr lang="en-US"/>
              <a:t>Prevent CSRF attack</a:t>
            </a:r>
            <a:endParaRPr lang="en-US">
              <a:solidFill>
                <a:srgbClr val="FF99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7698656" y="136490"/>
            <a:ext cx="431636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200"/>
              <a:t>d. </a:t>
            </a:r>
            <a:r>
              <a:rPr lang="en-GB" sz="2200" smtClean="0"/>
              <a:t>Generate </a:t>
            </a:r>
            <a:r>
              <a:rPr lang="en-GB" sz="2200"/>
              <a:t>CSRF token 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18473"/>
            <a:ext cx="11326763" cy="5786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200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200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2000">
                <a:solidFill>
                  <a:srgbClr val="2B91AF"/>
                </a:solidFill>
                <a:latin typeface="Cascadia Mono" panose="020B0609020000020004" pitchFamily="49" charset="0"/>
              </a:rPr>
              <a:t>MyController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: Controller</a:t>
            </a:r>
          </a:p>
          <a:p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GB" sz="2000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2000">
                <a:solidFill>
                  <a:srgbClr val="0000FF"/>
                </a:solidFill>
                <a:latin typeface="Cascadia Mono" panose="020B0609020000020004" pitchFamily="49" charset="0"/>
              </a:rPr>
              <a:t>readonly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IAntiforgery _antiforgery</a:t>
            </a: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endParaRPr lang="en-GB" sz="200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GB" sz="200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2000">
                <a:solidFill>
                  <a:srgbClr val="2B91AF"/>
                </a:solidFill>
                <a:latin typeface="Cascadia Mono" panose="020B0609020000020004" pitchFamily="49" charset="0"/>
              </a:rPr>
              <a:t>MyController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(IAntiforgery antiforgery)</a:t>
            </a:r>
          </a:p>
          <a:p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           _antiforgery = antiforgery;</a:t>
            </a:r>
          </a:p>
          <a:p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endParaRPr lang="en-GB" sz="200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       [</a:t>
            </a:r>
            <a:r>
              <a:rPr lang="en-GB" sz="2000">
                <a:solidFill>
                  <a:srgbClr val="0099CC"/>
                </a:solidFill>
                <a:latin typeface="Cascadia Mono" panose="020B0609020000020004" pitchFamily="49" charset="0"/>
              </a:rPr>
              <a:t>HttpGet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  <a:p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GB" sz="200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IActionResult GetForm()</a:t>
            </a:r>
          </a:p>
          <a:p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000" smtClean="0"/>
              <a:t>		</a:t>
            </a:r>
            <a:r>
              <a:rPr lang="en-US" sz="2000" smtClean="0">
                <a:solidFill>
                  <a:srgbClr val="008000"/>
                </a:solidFill>
              </a:rPr>
              <a:t>// Generate </a:t>
            </a:r>
            <a:r>
              <a:rPr lang="en-US" sz="2000">
                <a:solidFill>
                  <a:srgbClr val="008000"/>
                </a:solidFill>
              </a:rPr>
              <a:t>CSRF token and save it to cookie</a:t>
            </a:r>
            <a:endParaRPr lang="en-GB" sz="2000">
              <a:solidFill>
                <a:srgbClr val="008000"/>
              </a:solidFill>
              <a:latin typeface="Cascadia Mono" panose="020B0609020000020004" pitchFamily="49" charset="0"/>
            </a:endParaRPr>
          </a:p>
          <a:p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GB" sz="2000" smtClean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tokens = _antiforgery.GetAndStoreTokens(HttpContext</a:t>
            </a: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ViewData[</a:t>
            </a:r>
            <a:r>
              <a:rPr lang="en-GB" sz="2000" smtClean="0">
                <a:solidFill>
                  <a:srgbClr val="A31515"/>
                </a:solidFill>
                <a:latin typeface="Cascadia Mono" panose="020B0609020000020004" pitchFamily="49" charset="0"/>
              </a:rPr>
              <a:t>"CSRFToken"</a:t>
            </a: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] = tokens.RequestToken; </a:t>
            </a:r>
          </a:p>
          <a:p>
            <a:pPr>
              <a:spcBef>
                <a:spcPts val="1200"/>
              </a:spcBef>
            </a:pP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</a:t>
            </a:r>
            <a:r>
              <a:rPr lang="en-GB" sz="2000" smtClean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View</a:t>
            </a:r>
            <a:r>
              <a:rPr lang="en-GB" sz="2000" smtClean="0">
                <a:solidFill>
                  <a:srgbClr val="000000"/>
                </a:solidFill>
                <a:latin typeface="Cascadia Mono" panose="020B0609020000020004" pitchFamily="49" charset="0"/>
              </a:rPr>
              <a:t>(); </a:t>
            </a:r>
            <a:endParaRPr lang="en-GB" sz="200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GB" sz="200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3059157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3763875" y="1350934"/>
            <a:ext cx="5311298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375" y="235090"/>
            <a:ext cx="481961" cy="111221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FD2705F-8A3F-43FB-B599-CD432A022700}"/>
              </a:ext>
            </a:extLst>
          </p:cNvPr>
          <p:cNvSpPr txBox="1"/>
          <p:nvPr/>
        </p:nvSpPr>
        <p:spPr>
          <a:xfrm>
            <a:off x="3667432" y="680948"/>
            <a:ext cx="62238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smtClean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API </a:t>
            </a:r>
            <a:r>
              <a:rPr lang="en-US" sz="4000" b="1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Security Solutions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7DE2944F-AE04-492A-BB15-9E9B6DBB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920AF-2440-4552-8F7A-6F88C8FE507A}" type="slidenum">
              <a:rPr lang="en-US" sz="1000" smtClean="0"/>
              <a:pPr/>
              <a:t>61</a:t>
            </a:fld>
            <a:endParaRPr lang="en-US" sz="1000"/>
          </a:p>
        </p:txBody>
      </p:sp>
      <p:grpSp>
        <p:nvGrpSpPr>
          <p:cNvPr id="13" name="Group 17">
            <a:extLst>
              <a:ext uri="{FF2B5EF4-FFF2-40B4-BE49-F238E27FC236}">
                <a16:creationId xmlns:a16="http://schemas.microsoft.com/office/drawing/2014/main" id="{6080DA0D-484A-4C70-BB3A-D9040DBEAE59}"/>
              </a:ext>
            </a:extLst>
          </p:cNvPr>
          <p:cNvGrpSpPr>
            <a:grpSpLocks/>
          </p:cNvGrpSpPr>
          <p:nvPr/>
        </p:nvGrpSpPr>
        <p:grpSpPr bwMode="auto">
          <a:xfrm>
            <a:off x="536842" y="5690550"/>
            <a:ext cx="883826" cy="883301"/>
            <a:chOff x="2562" y="439"/>
            <a:chExt cx="1684" cy="1683"/>
          </a:xfrm>
        </p:grpSpPr>
        <p:sp>
          <p:nvSpPr>
            <p:cNvPr id="14" name="Oval 5">
              <a:extLst>
                <a:ext uri="{FF2B5EF4-FFF2-40B4-BE49-F238E27FC236}">
                  <a16:creationId xmlns:a16="http://schemas.microsoft.com/office/drawing/2014/main" id="{E4139574-C4EA-4556-ACDA-A76931EBDCA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562" y="439"/>
              <a:ext cx="1684" cy="1683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" name="Oval 6">
              <a:extLst>
                <a:ext uri="{FF2B5EF4-FFF2-40B4-BE49-F238E27FC236}">
                  <a16:creationId xmlns:a16="http://schemas.microsoft.com/office/drawing/2014/main" id="{0F894546-4EC9-47C0-B71E-69BF9C0F13C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673" y="548"/>
              <a:ext cx="1461" cy="1463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54118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" name="Oval 7">
              <a:extLst>
                <a:ext uri="{FF2B5EF4-FFF2-40B4-BE49-F238E27FC236}">
                  <a16:creationId xmlns:a16="http://schemas.microsoft.com/office/drawing/2014/main" id="{7F8A18EB-028B-4904-82AC-271110A4EA8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685" y="536"/>
              <a:ext cx="1461" cy="146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63529"/>
                    <a:invGamma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3" name="Oval 8">
              <a:extLst>
                <a:ext uri="{FF2B5EF4-FFF2-40B4-BE49-F238E27FC236}">
                  <a16:creationId xmlns:a16="http://schemas.microsoft.com/office/drawing/2014/main" id="{75655967-7598-41D4-AD1E-3A8317F57AB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45" y="622"/>
              <a:ext cx="1317" cy="131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6" name="Oval 9">
              <a:extLst>
                <a:ext uri="{FF2B5EF4-FFF2-40B4-BE49-F238E27FC236}">
                  <a16:creationId xmlns:a16="http://schemas.microsoft.com/office/drawing/2014/main" id="{65267B8C-8F7A-483A-951E-B580A472232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66" y="643"/>
              <a:ext cx="1276" cy="1277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46275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7" name="Oval 10">
              <a:extLst>
                <a:ext uri="{FF2B5EF4-FFF2-40B4-BE49-F238E27FC236}">
                  <a16:creationId xmlns:a16="http://schemas.microsoft.com/office/drawing/2014/main" id="{A9AA3EC5-79DC-4B8D-AB98-769BCA68198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82" y="650"/>
              <a:ext cx="1246" cy="1246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D6E1E2">
                    <a:gamma/>
                    <a:tint val="34902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8" name="Oval 11">
              <a:extLst>
                <a:ext uri="{FF2B5EF4-FFF2-40B4-BE49-F238E27FC236}">
                  <a16:creationId xmlns:a16="http://schemas.microsoft.com/office/drawing/2014/main" id="{706F5677-482E-4BA0-962F-377CD39AFA7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96" y="662"/>
              <a:ext cx="1184" cy="1164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79216"/>
                    <a:invGamma/>
                  </a:srgbClr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9" name="Oval 12">
              <a:extLst>
                <a:ext uri="{FF2B5EF4-FFF2-40B4-BE49-F238E27FC236}">
                  <a16:creationId xmlns:a16="http://schemas.microsoft.com/office/drawing/2014/main" id="{252F8531-A078-4482-B2EE-FB90AD06E56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865" y="695"/>
              <a:ext cx="1053" cy="945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>
                    <a:alpha val="38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pic>
          <p:nvPicPr>
            <p:cNvPr id="30" name="Picture 13" descr="mark">
              <a:extLst>
                <a:ext uri="{FF2B5EF4-FFF2-40B4-BE49-F238E27FC236}">
                  <a16:creationId xmlns:a16="http://schemas.microsoft.com/office/drawing/2014/main" id="{EFA5FDD7-8288-46D9-A2A0-D844DBC1A7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4" y="793"/>
              <a:ext cx="1011" cy="1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F0C5823A-D2D1-41BC-9597-EDE8E6B8977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7168" y="5829096"/>
            <a:ext cx="578605" cy="674546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286910" y="1517960"/>
            <a:ext cx="7511799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smtClean="0"/>
              <a:t>2.1. </a:t>
            </a:r>
            <a:r>
              <a:rPr lang="en-US" sz="2600"/>
              <a:t>Input Validation and </a:t>
            </a:r>
            <a:r>
              <a:rPr lang="en-US" sz="2600" smtClean="0"/>
              <a:t>CORS </a:t>
            </a:r>
            <a:r>
              <a:rPr lang="en-US" sz="2000" smtClean="0"/>
              <a:t>(</a:t>
            </a:r>
            <a:r>
              <a:rPr lang="en-US" sz="2000"/>
              <a:t>Cross-Origin Requests</a:t>
            </a:r>
            <a:r>
              <a:rPr lang="en-US" sz="2000" smtClean="0"/>
              <a:t>)</a:t>
            </a:r>
            <a:r>
              <a:rPr lang="en-US" sz="2600"/>
              <a:t/>
            </a:r>
            <a:br>
              <a:rPr lang="en-US" sz="2600"/>
            </a:br>
            <a:r>
              <a:rPr lang="en-US" sz="2600" smtClean="0"/>
              <a:t>2.2. </a:t>
            </a:r>
            <a:r>
              <a:rPr lang="en-US" sz="2600"/>
              <a:t>Data </a:t>
            </a:r>
            <a:r>
              <a:rPr lang="en-US" sz="2600" smtClean="0"/>
              <a:t>Encryption</a:t>
            </a:r>
            <a:r>
              <a:rPr lang="en-US" sz="2600">
                <a:solidFill>
                  <a:srgbClr val="C00000"/>
                </a:solidFill>
              </a:rPr>
              <a:t/>
            </a:r>
            <a:br>
              <a:rPr lang="en-US" sz="2600">
                <a:solidFill>
                  <a:srgbClr val="C00000"/>
                </a:solidFill>
              </a:rPr>
            </a:br>
            <a:r>
              <a:rPr lang="en-US" sz="2600" smtClean="0"/>
              <a:t>2.3. </a:t>
            </a:r>
            <a:r>
              <a:rPr lang="en-US" sz="2600"/>
              <a:t>Authentication and Authorization</a:t>
            </a:r>
            <a:br>
              <a:rPr lang="en-US" sz="2600"/>
            </a:br>
            <a:r>
              <a:rPr lang="en-US" sz="2600" smtClean="0"/>
              <a:t>2.4. </a:t>
            </a:r>
            <a:r>
              <a:rPr lang="en-US" sz="2600"/>
              <a:t>Rate </a:t>
            </a:r>
            <a:r>
              <a:rPr lang="en-US" sz="2600" smtClean="0"/>
              <a:t>Limiting</a:t>
            </a:r>
          </a:p>
          <a:p>
            <a:pPr>
              <a:lnSpc>
                <a:spcPct val="150000"/>
              </a:lnSpc>
            </a:pPr>
            <a:r>
              <a:rPr lang="en-US" sz="260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2.5. Prevent XSS </a:t>
            </a:r>
            <a:r>
              <a:rPr lang="en-US" sz="2600">
                <a:solidFill>
                  <a:schemeClr val="tx1">
                    <a:lumMod val="75000"/>
                    <a:lumOff val="25000"/>
                  </a:schemeClr>
                </a:solidFill>
              </a:rPr>
              <a:t>(Cross-Site Scripting</a:t>
            </a:r>
            <a:r>
              <a:rPr lang="en-US" sz="260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sz="26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600">
                <a:solidFill>
                  <a:schemeClr val="tx1">
                    <a:lumMod val="75000"/>
                    <a:lumOff val="25000"/>
                  </a:schemeClr>
                </a:solidFill>
              </a:rPr>
              <a:t>2.6. </a:t>
            </a:r>
            <a:r>
              <a:rPr lang="en-US" sz="260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Prevent CSRF </a:t>
            </a:r>
            <a:r>
              <a:rPr lang="en-US" sz="2600">
                <a:solidFill>
                  <a:schemeClr val="tx1">
                    <a:lumMod val="75000"/>
                    <a:lumOff val="25000"/>
                  </a:schemeClr>
                </a:solidFill>
              </a:rPr>
              <a:t>(Cross-Site Request Forgery</a:t>
            </a:r>
            <a:r>
              <a:rPr lang="en-US" sz="260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r>
              <a:rPr lang="en-US" sz="260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60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600" smtClean="0">
                <a:solidFill>
                  <a:srgbClr val="C00000"/>
                </a:solidFill>
              </a:rPr>
              <a:t>2.7. </a:t>
            </a:r>
            <a:r>
              <a:rPr lang="en-US" sz="2600">
                <a:solidFill>
                  <a:srgbClr val="C00000"/>
                </a:solidFill>
              </a:rPr>
              <a:t>Using an API Firewall (API Gateway)</a:t>
            </a:r>
            <a:br>
              <a:rPr lang="en-US" sz="2600">
                <a:solidFill>
                  <a:srgbClr val="C00000"/>
                </a:solidFill>
              </a:rPr>
            </a:br>
            <a:endParaRPr lang="en-US" sz="260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4989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 xmlns:a14="http://schemas.microsoft.com/office/drawing/2010/main" xmlns:a16="http://schemas.microsoft.com/office/drawing/2014/main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2.7. </a:t>
            </a:r>
            <a:r>
              <a:rPr lang="en-US" smtClean="0"/>
              <a:t>Using an API </a:t>
            </a:r>
            <a:r>
              <a:rPr lang="en-US"/>
              <a:t>Firewall (API Gateway)</a:t>
            </a:r>
            <a:br>
              <a:rPr lang="en-US"/>
            </a:br>
            <a:endParaRPr lang="en-US">
              <a:solidFill>
                <a:srgbClr val="FF99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298" y="819985"/>
            <a:ext cx="11316927" cy="1756067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/>
              <a:t>API Firewall, also known as API Gateway, is a software that acts as a middleman between applications and external services. It serves as a security layer, controlling and managing all incoming and outgoing API requests.</a:t>
            </a:r>
            <a:endParaRPr lang="en-GB" sz="24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632" y="2877213"/>
            <a:ext cx="5289755" cy="327777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5497" y="2895277"/>
            <a:ext cx="5702710" cy="329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57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Database </a:t>
            </a:r>
            <a:r>
              <a:rPr lang="en-US"/>
              <a:t>for Subject</a:t>
            </a:r>
            <a:endParaRPr lang="en-GB" sz="2800">
              <a:solidFill>
                <a:srgbClr val="FFFF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63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30" y="748128"/>
            <a:ext cx="10885714" cy="576777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052899" y="116124"/>
            <a:ext cx="29016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mtClean="0">
                <a:hlinkClick r:id="rId4"/>
              </a:rPr>
              <a:t>Link </a:t>
            </a:r>
            <a:r>
              <a:rPr lang="en-US">
                <a:hlinkClick r:id="rId4"/>
              </a:rPr>
              <a:t>download Database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998481" y="78997"/>
            <a:ext cx="3267439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600" smtClean="0">
                <a:solidFill>
                  <a:srgbClr val="C00000"/>
                </a:solidFill>
              </a:rPr>
              <a:t>Product</a:t>
            </a:r>
            <a:r>
              <a:rPr lang="en-US" sz="2600" smtClean="0">
                <a:solidFill>
                  <a:srgbClr val="C00000"/>
                </a:solidFill>
              </a:rPr>
              <a:t> </a:t>
            </a:r>
            <a:r>
              <a:rPr lang="en-GB" sz="2600" smtClean="0">
                <a:solidFill>
                  <a:srgbClr val="C00000"/>
                </a:solidFill>
              </a:rPr>
              <a:t>Diagram</a:t>
            </a:r>
            <a:endParaRPr lang="en-US" sz="260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5622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37160" y="122011"/>
            <a:ext cx="6244389" cy="594995"/>
          </a:xfrm>
        </p:spPr>
        <p:txBody>
          <a:bodyPr>
            <a:normAutofit/>
          </a:bodyPr>
          <a:lstStyle/>
          <a:p>
            <a:r>
              <a:rPr lang="en-US"/>
              <a:t>Database for Subject  </a:t>
            </a:r>
            <a:r>
              <a:rPr lang="en-US">
                <a:solidFill>
                  <a:schemeClr val="bg1"/>
                </a:solidFill>
              </a:rPr>
              <a:t>(cont)</a:t>
            </a:r>
            <a:endParaRPr lang="en-GB" sz="280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64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2293" y="750771"/>
            <a:ext cx="9723763" cy="577515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885160" y="847643"/>
            <a:ext cx="30749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>
                <a:solidFill>
                  <a:srgbClr val="C00000"/>
                </a:solidFill>
              </a:rPr>
              <a:t>Address Diagram</a:t>
            </a:r>
            <a:endParaRPr lang="en-US" sz="2400">
              <a:solidFill>
                <a:srgbClr val="C0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052899" y="116124"/>
            <a:ext cx="29016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mtClean="0">
                <a:hlinkClick r:id="rId4"/>
              </a:rPr>
              <a:t>Link </a:t>
            </a:r>
            <a:r>
              <a:rPr lang="en-US">
                <a:hlinkClick r:id="rId4"/>
              </a:rPr>
              <a:t>download Database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475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3A250-531C-4018-816F-22C18A3C338C}" type="slidenum">
              <a:rPr lang="en-US" smtClean="0"/>
              <a:pPr/>
              <a:t>65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1" y="731520"/>
            <a:ext cx="9047746" cy="572703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634902" y="915019"/>
            <a:ext cx="3267439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600" smtClean="0">
                <a:solidFill>
                  <a:srgbClr val="C00000"/>
                </a:solidFill>
              </a:rPr>
              <a:t>Account</a:t>
            </a:r>
            <a:r>
              <a:rPr lang="en-US" sz="2600" smtClean="0">
                <a:solidFill>
                  <a:srgbClr val="C00000"/>
                </a:solidFill>
              </a:rPr>
              <a:t> </a:t>
            </a:r>
            <a:r>
              <a:rPr lang="en-GB" sz="2600" smtClean="0">
                <a:solidFill>
                  <a:srgbClr val="C00000"/>
                </a:solidFill>
              </a:rPr>
              <a:t>Diagram</a:t>
            </a:r>
            <a:endParaRPr lang="en-US" sz="2600">
              <a:solidFill>
                <a:srgbClr val="C00000"/>
              </a:solidFill>
            </a:endParaRPr>
          </a:p>
        </p:txBody>
      </p:sp>
      <p:sp>
        <p:nvSpPr>
          <p:cNvPr id="13" name="Title 4"/>
          <p:cNvSpPr txBox="1">
            <a:spLocks/>
          </p:cNvSpPr>
          <p:nvPr/>
        </p:nvSpPr>
        <p:spPr>
          <a:xfrm>
            <a:off x="134754" y="160513"/>
            <a:ext cx="6244389" cy="59499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Database for Subject  </a:t>
            </a:r>
            <a:r>
              <a:rPr lang="en-US" smtClean="0">
                <a:solidFill>
                  <a:schemeClr val="bg1"/>
                </a:solidFill>
              </a:rPr>
              <a:t>(cont)</a:t>
            </a:r>
            <a:endParaRPr lang="en-GB"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052899" y="116124"/>
            <a:ext cx="29016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mtClean="0">
                <a:hlinkClick r:id="rId4"/>
              </a:rPr>
              <a:t>Link </a:t>
            </a:r>
            <a:r>
              <a:rPr lang="en-US">
                <a:hlinkClick r:id="rId4"/>
              </a:rPr>
              <a:t>download Database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031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6511216" y="3614523"/>
            <a:ext cx="4517340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259"/>
          <p:cNvSpPr>
            <a:spLocks noChangeArrowheads="1"/>
          </p:cNvSpPr>
          <p:nvPr/>
        </p:nvSpPr>
        <p:spPr bwMode="auto">
          <a:xfrm>
            <a:off x="5997159" y="1682633"/>
            <a:ext cx="5453994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US" altLang="zh-CN" sz="5400" b="1" cap="all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+mn-lt"/>
              </a:rPr>
              <a:t>THANK YOU</a:t>
            </a:r>
            <a:endParaRPr lang="zh-CN" altLang="en-US" sz="5400" b="1" cap="all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方正细谭黑简体" panose="02000000000000000000" pitchFamily="2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16" name="TextBox 10"/>
          <p:cNvSpPr txBox="1"/>
          <p:nvPr/>
        </p:nvSpPr>
        <p:spPr>
          <a:xfrm>
            <a:off x="6399769" y="3058103"/>
            <a:ext cx="1436162" cy="558102"/>
          </a:xfrm>
          <a:prstGeom prst="rect">
            <a:avLst/>
          </a:prstGeom>
          <a:noFill/>
        </p:spPr>
        <p:txBody>
          <a:bodyPr wrap="none" lIns="65024" tIns="32512" rIns="65024" bIns="32512">
            <a:spAutoFit/>
          </a:bodyPr>
          <a:lstStyle/>
          <a:p>
            <a:pPr>
              <a:buNone/>
            </a:pPr>
            <a:r>
              <a:rPr lang="en-US" altLang="zh-CN" sz="3200" b="1" cap="all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+mn-ea"/>
                <a:sym typeface="+mn-lt"/>
              </a:rPr>
              <a:t>Q &amp; a</a:t>
            </a:r>
            <a:endParaRPr lang="zh-CN" altLang="en-US" sz="3200" b="1" cap="all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方正细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6957C5DA-15DC-4471-95FD-CC144E09E4F3}"/>
              </a:ext>
            </a:extLst>
          </p:cNvPr>
          <p:cNvSpPr txBox="1"/>
          <p:nvPr/>
        </p:nvSpPr>
        <p:spPr>
          <a:xfrm>
            <a:off x="6244873" y="3723044"/>
            <a:ext cx="4861746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2000">
                <a:solidFill>
                  <a:schemeClr val="tx1">
                    <a:lumMod val="50000"/>
                    <a:lumOff val="50000"/>
                  </a:schemeClr>
                </a:solidFill>
                <a:cs typeface="Arial" pitchFamily="34" charset="0"/>
              </a:rPr>
              <a:t>Next time:  </a:t>
            </a:r>
            <a:r>
              <a:rPr lang="en-US" altLang="ko-KR" sz="2000" smtClean="0">
                <a:solidFill>
                  <a:schemeClr val="tx1">
                    <a:lumMod val="50000"/>
                    <a:lumOff val="50000"/>
                  </a:schemeClr>
                </a:solidFill>
                <a:cs typeface="Arial" pitchFamily="34" charset="0"/>
              </a:rPr>
              <a:t>Consume API</a:t>
            </a:r>
            <a:endParaRPr lang="ko-KR" altLang="en-US" sz="2000">
              <a:solidFill>
                <a:schemeClr val="tx1">
                  <a:lumMod val="50000"/>
                  <a:lumOff val="50000"/>
                </a:schemeClr>
              </a:solidFill>
              <a:cs typeface="Arial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41" y="349792"/>
            <a:ext cx="481961" cy="1112215"/>
          </a:xfrm>
          <a:prstGeom prst="rect">
            <a:avLst/>
          </a:prstGeom>
        </p:spPr>
      </p:pic>
      <p:grpSp>
        <p:nvGrpSpPr>
          <p:cNvPr id="7" name="Group 17"/>
          <p:cNvGrpSpPr>
            <a:grpSpLocks/>
          </p:cNvGrpSpPr>
          <p:nvPr/>
        </p:nvGrpSpPr>
        <p:grpSpPr bwMode="auto">
          <a:xfrm>
            <a:off x="1061529" y="4198344"/>
            <a:ext cx="1983246" cy="1982068"/>
            <a:chOff x="2562" y="439"/>
            <a:chExt cx="1684" cy="1683"/>
          </a:xfrm>
        </p:grpSpPr>
        <p:sp>
          <p:nvSpPr>
            <p:cNvPr id="8" name="Oval 5"/>
            <p:cNvSpPr>
              <a:spLocks noChangeArrowheads="1"/>
            </p:cNvSpPr>
            <p:nvPr/>
          </p:nvSpPr>
          <p:spPr bwMode="gray">
            <a:xfrm>
              <a:off x="2562" y="439"/>
              <a:ext cx="1684" cy="1683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" name="Oval 6"/>
            <p:cNvSpPr>
              <a:spLocks noChangeArrowheads="1"/>
            </p:cNvSpPr>
            <p:nvPr/>
          </p:nvSpPr>
          <p:spPr bwMode="gray">
            <a:xfrm>
              <a:off x="2673" y="548"/>
              <a:ext cx="1461" cy="1463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54118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0" name="Oval 7"/>
            <p:cNvSpPr>
              <a:spLocks noChangeArrowheads="1"/>
            </p:cNvSpPr>
            <p:nvPr/>
          </p:nvSpPr>
          <p:spPr bwMode="gray">
            <a:xfrm>
              <a:off x="2685" y="536"/>
              <a:ext cx="1461" cy="146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63529"/>
                    <a:invGamma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1" name="Oval 8"/>
            <p:cNvSpPr>
              <a:spLocks noChangeArrowheads="1"/>
            </p:cNvSpPr>
            <p:nvPr/>
          </p:nvSpPr>
          <p:spPr bwMode="gray">
            <a:xfrm>
              <a:off x="2745" y="622"/>
              <a:ext cx="1317" cy="131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2" name="Oval 9"/>
            <p:cNvSpPr>
              <a:spLocks noChangeArrowheads="1"/>
            </p:cNvSpPr>
            <p:nvPr/>
          </p:nvSpPr>
          <p:spPr bwMode="gray">
            <a:xfrm>
              <a:off x="2766" y="643"/>
              <a:ext cx="1276" cy="1277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46275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13" name="Oval 10"/>
            <p:cNvSpPr>
              <a:spLocks noChangeArrowheads="1"/>
            </p:cNvSpPr>
            <p:nvPr/>
          </p:nvSpPr>
          <p:spPr bwMode="gray">
            <a:xfrm>
              <a:off x="2782" y="650"/>
              <a:ext cx="1246" cy="1246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D6E1E2">
                    <a:gamma/>
                    <a:tint val="34902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14" name="Oval 11"/>
            <p:cNvSpPr>
              <a:spLocks noChangeArrowheads="1"/>
            </p:cNvSpPr>
            <p:nvPr/>
          </p:nvSpPr>
          <p:spPr bwMode="gray">
            <a:xfrm>
              <a:off x="2796" y="662"/>
              <a:ext cx="1184" cy="1164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79216"/>
                    <a:invGamma/>
                  </a:srgbClr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15" name="Oval 12"/>
            <p:cNvSpPr>
              <a:spLocks noChangeArrowheads="1"/>
            </p:cNvSpPr>
            <p:nvPr/>
          </p:nvSpPr>
          <p:spPr bwMode="gray">
            <a:xfrm>
              <a:off x="2865" y="695"/>
              <a:ext cx="1053" cy="945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>
                    <a:alpha val="38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pic>
          <p:nvPicPr>
            <p:cNvPr id="17" name="Picture 13" descr="mark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4" y="793"/>
              <a:ext cx="1011" cy="1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EDE7E4B0-9EB8-4870-A701-331C768D566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6751" y="248094"/>
            <a:ext cx="783578" cy="91350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B0032C-C656-43C5-B763-4A0CEDADF2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9D920AF-2440-4552-8F7A-6F88C8FE507A}" type="slidenum">
              <a:rPr lang="en-US" smtClean="0"/>
              <a:pPr/>
              <a:t>66</a:t>
            </a:fld>
            <a:endParaRPr lang="en-US"/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685AE60F-970B-4CBE-B226-90761D73C2B4}"/>
              </a:ext>
            </a:extLst>
          </p:cNvPr>
          <p:cNvSpPr txBox="1">
            <a:spLocks/>
          </p:cNvSpPr>
          <p:nvPr/>
        </p:nvSpPr>
        <p:spPr>
          <a:xfrm>
            <a:off x="8908936" y="5821653"/>
            <a:ext cx="2699480" cy="10344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8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000">
                <a:solidFill>
                  <a:schemeClr val="bg1">
                    <a:lumMod val="50000"/>
                  </a:schemeClr>
                </a:solidFill>
              </a:rPr>
              <a:t>Lecturer: Phạm </a:t>
            </a:r>
            <a:r>
              <a:rPr lang="en-US" sz="1000" err="1">
                <a:solidFill>
                  <a:schemeClr val="bg1">
                    <a:lumMod val="50000"/>
                  </a:schemeClr>
                </a:solidFill>
              </a:rPr>
              <a:t>Đình</a:t>
            </a:r>
            <a:r>
              <a:rPr lang="en-US" sz="10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000" err="1">
                <a:solidFill>
                  <a:schemeClr val="bg1">
                    <a:lumMod val="50000"/>
                  </a:schemeClr>
                </a:solidFill>
              </a:rPr>
              <a:t>Sắc</a:t>
            </a:r>
            <a:endParaRPr lang="en-US" sz="100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lnSpc>
                <a:spcPct val="18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000">
                <a:solidFill>
                  <a:schemeClr val="bg1">
                    <a:lumMod val="50000"/>
                  </a:schemeClr>
                </a:solidFill>
              </a:rPr>
              <a:t>phamdinhsac@dntu.edu.vn</a:t>
            </a:r>
          </a:p>
          <a:p>
            <a:pPr marL="0" indent="0">
              <a:lnSpc>
                <a:spcPct val="180000"/>
              </a:lnSpc>
              <a:spcBef>
                <a:spcPts val="0"/>
              </a:spcBef>
              <a:buNone/>
            </a:pPr>
            <a:r>
              <a:rPr lang="en-US" sz="1000">
                <a:solidFill>
                  <a:schemeClr val="bg1">
                    <a:lumMod val="50000"/>
                  </a:schemeClr>
                </a:solidFill>
              </a:rPr>
              <a:t>Section: Software Engineering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A41EFF0-0464-4F9C-B9C3-F3D1CDDF4C72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3750" y="6242344"/>
            <a:ext cx="142933" cy="14293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50F49AF-C69E-432E-8377-02A71E423B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3974" y="5850957"/>
            <a:ext cx="228600" cy="2286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C1F1749-96BC-46E2-B396-4978EE332512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8007" y="6482889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471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 xmlns:a14="http://schemas.microsoft.com/office/drawing/2010/main" xmlns:a16="http://schemas.microsoft.com/office/drawing/2014/main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50"/>
                            </p:stCondLst>
                            <p:childTnLst>
                              <p:par>
                                <p:cTn id="13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31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1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uhWvCQomImT50qU5y4Znw"/>
</p:tagLst>
</file>

<file path=ppt/theme/theme1.xml><?xml version="1.0" encoding="utf-8"?>
<a:theme xmlns:a="http://schemas.openxmlformats.org/drawingml/2006/main" name="www.jpppt.com">
  <a:themeElements>
    <a:clrScheme name="自定义 1459">
      <a:dk1>
        <a:sysClr val="windowText" lastClr="000000"/>
      </a:dk1>
      <a:lt1>
        <a:sysClr val="window" lastClr="FFFFFF"/>
      </a:lt1>
      <a:dk2>
        <a:srgbClr val="4426A0"/>
      </a:dk2>
      <a:lt2>
        <a:srgbClr val="B48CFE"/>
      </a:lt2>
      <a:accent1>
        <a:srgbClr val="B48CFE"/>
      </a:accent1>
      <a:accent2>
        <a:srgbClr val="4426A0"/>
      </a:accent2>
      <a:accent3>
        <a:srgbClr val="B48CFE"/>
      </a:accent3>
      <a:accent4>
        <a:srgbClr val="4426A0"/>
      </a:accent4>
      <a:accent5>
        <a:srgbClr val="B48CFE"/>
      </a:accent5>
      <a:accent6>
        <a:srgbClr val="4426A0"/>
      </a:accent6>
      <a:hlink>
        <a:srgbClr val="0563C1"/>
      </a:hlink>
      <a:folHlink>
        <a:srgbClr val="954F72"/>
      </a:folHlink>
    </a:clrScheme>
    <a:fontScheme name="jagei13v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9627</TotalTime>
  <Words>3784</Words>
  <Application>Microsoft Office PowerPoint</Application>
  <PresentationFormat>Widescreen</PresentationFormat>
  <Paragraphs>852</Paragraphs>
  <Slides>66</Slides>
  <Notes>66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66</vt:i4>
      </vt:variant>
    </vt:vector>
  </HeadingPairs>
  <TitlesOfParts>
    <vt:vector size="80" baseType="lpstr">
      <vt:lpstr>微软雅黑</vt:lpstr>
      <vt:lpstr>宋体</vt:lpstr>
      <vt:lpstr>Arial</vt:lpstr>
      <vt:lpstr>Calibri</vt:lpstr>
      <vt:lpstr>Calibri (Body)</vt:lpstr>
      <vt:lpstr>Cascadia Mono</vt:lpstr>
      <vt:lpstr>Courier New</vt:lpstr>
      <vt:lpstr>Tahoma</vt:lpstr>
      <vt:lpstr>Times New Roman</vt:lpstr>
      <vt:lpstr>Verdana</vt:lpstr>
      <vt:lpstr>Wingdings</vt:lpstr>
      <vt:lpstr>方正细谭黑简体</vt:lpstr>
      <vt:lpstr>www.jpppt.com</vt:lpstr>
      <vt:lpstr>Custom Design</vt:lpstr>
      <vt:lpstr>PowerPoint Presentation</vt:lpstr>
      <vt:lpstr>Subject Objectives</vt:lpstr>
      <vt:lpstr>Content</vt:lpstr>
      <vt:lpstr>PowerPoint Presentation</vt:lpstr>
      <vt:lpstr>1. Why is API security necessary?</vt:lpstr>
      <vt:lpstr>1. Why is API security necessary?</vt:lpstr>
      <vt:lpstr>PowerPoint Presentation</vt:lpstr>
      <vt:lpstr>2.1.1. Input Validation helps Prevent: </vt:lpstr>
      <vt:lpstr>2.1.1. Data Annotations</vt:lpstr>
      <vt:lpstr>2.1.1. Data Annotations</vt:lpstr>
      <vt:lpstr>PowerPoint Presentation</vt:lpstr>
      <vt:lpstr>2.1.1. Input Validation</vt:lpstr>
      <vt:lpstr>2.1.1. Input Validation</vt:lpstr>
      <vt:lpstr>2.1.2. Check Validation</vt:lpstr>
      <vt:lpstr>2.1.2. Check Validation</vt:lpstr>
      <vt:lpstr>2.1.3. CORS (Cross-Origin Requests)</vt:lpstr>
      <vt:lpstr>2.1.3. CORS (Cross-Origin Requests)</vt:lpstr>
      <vt:lpstr>2.1.3. CORS (Cross-Origin Requests)</vt:lpstr>
      <vt:lpstr>PowerPoint Presentation</vt:lpstr>
      <vt:lpstr>2.2. Data Encryption </vt:lpstr>
      <vt:lpstr>2.2. Data Encryption </vt:lpstr>
      <vt:lpstr>2.2. Data Encryption </vt:lpstr>
      <vt:lpstr>PowerPoint Presentation</vt:lpstr>
      <vt:lpstr>PowerPoint Presentation</vt:lpstr>
      <vt:lpstr>2.2. Authentication and Authorization </vt:lpstr>
      <vt:lpstr>Step 2. Configure JWT for your API</vt:lpstr>
      <vt:lpstr>Step 2. Configure JWT for your API</vt:lpstr>
      <vt:lpstr>Step 3. Generate Access Token</vt:lpstr>
      <vt:lpstr>Step 3. Generate Access Token</vt:lpstr>
      <vt:lpstr>Step 3. Generate Access Token</vt:lpstr>
      <vt:lpstr>Step 4. Login method</vt:lpstr>
      <vt:lpstr>Step 5. Grant endpoint access </vt:lpstr>
      <vt:lpstr>PowerPoint Presentation</vt:lpstr>
      <vt:lpstr>PowerPoint Presentation</vt:lpstr>
      <vt:lpstr>2.3. Rate Limiting</vt:lpstr>
      <vt:lpstr>PowerPoint Presentation</vt:lpstr>
      <vt:lpstr>2.4. Rate Limiting</vt:lpstr>
      <vt:lpstr>2.4. Rate Limiting</vt:lpstr>
      <vt:lpstr>2.4. Rate Limiting</vt:lpstr>
      <vt:lpstr>2.4. Rate Limiting</vt:lpstr>
      <vt:lpstr>2.4. Rate Limiting</vt:lpstr>
      <vt:lpstr>2.4. Rate Limiting</vt:lpstr>
      <vt:lpstr>PowerPoint Presentation</vt:lpstr>
      <vt:lpstr>2.5.1. XSS (Cross-Site Scripting)</vt:lpstr>
      <vt:lpstr>2.5.2 How to Prevent XSS Attack</vt:lpstr>
      <vt:lpstr>Example</vt:lpstr>
      <vt:lpstr>ASP.NET Core Middleware</vt:lpstr>
      <vt:lpstr>Middleware order</vt:lpstr>
      <vt:lpstr>Middleware order</vt:lpstr>
      <vt:lpstr>Create a Middleware</vt:lpstr>
      <vt:lpstr>Create a AntiXssMiddleware class</vt:lpstr>
      <vt:lpstr>PowerPoint Presentation</vt:lpstr>
      <vt:lpstr>PowerPoint Presentation</vt:lpstr>
      <vt:lpstr>PowerPoint Presentation</vt:lpstr>
      <vt:lpstr>2.5. CSRF (Cross-Site Request Forgery)</vt:lpstr>
      <vt:lpstr>2.5.1. Prevent CSRF attack  for Client</vt:lpstr>
      <vt:lpstr>2.5.2. Prevent CSRF attack</vt:lpstr>
      <vt:lpstr>2.5.2. Prevent CSRF attack</vt:lpstr>
      <vt:lpstr>2.5.2. Prevent CSRF attack</vt:lpstr>
      <vt:lpstr>2.5.2. Prevent CSRF attack</vt:lpstr>
      <vt:lpstr>PowerPoint Presentation</vt:lpstr>
      <vt:lpstr>2.7. Using an API Firewall (API Gateway) </vt:lpstr>
      <vt:lpstr>Database for Subject</vt:lpstr>
      <vt:lpstr>Database for Subject  (cont)</vt:lpstr>
      <vt:lpstr>PowerPoint Presentation</vt:lpstr>
      <vt:lpstr>PowerPoint Presentation</vt:lpstr>
    </vt:vector>
  </TitlesOfParts>
  <Manager>wowtemplates.in</Manager>
  <Company>wowtemplates.in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templates</dc:title>
  <dc:creator>Pham Dinh Sac</dc:creator>
  <cp:keywords>wowtemplates</cp:keywords>
  <dc:description>wowtemplates.in</dc:description>
  <cp:lastModifiedBy>DinhSac</cp:lastModifiedBy>
  <cp:revision>713</cp:revision>
  <dcterms:created xsi:type="dcterms:W3CDTF">2015-05-05T08:02:00Z</dcterms:created>
  <dcterms:modified xsi:type="dcterms:W3CDTF">2024-10-02T00:50:25Z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2052-10.1.0.6490</vt:lpwstr>
  </property>
</Properties>
</file>